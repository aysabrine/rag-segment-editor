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2d324d6-c377-e90e-baa0-99ad94342ab3}">
          <p14:sldIdLst>
            <p14:sldId id="256"/>
            <p14:sldId id="257"/>
            <p14:sldId id="258"/>
            <p14:sldId id="259"/>
          </p14:sldIdLst>
        </p14:section>
        <p14:section name="Level 1 — NBO engine &amp; segments" id="{c6e87951-f7b4-1129-2c54-8efe7cdc332a}">
          <p14:sldIdLst>
            <p14:sldId id="260"/>
            <p14:sldId id="261"/>
            <p14:sldId id="262"/>
            <p14:sldId id="263"/>
            <p14:sldId id="264"/>
            <p14:sldId id="265"/>
            <p14:sldId id="266"/>
          </p14:sldIdLst>
        </p14:section>
        <p14:section name="Level 2 — Automatic control" id="{2b3b26f0-7fd3-0f19-534b-e6d9ae22c8ac}">
          <p14:sldIdLst>
            <p14:sldId id="267"/>
            <p14:sldId id="268"/>
            <p14:sldId id="269"/>
            <p14:sldId id="270"/>
            <p14:sldId id="271"/>
          </p14:sldIdLst>
        </p14:section>
        <p14:section name="Level 3 — RAG editor &amp; demo" id="{72ffcdf8-64c4-ef19-250b-50367811ba10}">
          <p14:sldIdLst>
            <p14:sldId id="272"/>
            <p14:sldId id="273"/>
            <p14:sldId id="274"/>
            <p14:sldId id="275"/>
            <p14:sldId id="276"/>
            <p14:sldId id="277"/>
            <p14:sldId id="278"/>
          </p14:sldIdLst>
        </p14:section>
        <p14:section name="Traceability &amp; production" id="{d734ffbe-6e3e-f4d6-832f-81ddd2ce2745}">
          <p14:sldIdLst>
            <p14:sldId id="279"/>
            <p14:sldId id="280"/>
          </p14:sldIdLst>
        </p14:section>
        <p14:section name="Results &amp; next steps" id="{65c43867-de39-431f-ea55-c314b770b229}">
          <p14:sldIdLst>
            <p14:sldId id="281"/>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In one sentence: this project lets a marketing team change the targeting rules of a telecom operator in plain English, with no developer, with guardrails and an impact simulation before anything is applied. Say right away that it is inspired by a real system I built, and that all the data and the segmentation grid shown here are synthetic and designed for this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context: a prepaid operator must give every subscriber the right offer, at the right level of aggressiveness, at the right moment of their lifecycle. That is the Next Best Offer. The problem: the targeting logic was hard-coded. Three consequences: it is slow, it is risky, and nobody sees the impact before it goes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project in one sentence. The business writes its request in plain English. The AI translates it into a structured change. But a deterministic engine, not the AI, validates the change, simulates its impact and applies it. The AI never touches the data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backbone of the project. Level 1: the segmentation engine, driven by a rules table. Level 2: automatic control of every change, with validation and impact simulation. Level 3: the AI part, a RAG editor that turns a sentence into a change. And across all levels: traceability, every request leaves a trace. Key point: the AI only acts at level 3. It proposes; it never writes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1 is the data-engineering part. The engine computes six behavioural variables per subscriber, then compares each subscriber with every active rule. A rule is a row in a table: min and max bounds on tenure, renewals and days late, plus a roaming and a risk condition. Three possible outcomes: exactly one rule matches, the normal case, and the subscriber gets that segment's offer. Zero rules: unassigned, no offer. Two or more: a conflict. All of level 2 is built on these three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behavioural variables. Tenure, in days since activation: under sixty days a customer is in the Welcome phase, up to one hundred and fifty days in Onboarding. Renewals of the main bundle over six months give the loyalty family: Champion, Regular, Occasional or Silent. Days late give the lifecycle stage: active, slipping, lapsed or lost. Spend trend and churn risk combine into a risk code. And roaming, because a late customer may simply be abroad. These definitions are also the knowledge base the RAG indexes at level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fourteen segments of the portfolio grid. Customers in their first five months are handled first: Welcome Journey, no offer, then Onboarding Boost, a normal offer. Mature customers are placed by loyalty family, in rows, and lifecycle stage, in columns. Two refinements show the power of a rules table. Active Champions are split by risk: a healthy profile gets an upsell, an at-risk profile gets a protective, aggressive offer. And lapsed Regulars are split by roaming: if they are abroad, they are travelling, not churning, so no aggressive offer. The more a customer drifts away, the stronger the offer. Every customer lands in exactly one cell: no gaps, no overlaps.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follow a real subscriber from the synthetic base: SUB000001. Tenure: three thousand three hundred and thirty days, so a mature customer. Seven renewals in six months: the Champion family. Two days ahead of their bundle: Active. Their risk code, POS-MED, is a healthy profile, so the upsell segment and not the protect segment. Exactly one rule is true: C03 Champion Upsell, a normal offer. Second example: SUB000006, five renewals and four days late, lands in Regular Nudge, an aggressive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application shows. At the top, four indicators: six thousand synthetic subscribers, fourteen active segments, and above all zero customers without a segment and zero in two segments. Below, the rule grid itself, exactly as in the CSV file: for each segment the min and max bounds of tenure, renewals and days late, the roaming rule, the risk combinations, the offer intensity and the active flag. This is the table the business edits in plain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distribution of the six thousand customers, captured in the application. On the left, the histogram per segment: Occasional Activate is the largest segment, with eight hundred and sixty-six customers. On the right, the split by offer intensity: almost half the base gets a normal offer, a third an aggressive one, and about ten percent a very aggressive one. That is exactly what marketing needs to know before touching a rule: how many customers are concerned.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extract of the synthetic data: each line is a subscriber, with their variables, the segment computed by the engine and the resulting offer. For example SUB000004 has zero renewals but is not late: Silent Reactivate, an aggressive offer to bring them back into the habit. SUB000002 is only fifty-seven days old: Welcome Journey, no offer yet. This is the Next Best Offer, computed customer by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2 is the automatic control. Between a sentence and the data there are five barriers. One: the AI itself can decline, if the segment does not exist or the request is out of scope. Two: format validation, seven deterministic checks. Three: impact simulation, the whole base is recomputed before and after. Four: the impact check. If a customer would land in two segments, that is a conflict and the change is rejected. If a customer would be left without a segment, that is a business decision: it is applied with a warning. Five: the change is applied, with a copy of the rules before and after and a line in the log. Each barrier has its own decision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guardrail was tested, and this is the exact message the engine returns. Unknown segment, new variable, value outside the allowed list, wrong risk format, a bound that is not a number, a min above its max, an empty change, and a request with nothing applicable: all rejected before the simulation. The last two rows come from the impact check: an overlap is rejected; customers left without a segment are applied with a warning. That is a business rule: disabling a segment is a legitimate choice, giving two conflicting offers never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reject an overlap? Take the request: extend the Champion Nudge window to twenty days late. Before, the Champion stages follow each other without touching: Nudge from four to fourteen days, Recovery from fifteen days on. If we push the end of Nudge to twenty days, Champions between fifteen and nineteen days late match both rules. They would receive two conflicting offers, a normal one and an aggressive one. The simulation finds exactly forty-five of them, and the engine rejects the change. To do it properly, Recovery's start must move too: a two-row change, which is a planned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same case in the application. The 'in two segments' indicator goes from zero to forty-five, in red. The migration table shows that these forty-five customers come from Champion Recovery and would become MULTIPLE. The engine then displays 'Change rejected by the impact check', with the reason. The rules are not modified, and the decision is logged with its identifier.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case: disabling the Silent Last Call segment. Its two hundred and twenty-one customers no longer match any rule: the migration table shows them moving to UNASSIGNED. That is not a conflict, it is a business decision: we stop targeting these customers. So the engine applies it, but with a yellow warning that quantifies the consequence. The business decides with full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3 is the AI part. The user writes the request in plain English. The system first retrieves the relevant context from the Chroma vector store: the four closest rules and the two closest variable definitions. The LLM, gpt-4o-mini, then generates a change in JSON, or declines if no change is possible. This JSON modifies nothing: it goes through the five barriers of level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two phases. Indexing, once: nineteen documents, the fourteen rules and five chunks of the variable documentation. Each one becomes a vector of 1,536 numbers with OpenAI's embedding model and is stored in Chroma. Then, on every request: the sentence is turned into a vector, compared with the nineteen documents, and we retrieve the four closest rules and the two closest definitions. The prompt contains the instructions, the allowed values, this context, the current grid and the request. The LLM answers at temperature zero, in forced JSON. Honest note: with fourteen rules the whole grid fits in the prompt; vector search becomes essential when the rule base grows to hundreds of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for the demo, in three steps. Step one: the main screen. On the left, the fourteen segments with their current offer intensity; C08, Regular Nudge, is AGGRESSIVE. On the right, the business types its request in plain English: 'make the Regular Nudge segment more aggressive', and clicks Propose and simulate. No code, no ticket, no developer.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A few seconds later, the AI's proposal appears, with a unique change identifier. The JSON is simple: segment C08, field offer_intensity, new value VERY_AGGRESSIVE, and the AI's reason. The 'retrieved' field shows which documents the RAG used: C08 comes first, followed by neighbouring segments and two variable definitions. Right below, the validation passes and shows clearly: AGGRESSIVE becomes VERY_AGGRESSIVE.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the simulation on all six thousand customers. Two hundred and ten customers see their offer change: all the customers of Regular Nudge. None changes segment, since we changed the offer and not the bounds. Zero customers without a segment, zero in two segments: every check passes. The change is applied automatically, a copy of the rules before and after is saved, and the decision goes into the log. The whole operation takes a few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eleven requests sent to the real LLM, with my OpenAI key, on the final code. In all eleven cases the AI understood the right intent. Five changes are applied: three directly, two with a warning because some customers lose their offer. Three are rejected because they would put customers in two segments. And three are declined by the AI itself: a segment that does not exist, a new variable, and an out-of-scope request. None of these decisions is arbitrary: each has a quantified reason, visible and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tests were valuable: they revealed four flaws, all fixed. One: facing an unknown segment, the AI still invented a change and modified the wrong segment. It can now decline. Two: invalid formats, because retrieval rarely surfaced the variable definitions. It now searches both sources, and the prompt lists the allowed values. Three: the LLM is not perfectly consistent; once it proposed a change that changed nothing, hence the no-op check. Four: at first, customers in two segments went through with no impact check. The key message: we do not trust the LLM, we control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Traceability. Every request, applied or rejected, and even every reset, is written to a log: a unique identifier, the date and time, the exact sentence, the documents retrieved by the RAG, the AI's JSON, the value before and after, the decision, the reason and the quantified impact. And for every applied change, a full copy of the rules before and after. So we can always answer: who changed what, when, why, and with what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going to production: plugging the app into the Oracle database that feeds the offers. The principle: the app never writes directly into the production grid. An approved change is inserted into a staging table, with who asked, before and after, and the simulated impact. A PL/SQL procedure then picks up each request: it re-runs the checks in the database, verifies the grid has not changed in the meantime, and applies the change in a single transaction with a new version of the grid. The daily NBO batch then reads the new grid, and the offers change, with no developer and no release. This plan is documented in the project; I implement it in the target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Six thousand synthetic subscribers, each in exactly one of the fourteen segments: no gaps, no duplicates. Eleven real requests sent to the LLM, all handled correctly. Ten guardrails, each tested with its message. And not a single overlapping change applied. The business gain: a strategy change no longer goes through a development cycle. It is one sentence, controlled and traced in a few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design decisions. One: the AI only proposes; the deterministic engine has the last word, which makes the system auditable. Two: the architecture does not depend on one provider. OpenAI can be replaced by a private or local model for an on-premise deployment, a real requirement with sensitive telecom data. Three: everything is synthetic, including the segmentation grid, which is designed for this portfolio, so the project can be shown publicly.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and what it shows. Data: Python and pandas for the variables, the engine and the simulation. Governance: validation and impact checks. AI: LangChain, OpenAI and Chroma for the RAG. Traceability with a log and rule versions. Streamlit for the interface. Quality: end-to-end tests and automated captures with Playwright. And the production plan on Oracle and PL/SQL. The message: I can connect data, AI and a business need in one system, and make it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honest, here are the current limits and what I would do next. One: a request produces a single change, while some requests need two, applied together or not at all; targeting high churn in Champion Upsell, for example, also requires changing Champion Protect. Two: application is fully automatic; above a certain number of affected customers, a human approval would be wise. Three: the LLM is not perfectly consistent, hence the value of a regression test suite. Four: the model runs in the cloud; with real data I would move to a private or local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the business decides, the AI translates, the engine guarantees. Offer a live demo if time allows, otherwise point to the GitHub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731520"/>
            <a:ext cx="10698480" cy="411480"/>
          </a:xfrm>
          <a:prstGeom prst="rect">
            <a:avLst/>
          </a:prstGeom>
          <a:noFill/>
          <a:ln/>
        </p:spPr>
        <p:txBody>
          <a:bodyPr wrap="square" rtlCol="0"/>
          <a:lstStyle>
            <a:lvl1pPr indent="0" marL="0">
              <a:buNone/>
              <a:defRPr lang="en-US" sz="1400" b="1" spc="200" kern="0" dirty="0">
                <a:solidFill>
                  <a:srgbClr val="E8833A"/>
                </a:solidFill>
              </a:defRPr>
            </a:lvl1pPr>
          </a:lstStyle>
          <a:p>
            <a:pPr indent="0" marL="0">
              <a:buNone/>
            </a:pPr>
            <a:endParaRPr lang="en-US" sz="1400" dirty="0"/>
          </a:p>
        </p:txBody>
      </p:sp>
      <p:sp>
        <p:nvSpPr>
          <p:cNvPr id="3" name="Text 0"/>
          <p:cNvSpPr/>
          <p:nvPr>
            <p:ph idx="101" type="title" hasCustomPrompt="1"/>
          </p:nvPr>
        </p:nvSpPr>
        <p:spPr>
          <a:xfrm>
            <a:off x="731520" y="1828800"/>
            <a:ext cx="104241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4069080"/>
            <a:ext cx="10058400" cy="118872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411480"/>
          </a:xfrm>
          <a:prstGeom prst="rect">
            <a:avLst/>
          </a:prstGeom>
          <a:noFill/>
          <a:ln/>
        </p:spPr>
        <p:txBody>
          <a:bodyPr wrap="square" rtlCol="0"/>
          <a:lstStyle>
            <a:lvl1pPr indent="0" marL="0">
              <a:buNone/>
              <a:defRPr lang="en-US" sz="1400" b="1" spc="200" kern="0" dirty="0">
                <a:solidFill>
                  <a:schemeClr val="bg1"/>
                </a:solidFill>
              </a:defRPr>
            </a:lvl1pPr>
          </a:lstStyle>
          <a:p>
            <a:pPr indent="0" marL="0">
              <a:buNone/>
            </a:pPr>
            <a:endParaRPr lang="en-US" sz="1400" dirty="0"/>
          </a:p>
        </p:txBody>
      </p:sp>
      <p:sp>
        <p:nvSpPr>
          <p:cNvPr id="3" name="Text 0"/>
          <p:cNvSpPr/>
          <p:nvPr>
            <p:ph idx="101" type="title" hasCustomPrompt="1"/>
          </p:nvPr>
        </p:nvSpPr>
        <p:spPr>
          <a:xfrm>
            <a:off x="731520" y="1737360"/>
            <a:ext cx="10607040" cy="26517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4572000"/>
            <a:ext cx="10058400" cy="822960"/>
          </a:xfrm>
          <a:prstGeom prst="rect">
            <a:avLst/>
          </a:prstGeom>
          <a:noFill/>
          <a:ln/>
        </p:spPr>
        <p:txBody>
          <a:bodyPr wrap="square" rtlCol="0"/>
          <a:lstStyle>
            <a:lvl1pPr indent="0" marL="0">
              <a:buNone/>
              <a:defRPr lang="en-US" sz="2000" dirty="0">
                <a:solidFill>
                  <a:schemeClr val="bg1"/>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0"/>
          <p:cNvSpPr/>
          <p:nvPr/>
        </p:nvSpPr>
        <p:spPr>
          <a:xfrm>
            <a:off x="548640" y="6400800"/>
            <a:ext cx="5486400" cy="274320"/>
          </a:xfrm>
          <a:prstGeom prst="rect">
            <a:avLst/>
          </a:prstGeom>
          <a:noFill/>
          <a:ln/>
        </p:spPr>
        <p:txBody>
          <a:bodyPr wrap="square" rtlCol="0" anchor="ctr"/>
          <a:lstStyle/>
          <a:p>
            <a:pPr indent="0" marL="0">
              <a:buNone/>
            </a:pPr>
            <a:r>
              <a:rPr lang="en-US" sz="1000" dirty="0">
                <a:solidFill>
                  <a:schemeClr val="accent6"/>
                </a:solidFill>
              </a:rPr>
              <a:t>NBO Segment Editor · RAG</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731520"/>
            <a:ext cx="10698480" cy="411480"/>
          </a:xfrm>
          <a:prstGeom prst="rect">
            <a:avLst/>
          </a:prstGeom>
          <a:noFill/>
          <a:ln/>
        </p:spPr>
        <p:txBody>
          <a:bodyPr wrap="square" rtlCol="0"/>
          <a:lstStyle/>
          <a:p>
            <a:pPr indent="0" marL="0">
              <a:buNone/>
            </a:pPr>
            <a:r>
              <a:rPr lang="en-US" sz="1400" b="1" spc="200" kern="0" dirty="0">
                <a:solidFill>
                  <a:srgbClr val="E8833A"/>
                </a:solidFill>
              </a:rPr>
              <a:t>PORTFOLIO PROJECT · DATA &amp; AI</a:t>
            </a:r>
            <a:endParaRPr lang="en-US" sz="1400" dirty="0"/>
          </a:p>
        </p:txBody>
      </p:sp>
      <p:sp>
        <p:nvSpPr>
          <p:cNvPr id="3" name="Text 0"/>
          <p:cNvSpPr/>
          <p:nvPr>
            <p:ph idx="101" type="title" hasCustomPrompt="1"/>
          </p:nvPr>
        </p:nvSpPr>
        <p:spPr>
          <a:xfrm>
            <a:off x="731520" y="1828800"/>
            <a:ext cx="10424160" cy="2103120"/>
          </a:xfrm>
          <a:prstGeom prst="rect">
            <a:avLst/>
          </a:prstGeom>
          <a:noFill/>
          <a:ln/>
        </p:spPr>
        <p:txBody>
          <a:bodyPr wrap="square" rtlCol="0" anchor="t"/>
          <a:lstStyle/>
          <a:p>
            <a:pPr algn="l" indent="0" marL="0">
              <a:buNone/>
            </a:pPr>
            <a:r>
              <a:rPr lang="en-US" sz="4400" b="1" dirty="0">
                <a:solidFill>
                  <a:schemeClr val="bg1"/>
                </a:solidFill>
              </a:rPr>
              <a:t>Change a marketing strategy in one sentence</a:t>
            </a:r>
            <a:endParaRPr lang="en-US" sz="4400" dirty="0"/>
          </a:p>
        </p:txBody>
      </p:sp>
      <p:sp>
        <p:nvSpPr>
          <p:cNvPr id="4" name="Text 0"/>
          <p:cNvSpPr/>
          <p:nvPr>
            <p:ph idx="102" type="body" hasCustomPrompt="1"/>
          </p:nvPr>
        </p:nvSpPr>
        <p:spPr>
          <a:xfrm>
            <a:off x="731520" y="4069080"/>
            <a:ext cx="10058400" cy="1188720"/>
          </a:xfrm>
          <a:prstGeom prst="rect">
            <a:avLst/>
          </a:prstGeom>
          <a:noFill/>
          <a:ln/>
        </p:spPr>
        <p:txBody>
          <a:bodyPr wrap="square" rtlCol="0" anchor="t"/>
          <a:lstStyle/>
          <a:p>
            <a:pPr indent="0" marL="0">
              <a:buNone/>
            </a:pPr>
            <a:r>
              <a:rPr lang="en-US" sz="2000" dirty="0">
                <a:solidFill>
                  <a:schemeClr val="bg2"/>
                </a:solidFill>
              </a:rPr>
              <a:t>NBO Segment Editor: a governed Next Best Offer engine for prepaid telecom, driven in plain English with RAG.</a:t>
            </a:r>
            <a:endParaRPr lang="en-US" sz="2000" dirty="0"/>
          </a:p>
        </p:txBody>
      </p:sp>
      <p:sp>
        <p:nvSpPr>
          <p:cNvPr id="5" name="Text 3"/>
          <p:cNvSpPr txBox="1"/>
          <p:nvPr/>
        </p:nvSpPr>
        <p:spPr>
          <a:xfrm>
            <a:off x="731520" y="5989320"/>
            <a:ext cx="10698480" cy="411480"/>
          </a:xfrm>
          <a:prstGeom prst="rect">
            <a:avLst/>
          </a:prstGeom>
          <a:noFill/>
          <a:ln/>
        </p:spPr>
        <p:txBody>
          <a:bodyPr wrap="square" lIns="0" tIns="0" rIns="0" bIns="0" rtlCol="0" anchor="t"/>
          <a:lstStyle/>
          <a:p>
            <a:pPr indent="0" marL="0">
              <a:buNone/>
            </a:pPr>
            <a:r>
              <a:rPr lang="en-US" sz="1400" dirty="0">
                <a:solidFill>
                  <a:srgbClr val="C9D1E0"/>
                </a:solidFill>
              </a:rPr>
              <a:t>[Your name] · Inspired by a real NBO system built for a telecom operator. All data and the segmentation grid shown here are synthetic.</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THE PROBLEM</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One offer per subscriber, but the rules are hard-coded</a:t>
            </a:r>
            <a:endParaRPr lang="en-US" sz="3000" dirty="0"/>
          </a:p>
        </p:txBody>
      </p:sp>
      <p:sp>
        <p:nvSpPr>
          <p:cNvPr id="5" name="Shape 2"/>
          <p:cNvSpPr/>
          <p:nvPr/>
        </p:nvSpPr>
        <p:spPr>
          <a:xfrm>
            <a:off x="548640" y="1828800"/>
            <a:ext cx="3566160" cy="3291840"/>
          </a:xfrm>
          <a:prstGeom prst="roundRect">
            <a:avLst>
              <a:gd name="adj" fmla="val 2778"/>
            </a:avLst>
          </a:prstGeom>
          <a:solidFill>
            <a:schemeClr val="bg2"/>
          </a:solidFill>
          <a:ln w="9525">
            <a:solidFill>
              <a:schemeClr val="bg2"/>
            </a:solidFill>
            <a:prstDash val="solid"/>
          </a:ln>
        </p:spPr>
      </p:sp>
      <p:sp>
        <p:nvSpPr>
          <p:cNvPr id="6" name="Shape 3"/>
          <p:cNvSpPr/>
          <p:nvPr/>
        </p:nvSpPr>
        <p:spPr>
          <a:xfrm>
            <a:off x="868680" y="2148840"/>
            <a:ext cx="457200" cy="457200"/>
          </a:xfrm>
          <a:prstGeom prst="ellipse">
            <a:avLst/>
          </a:prstGeom>
          <a:solidFill>
            <a:schemeClr val="accent1"/>
          </a:solidFill>
          <a:ln w="12700">
            <a:solidFill>
              <a:schemeClr val="accent1"/>
            </a:solidFill>
            <a:prstDash val="solid"/>
          </a:ln>
        </p:spPr>
      </p:sp>
      <p:sp>
        <p:nvSpPr>
          <p:cNvPr id="7" name="Text 4"/>
          <p:cNvSpPr txBox="1"/>
          <p:nvPr/>
        </p:nvSpPr>
        <p:spPr>
          <a:xfrm>
            <a:off x="868680" y="2148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868680" y="2834640"/>
            <a:ext cx="2926080" cy="457200"/>
          </a:xfrm>
          <a:prstGeom prst="rect">
            <a:avLst/>
          </a:prstGeom>
          <a:noFill/>
          <a:ln/>
        </p:spPr>
        <p:txBody>
          <a:bodyPr wrap="square" lIns="0" tIns="0" rIns="0" bIns="0" rtlCol="0" anchor="t"/>
          <a:lstStyle/>
          <a:p>
            <a:pPr indent="0" marL="0">
              <a:buNone/>
            </a:pPr>
            <a:r>
              <a:rPr lang="en-US" sz="2400" b="1" dirty="0">
                <a:solidFill>
                  <a:schemeClr val="tx1"/>
                </a:solidFill>
                <a:latin typeface="Arial" pitchFamily="34" charset="0"/>
                <a:ea typeface="Arial" pitchFamily="34" charset="-122"/>
                <a:cs typeface="Arial" pitchFamily="34" charset="-120"/>
              </a:rPr>
              <a:t>Slow</a:t>
            </a:r>
            <a:endParaRPr lang="en-US" sz="2400" dirty="0"/>
          </a:p>
        </p:txBody>
      </p:sp>
      <p:sp>
        <p:nvSpPr>
          <p:cNvPr id="9" name="Text 6"/>
          <p:cNvSpPr txBox="1"/>
          <p:nvPr/>
        </p:nvSpPr>
        <p:spPr>
          <a:xfrm>
            <a:off x="868680" y="3429000"/>
            <a:ext cx="2926080" cy="1463040"/>
          </a:xfrm>
          <a:prstGeom prst="rect">
            <a:avLst/>
          </a:prstGeom>
          <a:noFill/>
          <a:ln/>
        </p:spPr>
        <p:txBody>
          <a:bodyPr wrap="square" lIns="0" tIns="0" rIns="0" bIns="0" rtlCol="0" anchor="t"/>
          <a:lstStyle/>
          <a:p>
            <a:pPr indent="0" marL="0">
              <a:buNone/>
            </a:pPr>
            <a:r>
              <a:rPr lang="en-US" sz="1700" dirty="0">
                <a:solidFill>
                  <a:schemeClr val="tx2"/>
                </a:solidFill>
              </a:rPr>
              <a:t>Every rule change needs a developer and a production release.</a:t>
            </a:r>
            <a:endParaRPr lang="en-US" sz="1700" dirty="0"/>
          </a:p>
        </p:txBody>
      </p:sp>
      <p:sp>
        <p:nvSpPr>
          <p:cNvPr id="10" name="Shape 7"/>
          <p:cNvSpPr/>
          <p:nvPr/>
        </p:nvSpPr>
        <p:spPr>
          <a:xfrm>
            <a:off x="4297680" y="1828800"/>
            <a:ext cx="3566160" cy="3291840"/>
          </a:xfrm>
          <a:prstGeom prst="roundRect">
            <a:avLst>
              <a:gd name="adj" fmla="val 2778"/>
            </a:avLst>
          </a:prstGeom>
          <a:solidFill>
            <a:schemeClr val="bg2"/>
          </a:solidFill>
          <a:ln w="9525">
            <a:solidFill>
              <a:schemeClr val="bg2"/>
            </a:solidFill>
            <a:prstDash val="solid"/>
          </a:ln>
        </p:spPr>
      </p:sp>
      <p:sp>
        <p:nvSpPr>
          <p:cNvPr id="11" name="Shape 8"/>
          <p:cNvSpPr/>
          <p:nvPr/>
        </p:nvSpPr>
        <p:spPr>
          <a:xfrm>
            <a:off x="4617720" y="2148840"/>
            <a:ext cx="457200" cy="457200"/>
          </a:xfrm>
          <a:prstGeom prst="ellipse">
            <a:avLst/>
          </a:prstGeom>
          <a:solidFill>
            <a:schemeClr val="accent1"/>
          </a:solidFill>
          <a:ln w="12700">
            <a:solidFill>
              <a:schemeClr val="accent1"/>
            </a:solidFill>
            <a:prstDash val="solid"/>
          </a:ln>
        </p:spPr>
      </p:sp>
      <p:sp>
        <p:nvSpPr>
          <p:cNvPr id="12" name="Text 9"/>
          <p:cNvSpPr txBox="1"/>
          <p:nvPr/>
        </p:nvSpPr>
        <p:spPr>
          <a:xfrm>
            <a:off x="4617720" y="2148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4617720" y="2834640"/>
            <a:ext cx="2926080" cy="457200"/>
          </a:xfrm>
          <a:prstGeom prst="rect">
            <a:avLst/>
          </a:prstGeom>
          <a:noFill/>
          <a:ln/>
        </p:spPr>
        <p:txBody>
          <a:bodyPr wrap="square" lIns="0" tIns="0" rIns="0" bIns="0" rtlCol="0" anchor="t"/>
          <a:lstStyle/>
          <a:p>
            <a:pPr indent="0" marL="0">
              <a:buNone/>
            </a:pPr>
            <a:r>
              <a:rPr lang="en-US" sz="2400" b="1" dirty="0">
                <a:solidFill>
                  <a:schemeClr val="tx1"/>
                </a:solidFill>
                <a:latin typeface="Arial" pitchFamily="34" charset="0"/>
                <a:ea typeface="Arial" pitchFamily="34" charset="-122"/>
                <a:cs typeface="Arial" pitchFamily="34" charset="-120"/>
              </a:rPr>
              <a:t>Risky</a:t>
            </a:r>
            <a:endParaRPr lang="en-US" sz="2400" dirty="0"/>
          </a:p>
        </p:txBody>
      </p:sp>
      <p:sp>
        <p:nvSpPr>
          <p:cNvPr id="14" name="Text 11"/>
          <p:cNvSpPr txBox="1"/>
          <p:nvPr/>
        </p:nvSpPr>
        <p:spPr>
          <a:xfrm>
            <a:off x="4617720" y="3429000"/>
            <a:ext cx="2926080" cy="1463040"/>
          </a:xfrm>
          <a:prstGeom prst="rect">
            <a:avLst/>
          </a:prstGeom>
          <a:noFill/>
          <a:ln/>
        </p:spPr>
        <p:txBody>
          <a:bodyPr wrap="square" lIns="0" tIns="0" rIns="0" bIns="0" rtlCol="0" anchor="t"/>
          <a:lstStyle/>
          <a:p>
            <a:pPr indent="0" marL="0">
              <a:buNone/>
            </a:pPr>
            <a:r>
              <a:rPr lang="en-US" sz="1700" dirty="0">
                <a:solidFill>
                  <a:schemeClr val="tx2"/>
                </a:solidFill>
              </a:rPr>
              <a:t>One wrong bound can leave customers with no offer, or with two.</a:t>
            </a:r>
            <a:endParaRPr lang="en-US" sz="1700" dirty="0"/>
          </a:p>
        </p:txBody>
      </p:sp>
      <p:sp>
        <p:nvSpPr>
          <p:cNvPr id="15" name="Shape 12"/>
          <p:cNvSpPr/>
          <p:nvPr/>
        </p:nvSpPr>
        <p:spPr>
          <a:xfrm>
            <a:off x="8046720" y="1828800"/>
            <a:ext cx="3566160" cy="3291840"/>
          </a:xfrm>
          <a:prstGeom prst="roundRect">
            <a:avLst>
              <a:gd name="adj" fmla="val 2778"/>
            </a:avLst>
          </a:prstGeom>
          <a:solidFill>
            <a:schemeClr val="bg2"/>
          </a:solidFill>
          <a:ln w="9525">
            <a:solidFill>
              <a:schemeClr val="bg2"/>
            </a:solidFill>
            <a:prstDash val="solid"/>
          </a:ln>
        </p:spPr>
      </p:sp>
      <p:sp>
        <p:nvSpPr>
          <p:cNvPr id="16" name="Shape 13"/>
          <p:cNvSpPr/>
          <p:nvPr/>
        </p:nvSpPr>
        <p:spPr>
          <a:xfrm>
            <a:off x="8366760" y="2148840"/>
            <a:ext cx="457200" cy="457200"/>
          </a:xfrm>
          <a:prstGeom prst="ellipse">
            <a:avLst/>
          </a:prstGeom>
          <a:solidFill>
            <a:schemeClr val="accent1"/>
          </a:solidFill>
          <a:ln w="12700">
            <a:solidFill>
              <a:schemeClr val="accent1"/>
            </a:solidFill>
            <a:prstDash val="solid"/>
          </a:ln>
        </p:spPr>
      </p:sp>
      <p:sp>
        <p:nvSpPr>
          <p:cNvPr id="17" name="Text 14"/>
          <p:cNvSpPr txBox="1"/>
          <p:nvPr/>
        </p:nvSpPr>
        <p:spPr>
          <a:xfrm>
            <a:off x="8366760" y="2148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8366760" y="2834640"/>
            <a:ext cx="2926080" cy="457200"/>
          </a:xfrm>
          <a:prstGeom prst="rect">
            <a:avLst/>
          </a:prstGeom>
          <a:noFill/>
          <a:ln/>
        </p:spPr>
        <p:txBody>
          <a:bodyPr wrap="square" lIns="0" tIns="0" rIns="0" bIns="0" rtlCol="0" anchor="t"/>
          <a:lstStyle/>
          <a:p>
            <a:pPr indent="0" marL="0">
              <a:buNone/>
            </a:pPr>
            <a:r>
              <a:rPr lang="en-US" sz="2400" b="1" dirty="0">
                <a:solidFill>
                  <a:schemeClr val="tx1"/>
                </a:solidFill>
                <a:latin typeface="Arial" pitchFamily="34" charset="0"/>
                <a:ea typeface="Arial" pitchFamily="34" charset="-122"/>
                <a:cs typeface="Arial" pitchFamily="34" charset="-120"/>
              </a:rPr>
              <a:t>Blind</a:t>
            </a:r>
            <a:endParaRPr lang="en-US" sz="2400" dirty="0"/>
          </a:p>
        </p:txBody>
      </p:sp>
      <p:sp>
        <p:nvSpPr>
          <p:cNvPr id="19" name="Text 16"/>
          <p:cNvSpPr txBox="1"/>
          <p:nvPr/>
        </p:nvSpPr>
        <p:spPr>
          <a:xfrm>
            <a:off x="8366760" y="3429000"/>
            <a:ext cx="2926080" cy="1463040"/>
          </a:xfrm>
          <a:prstGeom prst="rect">
            <a:avLst/>
          </a:prstGeom>
          <a:noFill/>
          <a:ln/>
        </p:spPr>
        <p:txBody>
          <a:bodyPr wrap="square" lIns="0" tIns="0" rIns="0" bIns="0" rtlCol="0" anchor="t"/>
          <a:lstStyle/>
          <a:p>
            <a:pPr indent="0" marL="0">
              <a:buNone/>
            </a:pPr>
            <a:r>
              <a:rPr lang="en-US" sz="1700" dirty="0">
                <a:solidFill>
                  <a:schemeClr val="tx2"/>
                </a:solidFill>
              </a:rPr>
              <a:t>Nobody sees the impact before it goes live: who moves, and where?</a:t>
            </a:r>
            <a:endParaRPr lang="en-US" sz="17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411480"/>
          </a:xfrm>
          <a:prstGeom prst="rect">
            <a:avLst/>
          </a:prstGeom>
          <a:noFill/>
          <a:ln/>
        </p:spPr>
        <p:txBody>
          <a:bodyPr wrap="square" rtlCol="0"/>
          <a:lstStyle/>
          <a:p>
            <a:pPr indent="0" marL="0">
              <a:buNone/>
            </a:pPr>
            <a:r>
              <a:rPr lang="en-US" sz="1400" b="1" spc="200" kern="0" dirty="0">
                <a:solidFill>
                  <a:schemeClr val="bg1"/>
                </a:solidFill>
              </a:rPr>
              <a:t>THE PROMISE</a:t>
            </a:r>
            <a:endParaRPr lang="en-US" sz="1400" dirty="0"/>
          </a:p>
        </p:txBody>
      </p:sp>
      <p:sp>
        <p:nvSpPr>
          <p:cNvPr id="3" name="Text 0"/>
          <p:cNvSpPr/>
          <p:nvPr>
            <p:ph idx="101" type="title" hasCustomPrompt="1"/>
          </p:nvPr>
        </p:nvSpPr>
        <p:spPr>
          <a:xfrm>
            <a:off x="731520" y="1737360"/>
            <a:ext cx="10607040" cy="2651760"/>
          </a:xfrm>
          <a:prstGeom prst="rect">
            <a:avLst/>
          </a:prstGeom>
          <a:noFill/>
          <a:ln/>
        </p:spPr>
        <p:txBody>
          <a:bodyPr wrap="square" rtlCol="0" anchor="t"/>
          <a:lstStyle/>
          <a:p>
            <a:pPr algn="l" indent="0" marL="0">
              <a:buNone/>
            </a:pPr>
            <a:r>
              <a:rPr lang="en-US" sz="4000" b="1" dirty="0">
                <a:solidFill>
                  <a:schemeClr val="bg1"/>
                </a:solidFill>
              </a:rPr>
              <a:t>The business owns the rules. The AI proposes. The engine verifies and applies.</a:t>
            </a:r>
            <a:endParaRPr lang="en-US" sz="4000" dirty="0"/>
          </a:p>
        </p:txBody>
      </p:sp>
      <p:sp>
        <p:nvSpPr>
          <p:cNvPr id="4" name="Text 0"/>
          <p:cNvSpPr/>
          <p:nvPr>
            <p:ph idx="102" type="body" hasCustomPrompt="1"/>
          </p:nvPr>
        </p:nvSpPr>
        <p:spPr>
          <a:xfrm>
            <a:off x="731520" y="4572000"/>
            <a:ext cx="10058400" cy="822960"/>
          </a:xfrm>
          <a:prstGeom prst="rect">
            <a:avLst/>
          </a:prstGeom>
          <a:noFill/>
          <a:ln/>
        </p:spPr>
        <p:txBody>
          <a:bodyPr wrap="square" rtlCol="0" anchor="t"/>
          <a:lstStyle/>
          <a:p>
            <a:pPr indent="0" marL="0">
              <a:buNone/>
            </a:pPr>
            <a:r>
              <a:rPr lang="en-US" sz="2000" dirty="0">
                <a:solidFill>
                  <a:schemeClr val="bg1"/>
                </a:solidFill>
              </a:rPr>
              <a:t>Take the developer out of the loop, without giving up control.</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ARCHITECTURE</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Three levels, plus a trace of everything</a:t>
            </a:r>
            <a:endParaRPr lang="en-US" sz="3000" dirty="0"/>
          </a:p>
        </p:txBody>
      </p:sp>
      <p:sp>
        <p:nvSpPr>
          <p:cNvPr id="5" name="Shape 2"/>
          <p:cNvSpPr/>
          <p:nvPr/>
        </p:nvSpPr>
        <p:spPr>
          <a:xfrm>
            <a:off x="548640" y="1600200"/>
            <a:ext cx="11064240" cy="932688"/>
          </a:xfrm>
          <a:prstGeom prst="roundRect">
            <a:avLst>
              <a:gd name="adj" fmla="val 9804"/>
            </a:avLst>
          </a:prstGeom>
          <a:solidFill>
            <a:schemeClr val="tx1"/>
          </a:solidFill>
          <a:ln w="9525">
            <a:solidFill>
              <a:schemeClr val="tx1"/>
            </a:solidFill>
            <a:prstDash val="solid"/>
          </a:ln>
        </p:spPr>
      </p:sp>
      <p:sp>
        <p:nvSpPr>
          <p:cNvPr id="6" name="Text 3"/>
          <p:cNvSpPr txBox="1"/>
          <p:nvPr/>
        </p:nvSpPr>
        <p:spPr>
          <a:xfrm>
            <a:off x="868680" y="1874520"/>
            <a:ext cx="1463040" cy="365760"/>
          </a:xfrm>
          <a:prstGeom prst="rect">
            <a:avLst/>
          </a:prstGeom>
          <a:noFill/>
          <a:ln/>
        </p:spPr>
        <p:txBody>
          <a:bodyPr wrap="square" lIns="0" tIns="0" rIns="0" bIns="0" rtlCol="0" anchor="t"/>
          <a:lstStyle/>
          <a:p>
            <a:pPr indent="0" marL="0">
              <a:buNone/>
            </a:pPr>
            <a:r>
              <a:rPr lang="en-US" sz="1400" b="1" spc="200" kern="0" dirty="0">
                <a:solidFill>
                  <a:srgbClr val="E8833A"/>
                </a:solidFill>
              </a:rPr>
              <a:t>LEVEL 3</a:t>
            </a:r>
            <a:endParaRPr lang="en-US" sz="1400" dirty="0"/>
          </a:p>
        </p:txBody>
      </p:sp>
      <p:sp>
        <p:nvSpPr>
          <p:cNvPr id="7" name="Text 4"/>
          <p:cNvSpPr txBox="1"/>
          <p:nvPr/>
        </p:nvSpPr>
        <p:spPr>
          <a:xfrm>
            <a:off x="2468880" y="1828800"/>
            <a:ext cx="3108960" cy="45720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RAG editor</a:t>
            </a:r>
            <a:endParaRPr lang="en-US" sz="2200" dirty="0"/>
          </a:p>
        </p:txBody>
      </p:sp>
      <p:sp>
        <p:nvSpPr>
          <p:cNvPr id="8" name="Text 5"/>
          <p:cNvSpPr txBox="1"/>
          <p:nvPr/>
        </p:nvSpPr>
        <p:spPr>
          <a:xfrm>
            <a:off x="5669280" y="1801368"/>
            <a:ext cx="5669280" cy="548640"/>
          </a:xfrm>
          <a:prstGeom prst="rect">
            <a:avLst/>
          </a:prstGeom>
          <a:noFill/>
          <a:ln/>
        </p:spPr>
        <p:txBody>
          <a:bodyPr wrap="square" lIns="0" tIns="0" rIns="0" bIns="0" rtlCol="0" anchor="ctr"/>
          <a:lstStyle/>
          <a:p>
            <a:pPr indent="0" marL="0">
              <a:buNone/>
            </a:pPr>
            <a:r>
              <a:rPr lang="en-US" sz="1600" dirty="0">
                <a:solidFill>
                  <a:srgbClr val="C9D1E0"/>
                </a:solidFill>
              </a:rPr>
              <a:t>Turns a sentence into a structured change (JSON), or declines.</a:t>
            </a:r>
            <a:endParaRPr lang="en-US" sz="1600" dirty="0"/>
          </a:p>
        </p:txBody>
      </p:sp>
      <p:sp>
        <p:nvSpPr>
          <p:cNvPr id="9" name="Shape 6"/>
          <p:cNvSpPr/>
          <p:nvPr/>
        </p:nvSpPr>
        <p:spPr>
          <a:xfrm>
            <a:off x="548640" y="2679192"/>
            <a:ext cx="11064240" cy="932688"/>
          </a:xfrm>
          <a:prstGeom prst="roundRect">
            <a:avLst>
              <a:gd name="adj" fmla="val 9804"/>
            </a:avLst>
          </a:prstGeom>
          <a:solidFill>
            <a:srgbClr val="DCE5F8"/>
          </a:solidFill>
          <a:ln w="9525">
            <a:solidFill>
              <a:srgbClr val="DCE5F8"/>
            </a:solidFill>
            <a:prstDash val="solid"/>
          </a:ln>
        </p:spPr>
      </p:sp>
      <p:sp>
        <p:nvSpPr>
          <p:cNvPr id="10" name="Text 7"/>
          <p:cNvSpPr txBox="1"/>
          <p:nvPr/>
        </p:nvSpPr>
        <p:spPr>
          <a:xfrm>
            <a:off x="868680" y="2953512"/>
            <a:ext cx="146304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LEVEL 2</a:t>
            </a:r>
            <a:endParaRPr lang="en-US" sz="1400" dirty="0"/>
          </a:p>
        </p:txBody>
      </p:sp>
      <p:sp>
        <p:nvSpPr>
          <p:cNvPr id="11" name="Text 8"/>
          <p:cNvSpPr txBox="1"/>
          <p:nvPr/>
        </p:nvSpPr>
        <p:spPr>
          <a:xfrm>
            <a:off x="2468880" y="2907792"/>
            <a:ext cx="3108960" cy="45720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Automatic control</a:t>
            </a:r>
            <a:endParaRPr lang="en-US" sz="2200" dirty="0"/>
          </a:p>
        </p:txBody>
      </p:sp>
      <p:sp>
        <p:nvSpPr>
          <p:cNvPr id="12" name="Text 9"/>
          <p:cNvSpPr txBox="1"/>
          <p:nvPr/>
        </p:nvSpPr>
        <p:spPr>
          <a:xfrm>
            <a:off x="5669280" y="2880360"/>
            <a:ext cx="5669280" cy="548640"/>
          </a:xfrm>
          <a:prstGeom prst="rect">
            <a:avLst/>
          </a:prstGeom>
          <a:noFill/>
          <a:ln/>
        </p:spPr>
        <p:txBody>
          <a:bodyPr wrap="square" lIns="0" tIns="0" rIns="0" bIns="0" rtlCol="0" anchor="ctr"/>
          <a:lstStyle/>
          <a:p>
            <a:pPr indent="0" marL="0">
              <a:buNone/>
            </a:pPr>
            <a:r>
              <a:rPr lang="en-US" sz="1600" dirty="0">
                <a:solidFill>
                  <a:schemeClr val="tx2"/>
                </a:solidFill>
              </a:rPr>
              <a:t>Validates, simulates the impact on the base, applies or rejects with the reason.</a:t>
            </a:r>
            <a:endParaRPr lang="en-US" sz="1600" dirty="0"/>
          </a:p>
        </p:txBody>
      </p:sp>
      <p:sp>
        <p:nvSpPr>
          <p:cNvPr id="13" name="Shape 10"/>
          <p:cNvSpPr/>
          <p:nvPr/>
        </p:nvSpPr>
        <p:spPr>
          <a:xfrm>
            <a:off x="548640" y="3758184"/>
            <a:ext cx="11064240" cy="932688"/>
          </a:xfrm>
          <a:prstGeom prst="roundRect">
            <a:avLst>
              <a:gd name="adj" fmla="val 9804"/>
            </a:avLst>
          </a:prstGeom>
          <a:solidFill>
            <a:schemeClr val="bg2"/>
          </a:solidFill>
          <a:ln w="9525">
            <a:solidFill>
              <a:schemeClr val="bg2"/>
            </a:solidFill>
            <a:prstDash val="solid"/>
          </a:ln>
        </p:spPr>
      </p:sp>
      <p:sp>
        <p:nvSpPr>
          <p:cNvPr id="14" name="Text 11"/>
          <p:cNvSpPr txBox="1"/>
          <p:nvPr/>
        </p:nvSpPr>
        <p:spPr>
          <a:xfrm>
            <a:off x="868680" y="4032504"/>
            <a:ext cx="1463040" cy="365760"/>
          </a:xfrm>
          <a:prstGeom prst="rect">
            <a:avLst/>
          </a:prstGeom>
          <a:noFill/>
          <a:ln/>
        </p:spPr>
        <p:txBody>
          <a:bodyPr wrap="square" lIns="0" tIns="0" rIns="0" bIns="0" rtlCol="0" anchor="t"/>
          <a:lstStyle/>
          <a:p>
            <a:pPr indent="0" marL="0">
              <a:buNone/>
            </a:pPr>
            <a:r>
              <a:rPr lang="en-US" sz="1400" b="1" spc="200" kern="0" dirty="0">
                <a:solidFill>
                  <a:schemeClr val="accent1"/>
                </a:solidFill>
              </a:rPr>
              <a:t>LEVEL 1</a:t>
            </a:r>
            <a:endParaRPr lang="en-US" sz="1400" dirty="0"/>
          </a:p>
        </p:txBody>
      </p:sp>
      <p:sp>
        <p:nvSpPr>
          <p:cNvPr id="15" name="Text 12"/>
          <p:cNvSpPr txBox="1"/>
          <p:nvPr/>
        </p:nvSpPr>
        <p:spPr>
          <a:xfrm>
            <a:off x="2468880" y="3986784"/>
            <a:ext cx="3108960" cy="45720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NBO engine</a:t>
            </a:r>
            <a:endParaRPr lang="en-US" sz="2200" dirty="0"/>
          </a:p>
        </p:txBody>
      </p:sp>
      <p:sp>
        <p:nvSpPr>
          <p:cNvPr id="16" name="Text 13"/>
          <p:cNvSpPr txBox="1"/>
          <p:nvPr/>
        </p:nvSpPr>
        <p:spPr>
          <a:xfrm>
            <a:off x="5669280" y="3959352"/>
            <a:ext cx="5669280" cy="548640"/>
          </a:xfrm>
          <a:prstGeom prst="rect">
            <a:avLst/>
          </a:prstGeom>
          <a:noFill/>
          <a:ln/>
        </p:spPr>
        <p:txBody>
          <a:bodyPr wrap="square" lIns="0" tIns="0" rIns="0" bIns="0" rtlCol="0" anchor="ctr"/>
          <a:lstStyle/>
          <a:p>
            <a:pPr indent="0" marL="0">
              <a:buNone/>
            </a:pPr>
            <a:r>
              <a:rPr lang="en-US" sz="1600" dirty="0">
                <a:solidFill>
                  <a:schemeClr val="tx2"/>
                </a:solidFill>
              </a:rPr>
              <a:t>Assigns every subscriber to exactly one segment, hence one offer.</a:t>
            </a:r>
            <a:endParaRPr lang="en-US" sz="1600" dirty="0"/>
          </a:p>
        </p:txBody>
      </p:sp>
      <p:sp>
        <p:nvSpPr>
          <p:cNvPr id="17" name="Shape 14"/>
          <p:cNvSpPr/>
          <p:nvPr/>
        </p:nvSpPr>
        <p:spPr>
          <a:xfrm>
            <a:off x="548640" y="4837176"/>
            <a:ext cx="11064240" cy="932688"/>
          </a:xfrm>
          <a:prstGeom prst="roundRect">
            <a:avLst>
              <a:gd name="adj" fmla="val 9804"/>
            </a:avLst>
          </a:prstGeom>
          <a:solidFill>
            <a:srgbClr val="F7D9C4"/>
          </a:solidFill>
          <a:ln w="9525">
            <a:solidFill>
              <a:srgbClr val="F7D9C4"/>
            </a:solidFill>
            <a:prstDash val="solid"/>
          </a:ln>
        </p:spPr>
      </p:sp>
      <p:sp>
        <p:nvSpPr>
          <p:cNvPr id="18" name="Text 15"/>
          <p:cNvSpPr txBox="1"/>
          <p:nvPr/>
        </p:nvSpPr>
        <p:spPr>
          <a:xfrm>
            <a:off x="868680" y="5111496"/>
            <a:ext cx="1463040" cy="365760"/>
          </a:xfrm>
          <a:prstGeom prst="rect">
            <a:avLst/>
          </a:prstGeom>
          <a:noFill/>
          <a:ln/>
        </p:spPr>
        <p:txBody>
          <a:bodyPr wrap="square" lIns="0" tIns="0" rIns="0" bIns="0" rtlCol="0" anchor="t"/>
          <a:lstStyle/>
          <a:p>
            <a:pPr indent="0" marL="0">
              <a:buNone/>
            </a:pPr>
            <a:r>
              <a:rPr lang="en-US" sz="1400" b="1" spc="200" kern="0" dirty="0">
                <a:solidFill>
                  <a:schemeClr val="accent1"/>
                </a:solidFill>
              </a:rPr>
              <a:t>ACROSS</a:t>
            </a:r>
            <a:endParaRPr lang="en-US" sz="1400" dirty="0"/>
          </a:p>
        </p:txBody>
      </p:sp>
      <p:sp>
        <p:nvSpPr>
          <p:cNvPr id="19" name="Text 16"/>
          <p:cNvSpPr txBox="1"/>
          <p:nvPr/>
        </p:nvSpPr>
        <p:spPr>
          <a:xfrm>
            <a:off x="2468880" y="5065776"/>
            <a:ext cx="3108960" cy="45720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Traceability</a:t>
            </a:r>
            <a:endParaRPr lang="en-US" sz="2200" dirty="0"/>
          </a:p>
        </p:txBody>
      </p:sp>
      <p:sp>
        <p:nvSpPr>
          <p:cNvPr id="20" name="Text 17"/>
          <p:cNvSpPr txBox="1"/>
          <p:nvPr/>
        </p:nvSpPr>
        <p:spPr>
          <a:xfrm>
            <a:off x="5669280" y="5038344"/>
            <a:ext cx="5669280" cy="548640"/>
          </a:xfrm>
          <a:prstGeom prst="rect">
            <a:avLst/>
          </a:prstGeom>
          <a:noFill/>
          <a:ln/>
        </p:spPr>
        <p:txBody>
          <a:bodyPr wrap="square" lIns="0" tIns="0" rIns="0" bIns="0" rtlCol="0" anchor="ctr"/>
          <a:lstStyle/>
          <a:p>
            <a:pPr indent="0" marL="0">
              <a:buNone/>
            </a:pPr>
            <a:r>
              <a:rPr lang="en-US" sz="1600" dirty="0">
                <a:solidFill>
                  <a:schemeClr val="tx2"/>
                </a:solidFill>
              </a:rPr>
              <a:t>Every request, applied or rejected, is logged with a unique id.</a:t>
            </a:r>
            <a:endParaRPr lang="en-US" sz="1600" dirty="0"/>
          </a:p>
        </p:txBody>
      </p:sp>
      <p:sp>
        <p:nvSpPr>
          <p:cNvPr id="21" name="Text 18"/>
          <p:cNvSpPr txBox="1"/>
          <p:nvPr/>
        </p:nvSpPr>
        <p:spPr>
          <a:xfrm>
            <a:off x="548640" y="5943600"/>
            <a:ext cx="11064240" cy="365760"/>
          </a:xfrm>
          <a:prstGeom prst="rect">
            <a:avLst/>
          </a:prstGeom>
          <a:noFill/>
          <a:ln/>
        </p:spPr>
        <p:txBody>
          <a:bodyPr wrap="square" lIns="0" tIns="0" rIns="0" bIns="0" rtlCol="0" anchor="t"/>
          <a:lstStyle/>
          <a:p>
            <a:pPr indent="0" marL="0">
              <a:buNone/>
            </a:pPr>
            <a:r>
              <a:rPr lang="en-US" sz="1600" i="1" dirty="0">
                <a:solidFill>
                  <a:schemeClr val="accent6"/>
                </a:solidFill>
              </a:rPr>
              <a:t>The AI only acts at level 3: everything that touches the data is deterministic.</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LEVEL 1 · NBO ENGINE</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The strategy is a table, not code</a:t>
            </a:r>
            <a:endParaRPr lang="en-US" sz="3000" dirty="0"/>
          </a:p>
        </p:txBody>
      </p:sp>
      <p:sp>
        <p:nvSpPr>
          <p:cNvPr id="5" name="Text 2"/>
          <p:cNvSpPr txBox="1"/>
          <p:nvPr/>
        </p:nvSpPr>
        <p:spPr>
          <a:xfrm>
            <a:off x="548640" y="1600200"/>
            <a:ext cx="530352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How the engine decides</a:t>
            </a:r>
            <a:endParaRPr lang="en-US" sz="2000" dirty="0"/>
          </a:p>
        </p:txBody>
      </p:sp>
      <p:sp>
        <p:nvSpPr>
          <p:cNvPr id="6" name="Shape 3"/>
          <p:cNvSpPr/>
          <p:nvPr/>
        </p:nvSpPr>
        <p:spPr>
          <a:xfrm>
            <a:off x="548640" y="2148840"/>
            <a:ext cx="457200" cy="457200"/>
          </a:xfrm>
          <a:prstGeom prst="ellipse">
            <a:avLst/>
          </a:prstGeom>
          <a:solidFill>
            <a:schemeClr val="accent2"/>
          </a:solidFill>
          <a:ln w="12700">
            <a:solidFill>
              <a:schemeClr val="accent2"/>
            </a:solidFill>
            <a:prstDash val="solid"/>
          </a:ln>
        </p:spPr>
      </p:sp>
      <p:sp>
        <p:nvSpPr>
          <p:cNvPr id="7" name="Text 4"/>
          <p:cNvSpPr txBox="1"/>
          <p:nvPr/>
        </p:nvSpPr>
        <p:spPr>
          <a:xfrm>
            <a:off x="548640" y="2148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188720" y="2185416"/>
            <a:ext cx="4754880" cy="411480"/>
          </a:xfrm>
          <a:prstGeom prst="rect">
            <a:avLst/>
          </a:prstGeom>
          <a:noFill/>
          <a:ln/>
        </p:spPr>
        <p:txBody>
          <a:bodyPr wrap="square" lIns="0" tIns="0" rIns="0" bIns="0" rtlCol="0" anchor="ctr"/>
          <a:lstStyle/>
          <a:p>
            <a:pPr indent="0" marL="0">
              <a:buNone/>
            </a:pPr>
            <a:r>
              <a:rPr lang="en-US" sz="1600" dirty="0">
                <a:solidFill>
                  <a:schemeClr val="tx2"/>
                </a:solidFill>
              </a:rPr>
              <a:t>Compute 6 behavioural variables per subscriber</a:t>
            </a:r>
            <a:endParaRPr lang="en-US" sz="1600" dirty="0"/>
          </a:p>
        </p:txBody>
      </p:sp>
      <p:sp>
        <p:nvSpPr>
          <p:cNvPr id="9" name="Shape 6"/>
          <p:cNvSpPr/>
          <p:nvPr/>
        </p:nvSpPr>
        <p:spPr>
          <a:xfrm>
            <a:off x="548640" y="2770632"/>
            <a:ext cx="457200" cy="457200"/>
          </a:xfrm>
          <a:prstGeom prst="ellipse">
            <a:avLst/>
          </a:prstGeom>
          <a:solidFill>
            <a:schemeClr val="accent2"/>
          </a:solidFill>
          <a:ln w="12700">
            <a:solidFill>
              <a:schemeClr val="accent2"/>
            </a:solidFill>
            <a:prstDash val="solid"/>
          </a:ln>
        </p:spPr>
      </p:sp>
      <p:sp>
        <p:nvSpPr>
          <p:cNvPr id="10" name="Text 7"/>
          <p:cNvSpPr txBox="1"/>
          <p:nvPr/>
        </p:nvSpPr>
        <p:spPr>
          <a:xfrm>
            <a:off x="548640" y="277063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188720" y="2807208"/>
            <a:ext cx="4754880" cy="411480"/>
          </a:xfrm>
          <a:prstGeom prst="rect">
            <a:avLst/>
          </a:prstGeom>
          <a:noFill/>
          <a:ln/>
        </p:spPr>
        <p:txBody>
          <a:bodyPr wrap="square" lIns="0" tIns="0" rIns="0" bIns="0" rtlCol="0" anchor="ctr"/>
          <a:lstStyle/>
          <a:p>
            <a:pPr indent="0" marL="0">
              <a:buNone/>
            </a:pPr>
            <a:r>
              <a:rPr lang="en-US" sz="1600" dirty="0">
                <a:solidFill>
                  <a:schemeClr val="tx2"/>
                </a:solidFill>
              </a:rPr>
              <a:t>Compare the subscriber with every active rule</a:t>
            </a:r>
            <a:endParaRPr lang="en-US" sz="1600" dirty="0"/>
          </a:p>
        </p:txBody>
      </p:sp>
      <p:sp>
        <p:nvSpPr>
          <p:cNvPr id="12" name="Shape 9"/>
          <p:cNvSpPr/>
          <p:nvPr/>
        </p:nvSpPr>
        <p:spPr>
          <a:xfrm>
            <a:off x="548640" y="3392424"/>
            <a:ext cx="457200" cy="457200"/>
          </a:xfrm>
          <a:prstGeom prst="ellipse">
            <a:avLst/>
          </a:prstGeom>
          <a:solidFill>
            <a:schemeClr val="accent2"/>
          </a:solidFill>
          <a:ln w="12700">
            <a:solidFill>
              <a:schemeClr val="accent2"/>
            </a:solidFill>
            <a:prstDash val="solid"/>
          </a:ln>
        </p:spPr>
      </p:sp>
      <p:sp>
        <p:nvSpPr>
          <p:cNvPr id="13" name="Text 10"/>
          <p:cNvSpPr txBox="1"/>
          <p:nvPr/>
        </p:nvSpPr>
        <p:spPr>
          <a:xfrm>
            <a:off x="548640" y="339242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1"/>
          <p:cNvSpPr txBox="1"/>
          <p:nvPr/>
        </p:nvSpPr>
        <p:spPr>
          <a:xfrm>
            <a:off x="1188720" y="3429000"/>
            <a:ext cx="4754880" cy="411480"/>
          </a:xfrm>
          <a:prstGeom prst="rect">
            <a:avLst/>
          </a:prstGeom>
          <a:noFill/>
          <a:ln/>
        </p:spPr>
        <p:txBody>
          <a:bodyPr wrap="square" lIns="0" tIns="0" rIns="0" bIns="0" rtlCol="0" anchor="ctr"/>
          <a:lstStyle/>
          <a:p>
            <a:pPr indent="0" marL="0">
              <a:buNone/>
            </a:pPr>
            <a:r>
              <a:rPr lang="en-US" sz="1600" dirty="0">
                <a:solidFill>
                  <a:schemeClr val="tx2"/>
                </a:solidFill>
              </a:rPr>
              <a:t>Keep the rules whose conditions are all true</a:t>
            </a:r>
            <a:endParaRPr lang="en-US" sz="1600" dirty="0"/>
          </a:p>
        </p:txBody>
      </p:sp>
      <p:sp>
        <p:nvSpPr>
          <p:cNvPr id="15" name="Shape 12"/>
          <p:cNvSpPr/>
          <p:nvPr/>
        </p:nvSpPr>
        <p:spPr>
          <a:xfrm>
            <a:off x="548640" y="4014216"/>
            <a:ext cx="457200" cy="457200"/>
          </a:xfrm>
          <a:prstGeom prst="ellipse">
            <a:avLst/>
          </a:prstGeom>
          <a:solidFill>
            <a:schemeClr val="accent3"/>
          </a:solidFill>
          <a:ln w="12700">
            <a:solidFill>
              <a:schemeClr val="accent3"/>
            </a:solidFill>
            <a:prstDash val="solid"/>
          </a:ln>
        </p:spPr>
      </p:sp>
      <p:sp>
        <p:nvSpPr>
          <p:cNvPr id="16" name="Text 13"/>
          <p:cNvSpPr txBox="1"/>
          <p:nvPr/>
        </p:nvSpPr>
        <p:spPr>
          <a:xfrm>
            <a:off x="548640" y="401421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4"/>
          <p:cNvSpPr txBox="1"/>
          <p:nvPr/>
        </p:nvSpPr>
        <p:spPr>
          <a:xfrm>
            <a:off x="1188720" y="4050792"/>
            <a:ext cx="4754880" cy="411480"/>
          </a:xfrm>
          <a:prstGeom prst="rect">
            <a:avLst/>
          </a:prstGeom>
          <a:noFill/>
          <a:ln/>
        </p:spPr>
        <p:txBody>
          <a:bodyPr wrap="square" lIns="0" tIns="0" rIns="0" bIns="0" rtlCol="0" anchor="ctr"/>
          <a:lstStyle/>
          <a:p>
            <a:pPr indent="0" marL="0">
              <a:buNone/>
            </a:pPr>
            <a:r>
              <a:rPr lang="en-US" sz="1600" dirty="0">
                <a:solidFill>
                  <a:schemeClr val="tx2"/>
                </a:solidFill>
              </a:rPr>
              <a:t>Exactly 1 rule → its segment and its offer</a:t>
            </a:r>
            <a:endParaRPr lang="en-US" sz="1600" dirty="0"/>
          </a:p>
        </p:txBody>
      </p:sp>
      <p:sp>
        <p:nvSpPr>
          <p:cNvPr id="18" name="Shape 15"/>
          <p:cNvSpPr/>
          <p:nvPr/>
        </p:nvSpPr>
        <p:spPr>
          <a:xfrm>
            <a:off x="548640" y="4636008"/>
            <a:ext cx="457200" cy="457200"/>
          </a:xfrm>
          <a:prstGeom prst="ellipse">
            <a:avLst/>
          </a:prstGeom>
          <a:solidFill>
            <a:schemeClr val="accent4"/>
          </a:solidFill>
          <a:ln w="12700">
            <a:solidFill>
              <a:schemeClr val="accent4"/>
            </a:solidFill>
            <a:prstDash val="solid"/>
          </a:ln>
        </p:spPr>
      </p:sp>
      <p:sp>
        <p:nvSpPr>
          <p:cNvPr id="19" name="Text 16"/>
          <p:cNvSpPr txBox="1"/>
          <p:nvPr/>
        </p:nvSpPr>
        <p:spPr>
          <a:xfrm>
            <a:off x="548640" y="46360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0" name="Text 17"/>
          <p:cNvSpPr txBox="1"/>
          <p:nvPr/>
        </p:nvSpPr>
        <p:spPr>
          <a:xfrm>
            <a:off x="1188720" y="4672584"/>
            <a:ext cx="4754880" cy="411480"/>
          </a:xfrm>
          <a:prstGeom prst="rect">
            <a:avLst/>
          </a:prstGeom>
          <a:noFill/>
          <a:ln/>
        </p:spPr>
        <p:txBody>
          <a:bodyPr wrap="square" lIns="0" tIns="0" rIns="0" bIns="0" rtlCol="0" anchor="ctr"/>
          <a:lstStyle/>
          <a:p>
            <a:pPr indent="0" marL="0">
              <a:buNone/>
            </a:pPr>
            <a:r>
              <a:rPr lang="en-US" sz="1600" dirty="0">
                <a:solidFill>
                  <a:schemeClr val="tx2"/>
                </a:solidFill>
              </a:rPr>
              <a:t>0 rules → UNASSIGNED: no offer</a:t>
            </a:r>
            <a:endParaRPr lang="en-US" sz="1600" dirty="0"/>
          </a:p>
        </p:txBody>
      </p:sp>
      <p:sp>
        <p:nvSpPr>
          <p:cNvPr id="21" name="Shape 18"/>
          <p:cNvSpPr/>
          <p:nvPr/>
        </p:nvSpPr>
        <p:spPr>
          <a:xfrm>
            <a:off x="548640" y="5257800"/>
            <a:ext cx="457200" cy="457200"/>
          </a:xfrm>
          <a:prstGeom prst="ellipse">
            <a:avLst/>
          </a:prstGeom>
          <a:solidFill>
            <a:schemeClr val="accent4"/>
          </a:solidFill>
          <a:ln w="12700">
            <a:solidFill>
              <a:schemeClr val="accent4"/>
            </a:solidFill>
            <a:prstDash val="solid"/>
          </a:ln>
        </p:spPr>
      </p:sp>
      <p:sp>
        <p:nvSpPr>
          <p:cNvPr id="22" name="Text 19"/>
          <p:cNvSpPr txBox="1"/>
          <p:nvPr/>
        </p:nvSpPr>
        <p:spPr>
          <a:xfrm>
            <a:off x="548640" y="5257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3" name="Text 20"/>
          <p:cNvSpPr txBox="1"/>
          <p:nvPr/>
        </p:nvSpPr>
        <p:spPr>
          <a:xfrm>
            <a:off x="1188720" y="5294376"/>
            <a:ext cx="4754880" cy="411480"/>
          </a:xfrm>
          <a:prstGeom prst="rect">
            <a:avLst/>
          </a:prstGeom>
          <a:noFill/>
          <a:ln/>
        </p:spPr>
        <p:txBody>
          <a:bodyPr wrap="square" lIns="0" tIns="0" rIns="0" bIns="0" rtlCol="0" anchor="ctr"/>
          <a:lstStyle/>
          <a:p>
            <a:pPr indent="0" marL="0">
              <a:buNone/>
            </a:pPr>
            <a:r>
              <a:rPr lang="en-US" sz="1600" dirty="0">
                <a:solidFill>
                  <a:schemeClr val="tx2"/>
                </a:solidFill>
              </a:rPr>
              <a:t>2+ rules → MULTIPLE: conflicting offers</a:t>
            </a:r>
            <a:endParaRPr lang="en-US" sz="1600" dirty="0"/>
          </a:p>
        </p:txBody>
      </p:sp>
      <p:sp>
        <p:nvSpPr>
          <p:cNvPr id="24" name="Shape 21"/>
          <p:cNvSpPr/>
          <p:nvPr/>
        </p:nvSpPr>
        <p:spPr>
          <a:xfrm>
            <a:off x="6309360" y="1600200"/>
            <a:ext cx="5303520" cy="3291840"/>
          </a:xfrm>
          <a:prstGeom prst="roundRect">
            <a:avLst>
              <a:gd name="adj" fmla="val 2778"/>
            </a:avLst>
          </a:prstGeom>
          <a:solidFill>
            <a:schemeClr val="tx1"/>
          </a:solidFill>
          <a:ln w="9525">
            <a:solidFill>
              <a:schemeClr val="tx1"/>
            </a:solidFill>
            <a:prstDash val="solid"/>
          </a:ln>
        </p:spPr>
      </p:sp>
      <p:sp>
        <p:nvSpPr>
          <p:cNvPr id="25" name="Text 22"/>
          <p:cNvSpPr txBox="1"/>
          <p:nvPr/>
        </p:nvSpPr>
        <p:spPr>
          <a:xfrm>
            <a:off x="6629400" y="1828800"/>
            <a:ext cx="4663440" cy="365760"/>
          </a:xfrm>
          <a:prstGeom prst="rect">
            <a:avLst/>
          </a:prstGeom>
          <a:noFill/>
          <a:ln/>
        </p:spPr>
        <p:txBody>
          <a:bodyPr wrap="square" lIns="0" tIns="0" rIns="0" bIns="0" rtlCol="0" anchor="t"/>
          <a:lstStyle/>
          <a:p>
            <a:pPr indent="0" marL="0">
              <a:buNone/>
            </a:pPr>
            <a:r>
              <a:rPr lang="en-US" sz="1400" b="1" spc="100" kern="0" dirty="0">
                <a:solidFill>
                  <a:srgbClr val="E8833A"/>
                </a:solidFill>
              </a:rPr>
              <a:t>One rule = one row</a:t>
            </a:r>
            <a:endParaRPr lang="en-US" sz="1400" dirty="0"/>
          </a:p>
        </p:txBody>
      </p:sp>
      <p:sp>
        <p:nvSpPr>
          <p:cNvPr id="26" name="Text 23"/>
          <p:cNvSpPr txBox="1"/>
          <p:nvPr/>
        </p:nvSpPr>
        <p:spPr>
          <a:xfrm>
            <a:off x="6629400" y="2286000"/>
            <a:ext cx="4754880" cy="1828800"/>
          </a:xfrm>
          <a:prstGeom prst="rect">
            <a:avLst/>
          </a:prstGeom>
          <a:noFill/>
          <a:ln/>
        </p:spPr>
        <p:txBody>
          <a:bodyPr wrap="square" lIns="0" tIns="0" rIns="0" bIns="0" rtlCol="0" anchor="t"/>
          <a:lstStyle/>
          <a:p>
            <a:pPr indent="0" marL="0">
              <a:buNone/>
            </a:pPr>
            <a:r>
              <a:rPr lang="en-US" sz="1600" dirty="0">
                <a:solidFill>
                  <a:srgbClr val="C9D1E0"/>
                </a:solidFill>
                <a:latin typeface="Courier New" pitchFamily="34" charset="0"/>
                <a:ea typeface="Courier New" pitchFamily="34" charset="-122"/>
                <a:cs typeface="Courier New" pitchFamily="34" charset="-120"/>
              </a:rPr>
              <a:t>tenure ∈ [min, max)</a:t>
            </a:r>
            <a:endParaRPr lang="en-US" sz="1600" dirty="0"/>
          </a:p>
          <a:p>
            <a:pPr indent="0" marL="0">
              <a:buNone/>
            </a:pPr>
            <a:r>
              <a:rPr lang="en-US" sz="1600" dirty="0">
                <a:solidFill>
                  <a:srgbClr val="C9D1E0"/>
                </a:solidFill>
                <a:latin typeface="Courier New" pitchFamily="34" charset="0"/>
                <a:ea typeface="Courier New" pitchFamily="34" charset="-122"/>
                <a:cs typeface="Courier New" pitchFamily="34" charset="-120"/>
              </a:rPr>
              <a:t>AND renewals ∈ [min, max)</a:t>
            </a:r>
            <a:endParaRPr lang="en-US" sz="1600" dirty="0"/>
          </a:p>
          <a:p>
            <a:pPr indent="0" marL="0">
              <a:buNone/>
            </a:pPr>
            <a:r>
              <a:rPr lang="en-US" sz="1600" dirty="0">
                <a:solidFill>
                  <a:srgbClr val="C9D1E0"/>
                </a:solidFill>
                <a:latin typeface="Courier New" pitchFamily="34" charset="0"/>
                <a:ea typeface="Courier New" pitchFamily="34" charset="-122"/>
                <a:cs typeface="Courier New" pitchFamily="34" charset="-120"/>
              </a:rPr>
              <a:t>AND days late ∈ [min, max)</a:t>
            </a:r>
            <a:endParaRPr lang="en-US" sz="1600" dirty="0"/>
          </a:p>
          <a:p>
            <a:pPr indent="0" marL="0">
              <a:buNone/>
            </a:pPr>
            <a:r>
              <a:rPr lang="en-US" sz="1600" dirty="0">
                <a:solidFill>
                  <a:srgbClr val="C9D1E0"/>
                </a:solidFill>
                <a:latin typeface="Courier New" pitchFamily="34" charset="0"/>
                <a:ea typeface="Courier New" pitchFamily="34" charset="-122"/>
                <a:cs typeface="Courier New" pitchFamily="34" charset="-120"/>
              </a:rPr>
              <a:t>AND roaming compatible</a:t>
            </a:r>
            <a:endParaRPr lang="en-US" sz="1600" dirty="0"/>
          </a:p>
          <a:p>
            <a:pPr indent="0" marL="0">
              <a:buNone/>
            </a:pPr>
            <a:r>
              <a:rPr lang="en-US" sz="1600" dirty="0">
                <a:solidFill>
                  <a:srgbClr val="C9D1E0"/>
                </a:solidFill>
                <a:latin typeface="Courier New" pitchFamily="34" charset="0"/>
                <a:ea typeface="Courier New" pitchFamily="34" charset="-122"/>
                <a:cs typeface="Courier New" pitchFamily="34" charset="-120"/>
              </a:rPr>
              <a:t>AND risk ∈ allowed combinations</a:t>
            </a:r>
            <a:endParaRPr lang="en-US" sz="1600" dirty="0"/>
          </a:p>
        </p:txBody>
      </p:sp>
      <p:sp>
        <p:nvSpPr>
          <p:cNvPr id="27" name="Text 24"/>
          <p:cNvSpPr txBox="1"/>
          <p:nvPr/>
        </p:nvSpPr>
        <p:spPr>
          <a:xfrm>
            <a:off x="6629400" y="4206240"/>
            <a:ext cx="4754880" cy="365760"/>
          </a:xfrm>
          <a:prstGeom prst="rect">
            <a:avLst/>
          </a:prstGeom>
          <a:noFill/>
          <a:ln/>
        </p:spPr>
        <p:txBody>
          <a:bodyPr wrap="square" lIns="0" tIns="0" rIns="0" bIns="0" rtlCol="0" anchor="t"/>
          <a:lstStyle/>
          <a:p>
            <a:pPr indent="0" marL="0">
              <a:buNone/>
            </a:pPr>
            <a:r>
              <a:rPr lang="en-US" sz="1600" b="1" dirty="0">
                <a:solidFill>
                  <a:srgbClr val="E8833A"/>
                </a:solidFill>
                <a:latin typeface="Courier New" pitchFamily="34" charset="0"/>
                <a:ea typeface="Courier New" pitchFamily="34" charset="-122"/>
                <a:cs typeface="Courier New" pitchFamily="34" charset="-120"/>
              </a:rPr>
              <a:t>→ 1 segment → 1 offer intensity</a:t>
            </a:r>
            <a:endParaRPr lang="en-US" sz="1600" dirty="0"/>
          </a:p>
        </p:txBody>
      </p:sp>
      <p:sp>
        <p:nvSpPr>
          <p:cNvPr id="28" name="Text 25"/>
          <p:cNvSpPr txBox="1"/>
          <p:nvPr/>
        </p:nvSpPr>
        <p:spPr>
          <a:xfrm>
            <a:off x="6309360" y="5120640"/>
            <a:ext cx="5303520" cy="731520"/>
          </a:xfrm>
          <a:prstGeom prst="rect">
            <a:avLst/>
          </a:prstGeom>
          <a:noFill/>
          <a:ln/>
        </p:spPr>
        <p:txBody>
          <a:bodyPr wrap="square" lIns="0" tIns="0" rIns="0" bIns="0" rtlCol="0" anchor="t"/>
          <a:lstStyle/>
          <a:p>
            <a:pPr indent="0" marL="0">
              <a:buNone/>
            </a:pPr>
            <a:r>
              <a:rPr lang="en-US" sz="1600" dirty="0">
                <a:solidFill>
                  <a:schemeClr val="tx2"/>
                </a:solidFill>
              </a:rPr>
              <a:t>Changing the strategy = changing a value in a row. No code, no release.</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LEVEL 1 · THE VARIABLES</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Six behavioural variables describe every subscriber</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377440"/>
                <a:gridCol w="3657600"/>
                <a:gridCol w="5029200"/>
              </a:tblGrid>
              <a:tr h="502920">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Variable</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What it measures</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Bands used in the grid</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r>
              <a:tr h="502920">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Tenure</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Days since the line was activated</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&lt; 60 Welcome · 60–149 Onboarding · 150+ mature</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r>
              <a:tr h="502920">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Renewals (6 months)</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Main-bundle renewals over 180 days</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6+ Champion · 4–5 Regular · 1–3 Occasional · 0 Silent</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r h="502920">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Days late</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Days past the validity of the last bundle</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&lt; 4 Active · 4–14 Slipping · 15–45 Lapsed · 46+ Lost</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r>
              <a:tr h="502920">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Spend trend</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Spending going up, flat or down</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POS · FLAT · NEG</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r h="502920">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Churn risk</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Churn-model probability, banded</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LOW · MED · HIGH</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r>
              <a:tr h="502920">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Roaming</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Recent roaming activity</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Y / N: a late customer may just be travelling</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bl>
          </a:graphicData>
        </a:graphic>
      </p:graphicFrame>
      <p:sp>
        <p:nvSpPr>
          <p:cNvPr id="6" name="Text 2"/>
          <p:cNvSpPr txBox="1"/>
          <p:nvPr/>
        </p:nvSpPr>
        <p:spPr>
          <a:xfrm>
            <a:off x="548640" y="5577840"/>
            <a:ext cx="11064240" cy="457200"/>
          </a:xfrm>
          <a:prstGeom prst="rect">
            <a:avLst/>
          </a:prstGeom>
          <a:noFill/>
          <a:ln/>
        </p:spPr>
        <p:txBody>
          <a:bodyPr wrap="square" lIns="0" tIns="0" rIns="0" bIns="0" rtlCol="0" anchor="t"/>
          <a:lstStyle/>
          <a:p>
            <a:pPr indent="0" marL="0">
              <a:buNone/>
            </a:pPr>
            <a:r>
              <a:rPr lang="en-US" sz="1500" dirty="0">
                <a:solidFill>
                  <a:schemeClr val="accent6"/>
                </a:solidFill>
              </a:rPr>
              <a:t>Spend trend and churn risk combine into one risk code, e.g. POS-MED or NEG-HIGH. All bands are fictional (portfolio grid).</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LEVEL 1 · THE 14 SEGMENTS</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Loyalty × lifecycle stage: one cell per customer</a:t>
            </a:r>
            <a:endParaRPr lang="en-US" sz="3000" dirty="0"/>
          </a:p>
        </p:txBody>
      </p:sp>
      <p:sp>
        <p:nvSpPr>
          <p:cNvPr id="5" name="Text 2"/>
          <p:cNvSpPr txBox="1"/>
          <p:nvPr/>
        </p:nvSpPr>
        <p:spPr>
          <a:xfrm>
            <a:off x="2240280" y="1481328"/>
            <a:ext cx="2286000" cy="274320"/>
          </a:xfrm>
          <a:prstGeom prst="rect">
            <a:avLst/>
          </a:prstGeom>
          <a:noFill/>
          <a:ln/>
        </p:spPr>
        <p:txBody>
          <a:bodyPr wrap="square" lIns="0" tIns="0" rIns="0" bIns="0" rtlCol="0" anchor="t"/>
          <a:lstStyle/>
          <a:p>
            <a:pPr algn="ctr" indent="0" marL="0">
              <a:buNone/>
            </a:pPr>
            <a:r>
              <a:rPr lang="en-US" sz="1300" b="1" dirty="0">
                <a:solidFill>
                  <a:schemeClr val="tx2"/>
                </a:solidFill>
              </a:rPr>
              <a:t>Active  &lt; 4 days</a:t>
            </a:r>
            <a:endParaRPr lang="en-US" sz="1300" dirty="0"/>
          </a:p>
        </p:txBody>
      </p:sp>
      <p:sp>
        <p:nvSpPr>
          <p:cNvPr id="6" name="Text 3"/>
          <p:cNvSpPr txBox="1"/>
          <p:nvPr/>
        </p:nvSpPr>
        <p:spPr>
          <a:xfrm>
            <a:off x="4590288" y="1481328"/>
            <a:ext cx="2286000" cy="274320"/>
          </a:xfrm>
          <a:prstGeom prst="rect">
            <a:avLst/>
          </a:prstGeom>
          <a:noFill/>
          <a:ln/>
        </p:spPr>
        <p:txBody>
          <a:bodyPr wrap="square" lIns="0" tIns="0" rIns="0" bIns="0" rtlCol="0" anchor="t"/>
          <a:lstStyle/>
          <a:p>
            <a:pPr algn="ctr" indent="0" marL="0">
              <a:buNone/>
            </a:pPr>
            <a:r>
              <a:rPr lang="en-US" sz="1300" b="1" dirty="0">
                <a:solidFill>
                  <a:schemeClr val="tx2"/>
                </a:solidFill>
              </a:rPr>
              <a:t>Slipping  4–14</a:t>
            </a:r>
            <a:endParaRPr lang="en-US" sz="1300" dirty="0"/>
          </a:p>
        </p:txBody>
      </p:sp>
      <p:sp>
        <p:nvSpPr>
          <p:cNvPr id="7" name="Text 4"/>
          <p:cNvSpPr txBox="1"/>
          <p:nvPr/>
        </p:nvSpPr>
        <p:spPr>
          <a:xfrm>
            <a:off x="6940296" y="1481328"/>
            <a:ext cx="2286000" cy="274320"/>
          </a:xfrm>
          <a:prstGeom prst="rect">
            <a:avLst/>
          </a:prstGeom>
          <a:noFill/>
          <a:ln/>
        </p:spPr>
        <p:txBody>
          <a:bodyPr wrap="square" lIns="0" tIns="0" rIns="0" bIns="0" rtlCol="0" anchor="t"/>
          <a:lstStyle/>
          <a:p>
            <a:pPr algn="ctr" indent="0" marL="0">
              <a:buNone/>
            </a:pPr>
            <a:r>
              <a:rPr lang="en-US" sz="1300" b="1" dirty="0">
                <a:solidFill>
                  <a:schemeClr val="tx2"/>
                </a:solidFill>
              </a:rPr>
              <a:t>Lapsed  15–45</a:t>
            </a:r>
            <a:endParaRPr lang="en-US" sz="1300" dirty="0"/>
          </a:p>
        </p:txBody>
      </p:sp>
      <p:sp>
        <p:nvSpPr>
          <p:cNvPr id="8" name="Text 5"/>
          <p:cNvSpPr txBox="1"/>
          <p:nvPr/>
        </p:nvSpPr>
        <p:spPr>
          <a:xfrm>
            <a:off x="9290304" y="1481328"/>
            <a:ext cx="2286000" cy="274320"/>
          </a:xfrm>
          <a:prstGeom prst="rect">
            <a:avLst/>
          </a:prstGeom>
          <a:noFill/>
          <a:ln/>
        </p:spPr>
        <p:txBody>
          <a:bodyPr wrap="square" lIns="0" tIns="0" rIns="0" bIns="0" rtlCol="0" anchor="t"/>
          <a:lstStyle/>
          <a:p>
            <a:pPr algn="ctr" indent="0" marL="0">
              <a:buNone/>
            </a:pPr>
            <a:r>
              <a:rPr lang="en-US" sz="1300" b="1" dirty="0">
                <a:solidFill>
                  <a:schemeClr val="tx2"/>
                </a:solidFill>
              </a:rPr>
              <a:t>Lost  46+</a:t>
            </a:r>
            <a:endParaRPr lang="en-US" sz="1300" dirty="0"/>
          </a:p>
        </p:txBody>
      </p:sp>
      <p:sp>
        <p:nvSpPr>
          <p:cNvPr id="9" name="Text 6"/>
          <p:cNvSpPr txBox="1"/>
          <p:nvPr/>
        </p:nvSpPr>
        <p:spPr>
          <a:xfrm>
            <a:off x="548640" y="1810512"/>
            <a:ext cx="1645920" cy="658368"/>
          </a:xfrm>
          <a:prstGeom prst="rect">
            <a:avLst/>
          </a:prstGeom>
          <a:noFill/>
          <a:ln/>
        </p:spPr>
        <p:txBody>
          <a:bodyPr wrap="square" lIns="0" tIns="0" rIns="0" bIns="0" rtlCol="0" anchor="ctr"/>
          <a:lstStyle/>
          <a:p>
            <a:pPr indent="0" marL="0">
              <a:buNone/>
            </a:pPr>
            <a:r>
              <a:rPr lang="en-US" sz="1300" b="1" dirty="0">
                <a:solidFill>
                  <a:schemeClr val="tx1"/>
                </a:solidFill>
              </a:rPr>
              <a:t>New customers</a:t>
            </a:r>
            <a:endParaRPr lang="en-US" sz="1300" dirty="0"/>
          </a:p>
          <a:p>
            <a:pPr indent="0" marL="0">
              <a:buNone/>
            </a:pPr>
            <a:r>
              <a:rPr lang="en-US" sz="1300" dirty="0">
                <a:solidFill>
                  <a:schemeClr val="tx1"/>
                </a:solidFill>
              </a:rPr>
              <a:t>tenure &lt; 150 days</a:t>
            </a:r>
            <a:endParaRPr lang="en-US" sz="1300" dirty="0"/>
          </a:p>
        </p:txBody>
      </p:sp>
      <p:sp>
        <p:nvSpPr>
          <p:cNvPr id="10" name="Shape 7"/>
          <p:cNvSpPr/>
          <p:nvPr/>
        </p:nvSpPr>
        <p:spPr>
          <a:xfrm>
            <a:off x="2240280" y="1810512"/>
            <a:ext cx="4636008" cy="658368"/>
          </a:xfrm>
          <a:prstGeom prst="roundRect">
            <a:avLst>
              <a:gd name="adj" fmla="val 13889"/>
            </a:avLst>
          </a:prstGeom>
          <a:solidFill>
            <a:srgbClr val="E4E6EC"/>
          </a:solidFill>
          <a:ln w="9525">
            <a:solidFill>
              <a:srgbClr val="E4E6EC"/>
            </a:solidFill>
            <a:prstDash val="solid"/>
          </a:ln>
        </p:spPr>
      </p:sp>
      <p:sp>
        <p:nvSpPr>
          <p:cNvPr id="11" name="Text 8"/>
          <p:cNvSpPr txBox="1"/>
          <p:nvPr/>
        </p:nvSpPr>
        <p:spPr>
          <a:xfrm>
            <a:off x="2331720" y="1810512"/>
            <a:ext cx="4453128" cy="658368"/>
          </a:xfrm>
          <a:prstGeom prst="rect">
            <a:avLst/>
          </a:prstGeom>
          <a:noFill/>
          <a:ln/>
        </p:spPr>
        <p:txBody>
          <a:bodyPr wrap="square" lIns="0" tIns="0" rIns="0" bIns="0" rtlCol="0" anchor="ctr"/>
          <a:lstStyle/>
          <a:p>
            <a:pPr indent="0" marL="0">
              <a:buNone/>
            </a:pPr>
            <a:r>
              <a:rPr lang="en-US" sz="1300" b="1" dirty="0">
                <a:solidFill>
                  <a:schemeClr val="tx1"/>
                </a:solidFill>
              </a:rPr>
              <a:t>C01 Welcome Journey</a:t>
            </a:r>
            <a:endParaRPr lang="en-US" sz="1300" dirty="0"/>
          </a:p>
          <a:p>
            <a:pPr indent="0" marL="0">
              <a:buNone/>
            </a:pPr>
            <a:r>
              <a:rPr lang="en-US" sz="1300" dirty="0">
                <a:solidFill>
                  <a:schemeClr val="tx1"/>
                </a:solidFill>
              </a:rPr>
              <a:t>NONE · &lt; 60 days</a:t>
            </a:r>
            <a:endParaRPr lang="en-US" sz="1300" dirty="0"/>
          </a:p>
        </p:txBody>
      </p:sp>
      <p:sp>
        <p:nvSpPr>
          <p:cNvPr id="12" name="Shape 9"/>
          <p:cNvSpPr/>
          <p:nvPr/>
        </p:nvSpPr>
        <p:spPr>
          <a:xfrm>
            <a:off x="6940296" y="1810512"/>
            <a:ext cx="4636008" cy="658368"/>
          </a:xfrm>
          <a:prstGeom prst="roundRect">
            <a:avLst>
              <a:gd name="adj" fmla="val 13889"/>
            </a:avLst>
          </a:prstGeom>
          <a:solidFill>
            <a:srgbClr val="DCE5F8"/>
          </a:solidFill>
          <a:ln w="9525">
            <a:solidFill>
              <a:srgbClr val="DCE5F8"/>
            </a:solidFill>
            <a:prstDash val="solid"/>
          </a:ln>
        </p:spPr>
      </p:sp>
      <p:sp>
        <p:nvSpPr>
          <p:cNvPr id="13" name="Text 10"/>
          <p:cNvSpPr txBox="1"/>
          <p:nvPr/>
        </p:nvSpPr>
        <p:spPr>
          <a:xfrm>
            <a:off x="7031736" y="1810512"/>
            <a:ext cx="4453128" cy="658368"/>
          </a:xfrm>
          <a:prstGeom prst="rect">
            <a:avLst/>
          </a:prstGeom>
          <a:noFill/>
          <a:ln/>
        </p:spPr>
        <p:txBody>
          <a:bodyPr wrap="square" lIns="0" tIns="0" rIns="0" bIns="0" rtlCol="0" anchor="ctr"/>
          <a:lstStyle/>
          <a:p>
            <a:pPr indent="0" marL="0">
              <a:buNone/>
            </a:pPr>
            <a:r>
              <a:rPr lang="en-US" sz="1300" b="1" dirty="0">
                <a:solidFill>
                  <a:schemeClr val="tx1"/>
                </a:solidFill>
              </a:rPr>
              <a:t>C02 Onboarding Boost</a:t>
            </a:r>
            <a:endParaRPr lang="en-US" sz="1300" dirty="0"/>
          </a:p>
          <a:p>
            <a:pPr indent="0" marL="0">
              <a:buNone/>
            </a:pPr>
            <a:r>
              <a:rPr lang="en-US" sz="1300" dirty="0">
                <a:solidFill>
                  <a:schemeClr val="tx1"/>
                </a:solidFill>
              </a:rPr>
              <a:t>NORMAL · 60–149 days</a:t>
            </a:r>
            <a:endParaRPr lang="en-US" sz="1300" dirty="0"/>
          </a:p>
        </p:txBody>
      </p:sp>
      <p:sp>
        <p:nvSpPr>
          <p:cNvPr id="14" name="Text 11"/>
          <p:cNvSpPr txBox="1"/>
          <p:nvPr/>
        </p:nvSpPr>
        <p:spPr>
          <a:xfrm>
            <a:off x="548640" y="2615184"/>
            <a:ext cx="1645920" cy="658368"/>
          </a:xfrm>
          <a:prstGeom prst="rect">
            <a:avLst/>
          </a:prstGeom>
          <a:noFill/>
          <a:ln/>
        </p:spPr>
        <p:txBody>
          <a:bodyPr wrap="square" lIns="0" tIns="0" rIns="0" bIns="0" rtlCol="0" anchor="ctr"/>
          <a:lstStyle/>
          <a:p>
            <a:pPr indent="0" marL="0">
              <a:buNone/>
            </a:pPr>
            <a:r>
              <a:rPr lang="en-US" sz="1300" b="1" dirty="0">
                <a:solidFill>
                  <a:schemeClr val="tx1"/>
                </a:solidFill>
              </a:rPr>
              <a:t>Champion</a:t>
            </a:r>
            <a:endParaRPr lang="en-US" sz="1300" dirty="0"/>
          </a:p>
          <a:p>
            <a:pPr indent="0" marL="0">
              <a:buNone/>
            </a:pPr>
            <a:r>
              <a:rPr lang="en-US" sz="1300" dirty="0">
                <a:solidFill>
                  <a:schemeClr val="tx1"/>
                </a:solidFill>
              </a:rPr>
              <a:t>6+ renewals</a:t>
            </a:r>
            <a:endParaRPr lang="en-US" sz="1300" dirty="0"/>
          </a:p>
        </p:txBody>
      </p:sp>
      <p:sp>
        <p:nvSpPr>
          <p:cNvPr id="15" name="Shape 12"/>
          <p:cNvSpPr/>
          <p:nvPr/>
        </p:nvSpPr>
        <p:spPr>
          <a:xfrm>
            <a:off x="2240280" y="2615184"/>
            <a:ext cx="1110996" cy="658368"/>
          </a:xfrm>
          <a:prstGeom prst="roundRect">
            <a:avLst>
              <a:gd name="adj" fmla="val 13889"/>
            </a:avLst>
          </a:prstGeom>
          <a:solidFill>
            <a:srgbClr val="DCE5F8"/>
          </a:solidFill>
          <a:ln w="9525">
            <a:solidFill>
              <a:srgbClr val="DCE5F8"/>
            </a:solidFill>
            <a:prstDash val="solid"/>
          </a:ln>
        </p:spPr>
      </p:sp>
      <p:sp>
        <p:nvSpPr>
          <p:cNvPr id="16" name="Text 13"/>
          <p:cNvSpPr txBox="1"/>
          <p:nvPr/>
        </p:nvSpPr>
        <p:spPr>
          <a:xfrm>
            <a:off x="2331720" y="2615184"/>
            <a:ext cx="928116" cy="658368"/>
          </a:xfrm>
          <a:prstGeom prst="rect">
            <a:avLst/>
          </a:prstGeom>
          <a:noFill/>
          <a:ln/>
        </p:spPr>
        <p:txBody>
          <a:bodyPr wrap="square" lIns="0" tIns="0" rIns="0" bIns="0" rtlCol="0" anchor="ctr"/>
          <a:lstStyle/>
          <a:p>
            <a:pPr indent="0" marL="0">
              <a:buNone/>
            </a:pPr>
            <a:r>
              <a:rPr lang="en-US" sz="1300" b="1" dirty="0">
                <a:solidFill>
                  <a:schemeClr val="tx1"/>
                </a:solidFill>
              </a:rPr>
              <a:t>C03 Upsell</a:t>
            </a:r>
            <a:endParaRPr lang="en-US" sz="1300" dirty="0"/>
          </a:p>
          <a:p>
            <a:pPr indent="0" marL="0">
              <a:buNone/>
            </a:pPr>
            <a:r>
              <a:rPr lang="en-US" sz="1300" dirty="0">
                <a:solidFill>
                  <a:schemeClr val="tx1"/>
                </a:solidFill>
              </a:rPr>
              <a:t>NORMAL</a:t>
            </a:r>
            <a:endParaRPr lang="en-US" sz="1300" dirty="0"/>
          </a:p>
        </p:txBody>
      </p:sp>
      <p:sp>
        <p:nvSpPr>
          <p:cNvPr id="17" name="Shape 14"/>
          <p:cNvSpPr/>
          <p:nvPr/>
        </p:nvSpPr>
        <p:spPr>
          <a:xfrm>
            <a:off x="3415284" y="2615184"/>
            <a:ext cx="1110996" cy="658368"/>
          </a:xfrm>
          <a:prstGeom prst="roundRect">
            <a:avLst>
              <a:gd name="adj" fmla="val 13889"/>
            </a:avLst>
          </a:prstGeom>
          <a:solidFill>
            <a:srgbClr val="F7D9C4"/>
          </a:solidFill>
          <a:ln w="9525">
            <a:solidFill>
              <a:srgbClr val="F7D9C4"/>
            </a:solidFill>
            <a:prstDash val="solid"/>
          </a:ln>
        </p:spPr>
      </p:sp>
      <p:sp>
        <p:nvSpPr>
          <p:cNvPr id="18" name="Text 15"/>
          <p:cNvSpPr txBox="1"/>
          <p:nvPr/>
        </p:nvSpPr>
        <p:spPr>
          <a:xfrm>
            <a:off x="3506724" y="2615184"/>
            <a:ext cx="928116" cy="658368"/>
          </a:xfrm>
          <a:prstGeom prst="rect">
            <a:avLst/>
          </a:prstGeom>
          <a:noFill/>
          <a:ln/>
        </p:spPr>
        <p:txBody>
          <a:bodyPr wrap="square" lIns="0" tIns="0" rIns="0" bIns="0" rtlCol="0" anchor="ctr"/>
          <a:lstStyle/>
          <a:p>
            <a:pPr indent="0" marL="0">
              <a:buNone/>
            </a:pPr>
            <a:r>
              <a:rPr lang="en-US" sz="1300" b="1" dirty="0">
                <a:solidFill>
                  <a:schemeClr val="tx1"/>
                </a:solidFill>
              </a:rPr>
              <a:t>C04 Protect</a:t>
            </a:r>
            <a:endParaRPr lang="en-US" sz="1300" dirty="0"/>
          </a:p>
          <a:p>
            <a:pPr indent="0" marL="0">
              <a:buNone/>
            </a:pPr>
            <a:r>
              <a:rPr lang="en-US" sz="1300" dirty="0">
                <a:solidFill>
                  <a:schemeClr val="tx1"/>
                </a:solidFill>
              </a:rPr>
              <a:t>AGGRESSIVE</a:t>
            </a:r>
            <a:endParaRPr lang="en-US" sz="1300" dirty="0"/>
          </a:p>
        </p:txBody>
      </p:sp>
      <p:sp>
        <p:nvSpPr>
          <p:cNvPr id="19" name="Shape 16"/>
          <p:cNvSpPr/>
          <p:nvPr/>
        </p:nvSpPr>
        <p:spPr>
          <a:xfrm>
            <a:off x="4590288" y="2615184"/>
            <a:ext cx="2286000" cy="658368"/>
          </a:xfrm>
          <a:prstGeom prst="roundRect">
            <a:avLst>
              <a:gd name="adj" fmla="val 13889"/>
            </a:avLst>
          </a:prstGeom>
          <a:solidFill>
            <a:srgbClr val="DCE5F8"/>
          </a:solidFill>
          <a:ln w="9525">
            <a:solidFill>
              <a:srgbClr val="DCE5F8"/>
            </a:solidFill>
            <a:prstDash val="solid"/>
          </a:ln>
        </p:spPr>
      </p:sp>
      <p:sp>
        <p:nvSpPr>
          <p:cNvPr id="20" name="Text 17"/>
          <p:cNvSpPr txBox="1"/>
          <p:nvPr/>
        </p:nvSpPr>
        <p:spPr>
          <a:xfrm>
            <a:off x="4681728" y="2615184"/>
            <a:ext cx="2103120" cy="658368"/>
          </a:xfrm>
          <a:prstGeom prst="rect">
            <a:avLst/>
          </a:prstGeom>
          <a:noFill/>
          <a:ln/>
        </p:spPr>
        <p:txBody>
          <a:bodyPr wrap="square" lIns="0" tIns="0" rIns="0" bIns="0" rtlCol="0" anchor="ctr"/>
          <a:lstStyle/>
          <a:p>
            <a:pPr indent="0" marL="0">
              <a:buNone/>
            </a:pPr>
            <a:r>
              <a:rPr lang="en-US" sz="1300" b="1" dirty="0">
                <a:solidFill>
                  <a:schemeClr val="tx1"/>
                </a:solidFill>
              </a:rPr>
              <a:t>C05 Champion Nudge</a:t>
            </a:r>
            <a:endParaRPr lang="en-US" sz="1300" dirty="0"/>
          </a:p>
          <a:p>
            <a:pPr indent="0" marL="0">
              <a:buNone/>
            </a:pPr>
            <a:r>
              <a:rPr lang="en-US" sz="1300" dirty="0">
                <a:solidFill>
                  <a:schemeClr val="tx1"/>
                </a:solidFill>
              </a:rPr>
              <a:t>NORMAL</a:t>
            </a:r>
            <a:endParaRPr lang="en-US" sz="1300" dirty="0"/>
          </a:p>
        </p:txBody>
      </p:sp>
      <p:sp>
        <p:nvSpPr>
          <p:cNvPr id="21" name="Shape 18"/>
          <p:cNvSpPr/>
          <p:nvPr/>
        </p:nvSpPr>
        <p:spPr>
          <a:xfrm>
            <a:off x="6940296" y="2615184"/>
            <a:ext cx="4636008" cy="658368"/>
          </a:xfrm>
          <a:prstGeom prst="roundRect">
            <a:avLst>
              <a:gd name="adj" fmla="val 13889"/>
            </a:avLst>
          </a:prstGeom>
          <a:solidFill>
            <a:srgbClr val="F7D9C4"/>
          </a:solidFill>
          <a:ln w="9525">
            <a:solidFill>
              <a:srgbClr val="F7D9C4"/>
            </a:solidFill>
            <a:prstDash val="solid"/>
          </a:ln>
        </p:spPr>
      </p:sp>
      <p:sp>
        <p:nvSpPr>
          <p:cNvPr id="22" name="Text 19"/>
          <p:cNvSpPr txBox="1"/>
          <p:nvPr/>
        </p:nvSpPr>
        <p:spPr>
          <a:xfrm>
            <a:off x="7031736" y="2615184"/>
            <a:ext cx="4453128" cy="658368"/>
          </a:xfrm>
          <a:prstGeom prst="rect">
            <a:avLst/>
          </a:prstGeom>
          <a:noFill/>
          <a:ln/>
        </p:spPr>
        <p:txBody>
          <a:bodyPr wrap="square" lIns="0" tIns="0" rIns="0" bIns="0" rtlCol="0" anchor="ctr"/>
          <a:lstStyle/>
          <a:p>
            <a:pPr indent="0" marL="0">
              <a:buNone/>
            </a:pPr>
            <a:r>
              <a:rPr lang="en-US" sz="1300" b="1" dirty="0">
                <a:solidFill>
                  <a:schemeClr val="tx1"/>
                </a:solidFill>
              </a:rPr>
              <a:t>C06 Champion Recovery</a:t>
            </a:r>
            <a:endParaRPr lang="en-US" sz="1300" dirty="0"/>
          </a:p>
          <a:p>
            <a:pPr indent="0" marL="0">
              <a:buNone/>
            </a:pPr>
            <a:r>
              <a:rPr lang="en-US" sz="1300" dirty="0">
                <a:solidFill>
                  <a:schemeClr val="tx1"/>
                </a:solidFill>
              </a:rPr>
              <a:t>AGGRESSIVE</a:t>
            </a:r>
            <a:endParaRPr lang="en-US" sz="1300" dirty="0"/>
          </a:p>
        </p:txBody>
      </p:sp>
      <p:sp>
        <p:nvSpPr>
          <p:cNvPr id="23" name="Text 20"/>
          <p:cNvSpPr txBox="1"/>
          <p:nvPr/>
        </p:nvSpPr>
        <p:spPr>
          <a:xfrm>
            <a:off x="548640" y="3337560"/>
            <a:ext cx="1645920" cy="658368"/>
          </a:xfrm>
          <a:prstGeom prst="rect">
            <a:avLst/>
          </a:prstGeom>
          <a:noFill/>
          <a:ln/>
        </p:spPr>
        <p:txBody>
          <a:bodyPr wrap="square" lIns="0" tIns="0" rIns="0" bIns="0" rtlCol="0" anchor="ctr"/>
          <a:lstStyle/>
          <a:p>
            <a:pPr indent="0" marL="0">
              <a:buNone/>
            </a:pPr>
            <a:r>
              <a:rPr lang="en-US" sz="1300" b="1" dirty="0">
                <a:solidFill>
                  <a:schemeClr val="tx1"/>
                </a:solidFill>
              </a:rPr>
              <a:t>Regular</a:t>
            </a:r>
            <a:endParaRPr lang="en-US" sz="1300" dirty="0"/>
          </a:p>
          <a:p>
            <a:pPr indent="0" marL="0">
              <a:buNone/>
            </a:pPr>
            <a:r>
              <a:rPr lang="en-US" sz="1300" dirty="0">
                <a:solidFill>
                  <a:schemeClr val="tx1"/>
                </a:solidFill>
              </a:rPr>
              <a:t>4–5 renewals</a:t>
            </a:r>
            <a:endParaRPr lang="en-US" sz="1300" dirty="0"/>
          </a:p>
        </p:txBody>
      </p:sp>
      <p:sp>
        <p:nvSpPr>
          <p:cNvPr id="24" name="Shape 21"/>
          <p:cNvSpPr/>
          <p:nvPr/>
        </p:nvSpPr>
        <p:spPr>
          <a:xfrm>
            <a:off x="2240280" y="3337560"/>
            <a:ext cx="2286000" cy="658368"/>
          </a:xfrm>
          <a:prstGeom prst="roundRect">
            <a:avLst>
              <a:gd name="adj" fmla="val 13889"/>
            </a:avLst>
          </a:prstGeom>
          <a:solidFill>
            <a:srgbClr val="DCE5F8"/>
          </a:solidFill>
          <a:ln w="9525">
            <a:solidFill>
              <a:srgbClr val="DCE5F8"/>
            </a:solidFill>
            <a:prstDash val="solid"/>
          </a:ln>
        </p:spPr>
      </p:sp>
      <p:sp>
        <p:nvSpPr>
          <p:cNvPr id="25" name="Text 22"/>
          <p:cNvSpPr txBox="1"/>
          <p:nvPr/>
        </p:nvSpPr>
        <p:spPr>
          <a:xfrm>
            <a:off x="2331720" y="3337560"/>
            <a:ext cx="2103120" cy="658368"/>
          </a:xfrm>
          <a:prstGeom prst="rect">
            <a:avLst/>
          </a:prstGeom>
          <a:noFill/>
          <a:ln/>
        </p:spPr>
        <p:txBody>
          <a:bodyPr wrap="square" lIns="0" tIns="0" rIns="0" bIns="0" rtlCol="0" anchor="ctr"/>
          <a:lstStyle/>
          <a:p>
            <a:pPr indent="0" marL="0">
              <a:buNone/>
            </a:pPr>
            <a:r>
              <a:rPr lang="en-US" sz="1300" b="1" dirty="0">
                <a:solidFill>
                  <a:schemeClr val="tx1"/>
                </a:solidFill>
              </a:rPr>
              <a:t>C07 Regular Grow</a:t>
            </a:r>
            <a:endParaRPr lang="en-US" sz="1300" dirty="0"/>
          </a:p>
          <a:p>
            <a:pPr indent="0" marL="0">
              <a:buNone/>
            </a:pPr>
            <a:r>
              <a:rPr lang="en-US" sz="1300" dirty="0">
                <a:solidFill>
                  <a:schemeClr val="tx1"/>
                </a:solidFill>
              </a:rPr>
              <a:t>NORMAL</a:t>
            </a:r>
            <a:endParaRPr lang="en-US" sz="1300" dirty="0"/>
          </a:p>
        </p:txBody>
      </p:sp>
      <p:sp>
        <p:nvSpPr>
          <p:cNvPr id="26" name="Shape 23"/>
          <p:cNvSpPr/>
          <p:nvPr/>
        </p:nvSpPr>
        <p:spPr>
          <a:xfrm>
            <a:off x="4590288" y="3337560"/>
            <a:ext cx="2286000" cy="658368"/>
          </a:xfrm>
          <a:prstGeom prst="roundRect">
            <a:avLst>
              <a:gd name="adj" fmla="val 13889"/>
            </a:avLst>
          </a:prstGeom>
          <a:solidFill>
            <a:srgbClr val="F7D9C4"/>
          </a:solidFill>
          <a:ln w="9525">
            <a:solidFill>
              <a:srgbClr val="F7D9C4"/>
            </a:solidFill>
            <a:prstDash val="solid"/>
          </a:ln>
        </p:spPr>
      </p:sp>
      <p:sp>
        <p:nvSpPr>
          <p:cNvPr id="27" name="Text 24"/>
          <p:cNvSpPr txBox="1"/>
          <p:nvPr/>
        </p:nvSpPr>
        <p:spPr>
          <a:xfrm>
            <a:off x="4681728" y="3337560"/>
            <a:ext cx="2103120" cy="658368"/>
          </a:xfrm>
          <a:prstGeom prst="rect">
            <a:avLst/>
          </a:prstGeom>
          <a:noFill/>
          <a:ln/>
        </p:spPr>
        <p:txBody>
          <a:bodyPr wrap="square" lIns="0" tIns="0" rIns="0" bIns="0" rtlCol="0" anchor="ctr"/>
          <a:lstStyle/>
          <a:p>
            <a:pPr indent="0" marL="0">
              <a:buNone/>
            </a:pPr>
            <a:r>
              <a:rPr lang="en-US" sz="1300" b="1" dirty="0">
                <a:solidFill>
                  <a:schemeClr val="tx1"/>
                </a:solidFill>
              </a:rPr>
              <a:t>C08 Regular Nudge</a:t>
            </a:r>
            <a:endParaRPr lang="en-US" sz="1300" dirty="0"/>
          </a:p>
          <a:p>
            <a:pPr indent="0" marL="0">
              <a:buNone/>
            </a:pPr>
            <a:r>
              <a:rPr lang="en-US" sz="1300" dirty="0">
                <a:solidFill>
                  <a:schemeClr val="tx1"/>
                </a:solidFill>
              </a:rPr>
              <a:t>AGGRESSIVE</a:t>
            </a:r>
            <a:endParaRPr lang="en-US" sz="1300" dirty="0"/>
          </a:p>
        </p:txBody>
      </p:sp>
      <p:sp>
        <p:nvSpPr>
          <p:cNvPr id="28" name="Shape 25"/>
          <p:cNvSpPr/>
          <p:nvPr/>
        </p:nvSpPr>
        <p:spPr>
          <a:xfrm>
            <a:off x="6940296" y="3337560"/>
            <a:ext cx="2286000" cy="658368"/>
          </a:xfrm>
          <a:prstGeom prst="roundRect">
            <a:avLst>
              <a:gd name="adj" fmla="val 13889"/>
            </a:avLst>
          </a:prstGeom>
          <a:solidFill>
            <a:srgbClr val="F7D9C4"/>
          </a:solidFill>
          <a:ln w="9525">
            <a:solidFill>
              <a:srgbClr val="F7D9C4"/>
            </a:solidFill>
            <a:prstDash val="solid"/>
          </a:ln>
        </p:spPr>
      </p:sp>
      <p:sp>
        <p:nvSpPr>
          <p:cNvPr id="29" name="Text 26"/>
          <p:cNvSpPr txBox="1"/>
          <p:nvPr/>
        </p:nvSpPr>
        <p:spPr>
          <a:xfrm>
            <a:off x="7031736" y="3337560"/>
            <a:ext cx="2103120" cy="658368"/>
          </a:xfrm>
          <a:prstGeom prst="rect">
            <a:avLst/>
          </a:prstGeom>
          <a:noFill/>
          <a:ln/>
        </p:spPr>
        <p:txBody>
          <a:bodyPr wrap="square" lIns="0" tIns="0" rIns="0" bIns="0" rtlCol="0" anchor="ctr"/>
          <a:lstStyle/>
          <a:p>
            <a:pPr indent="0" marL="0">
              <a:buNone/>
            </a:pPr>
            <a:r>
              <a:rPr lang="en-US" sz="1300" b="1" dirty="0">
                <a:solidFill>
                  <a:schemeClr val="tx1"/>
                </a:solidFill>
              </a:rPr>
              <a:t>C09 Win-back</a:t>
            </a:r>
            <a:endParaRPr lang="en-US" sz="1300" dirty="0"/>
          </a:p>
          <a:p>
            <a:pPr indent="0" marL="0">
              <a:buNone/>
            </a:pPr>
            <a:r>
              <a:rPr lang="en-US" sz="1300" dirty="0">
                <a:solidFill>
                  <a:schemeClr val="tx1"/>
                </a:solidFill>
              </a:rPr>
              <a:t>AGGRESSIVE · not roaming</a:t>
            </a:r>
            <a:endParaRPr lang="en-US" sz="1300" dirty="0"/>
          </a:p>
        </p:txBody>
      </p:sp>
      <p:sp>
        <p:nvSpPr>
          <p:cNvPr id="30" name="Shape 27"/>
          <p:cNvSpPr/>
          <p:nvPr/>
        </p:nvSpPr>
        <p:spPr>
          <a:xfrm>
            <a:off x="9290304" y="3337560"/>
            <a:ext cx="2286000" cy="658368"/>
          </a:xfrm>
          <a:prstGeom prst="roundRect">
            <a:avLst>
              <a:gd name="adj" fmla="val 13889"/>
            </a:avLst>
          </a:prstGeom>
          <a:solidFill>
            <a:srgbClr val="E4E6EC"/>
          </a:solidFill>
          <a:ln w="9525">
            <a:solidFill>
              <a:srgbClr val="E4E6EC"/>
            </a:solidFill>
            <a:prstDash val="solid"/>
          </a:ln>
        </p:spPr>
      </p:sp>
      <p:sp>
        <p:nvSpPr>
          <p:cNvPr id="31" name="Text 28"/>
          <p:cNvSpPr txBox="1"/>
          <p:nvPr/>
        </p:nvSpPr>
        <p:spPr>
          <a:xfrm>
            <a:off x="9381744" y="3337560"/>
            <a:ext cx="2103120" cy="658368"/>
          </a:xfrm>
          <a:prstGeom prst="rect">
            <a:avLst/>
          </a:prstGeom>
          <a:noFill/>
          <a:ln/>
        </p:spPr>
        <p:txBody>
          <a:bodyPr wrap="square" lIns="0" tIns="0" rIns="0" bIns="0" rtlCol="0" anchor="ctr"/>
          <a:lstStyle/>
          <a:p>
            <a:pPr indent="0" marL="0">
              <a:buNone/>
            </a:pPr>
            <a:r>
              <a:rPr lang="en-US" sz="1300" b="1" dirty="0">
                <a:solidFill>
                  <a:schemeClr val="tx1"/>
                </a:solidFill>
              </a:rPr>
              <a:t>C10 Traveller</a:t>
            </a:r>
            <a:endParaRPr lang="en-US" sz="1300" dirty="0"/>
          </a:p>
          <a:p>
            <a:pPr indent="0" marL="0">
              <a:buNone/>
            </a:pPr>
            <a:r>
              <a:rPr lang="en-US" sz="1300" dirty="0">
                <a:solidFill>
                  <a:schemeClr val="tx1"/>
                </a:solidFill>
              </a:rPr>
              <a:t>NONE · roaming</a:t>
            </a:r>
            <a:endParaRPr lang="en-US" sz="1300" dirty="0"/>
          </a:p>
        </p:txBody>
      </p:sp>
      <p:sp>
        <p:nvSpPr>
          <p:cNvPr id="32" name="Text 29"/>
          <p:cNvSpPr txBox="1"/>
          <p:nvPr/>
        </p:nvSpPr>
        <p:spPr>
          <a:xfrm>
            <a:off x="548640" y="4059936"/>
            <a:ext cx="1645920" cy="658368"/>
          </a:xfrm>
          <a:prstGeom prst="rect">
            <a:avLst/>
          </a:prstGeom>
          <a:noFill/>
          <a:ln/>
        </p:spPr>
        <p:txBody>
          <a:bodyPr wrap="square" lIns="0" tIns="0" rIns="0" bIns="0" rtlCol="0" anchor="ctr"/>
          <a:lstStyle/>
          <a:p>
            <a:pPr indent="0" marL="0">
              <a:buNone/>
            </a:pPr>
            <a:r>
              <a:rPr lang="en-US" sz="1300" b="1" dirty="0">
                <a:solidFill>
                  <a:schemeClr val="tx1"/>
                </a:solidFill>
              </a:rPr>
              <a:t>Occasional</a:t>
            </a:r>
            <a:endParaRPr lang="en-US" sz="1300" dirty="0"/>
          </a:p>
          <a:p>
            <a:pPr indent="0" marL="0">
              <a:buNone/>
            </a:pPr>
            <a:r>
              <a:rPr lang="en-US" sz="1300" dirty="0">
                <a:solidFill>
                  <a:schemeClr val="tx1"/>
                </a:solidFill>
              </a:rPr>
              <a:t>1–3 renewals</a:t>
            </a:r>
            <a:endParaRPr lang="en-US" sz="1300" dirty="0"/>
          </a:p>
        </p:txBody>
      </p:sp>
      <p:sp>
        <p:nvSpPr>
          <p:cNvPr id="33" name="Shape 30"/>
          <p:cNvSpPr/>
          <p:nvPr/>
        </p:nvSpPr>
        <p:spPr>
          <a:xfrm>
            <a:off x="2240280" y="4059936"/>
            <a:ext cx="4636008" cy="658368"/>
          </a:xfrm>
          <a:prstGeom prst="roundRect">
            <a:avLst>
              <a:gd name="adj" fmla="val 13889"/>
            </a:avLst>
          </a:prstGeom>
          <a:solidFill>
            <a:srgbClr val="DCE5F8"/>
          </a:solidFill>
          <a:ln w="9525">
            <a:solidFill>
              <a:srgbClr val="DCE5F8"/>
            </a:solidFill>
            <a:prstDash val="solid"/>
          </a:ln>
        </p:spPr>
      </p:sp>
      <p:sp>
        <p:nvSpPr>
          <p:cNvPr id="34" name="Text 31"/>
          <p:cNvSpPr txBox="1"/>
          <p:nvPr/>
        </p:nvSpPr>
        <p:spPr>
          <a:xfrm>
            <a:off x="2331720" y="4059936"/>
            <a:ext cx="4453128" cy="658368"/>
          </a:xfrm>
          <a:prstGeom prst="rect">
            <a:avLst/>
          </a:prstGeom>
          <a:noFill/>
          <a:ln/>
        </p:spPr>
        <p:txBody>
          <a:bodyPr wrap="square" lIns="0" tIns="0" rIns="0" bIns="0" rtlCol="0" anchor="ctr"/>
          <a:lstStyle/>
          <a:p>
            <a:pPr indent="0" marL="0">
              <a:buNone/>
            </a:pPr>
            <a:r>
              <a:rPr lang="en-US" sz="1300" b="1" dirty="0">
                <a:solidFill>
                  <a:schemeClr val="tx1"/>
                </a:solidFill>
              </a:rPr>
              <a:t>C11 Occasional Activate</a:t>
            </a:r>
            <a:endParaRPr lang="en-US" sz="1300" dirty="0"/>
          </a:p>
          <a:p>
            <a:pPr indent="0" marL="0">
              <a:buNone/>
            </a:pPr>
            <a:r>
              <a:rPr lang="en-US" sz="1300" dirty="0">
                <a:solidFill>
                  <a:schemeClr val="tx1"/>
                </a:solidFill>
              </a:rPr>
              <a:t>NORMAL</a:t>
            </a:r>
            <a:endParaRPr lang="en-US" sz="1300" dirty="0"/>
          </a:p>
        </p:txBody>
      </p:sp>
      <p:sp>
        <p:nvSpPr>
          <p:cNvPr id="35" name="Shape 32"/>
          <p:cNvSpPr/>
          <p:nvPr/>
        </p:nvSpPr>
        <p:spPr>
          <a:xfrm>
            <a:off x="6940296" y="4059936"/>
            <a:ext cx="4636008" cy="658368"/>
          </a:xfrm>
          <a:prstGeom prst="roundRect">
            <a:avLst>
              <a:gd name="adj" fmla="val 13889"/>
            </a:avLst>
          </a:prstGeom>
          <a:solidFill>
            <a:srgbClr val="E8833A"/>
          </a:solidFill>
          <a:ln w="9525">
            <a:solidFill>
              <a:srgbClr val="E8833A"/>
            </a:solidFill>
            <a:prstDash val="solid"/>
          </a:ln>
        </p:spPr>
      </p:sp>
      <p:sp>
        <p:nvSpPr>
          <p:cNvPr id="36" name="Text 33"/>
          <p:cNvSpPr txBox="1"/>
          <p:nvPr/>
        </p:nvSpPr>
        <p:spPr>
          <a:xfrm>
            <a:off x="7031736" y="4059936"/>
            <a:ext cx="4453128" cy="658368"/>
          </a:xfrm>
          <a:prstGeom prst="rect">
            <a:avLst/>
          </a:prstGeom>
          <a:noFill/>
          <a:ln/>
        </p:spPr>
        <p:txBody>
          <a:bodyPr wrap="square" lIns="0" tIns="0" rIns="0" bIns="0" rtlCol="0" anchor="ctr"/>
          <a:lstStyle/>
          <a:p>
            <a:pPr indent="0" marL="0">
              <a:buNone/>
            </a:pPr>
            <a:r>
              <a:rPr lang="en-US" sz="1300" b="1" dirty="0">
                <a:solidFill>
                  <a:schemeClr val="tx1"/>
                </a:solidFill>
              </a:rPr>
              <a:t>C12 Occasional Win-back</a:t>
            </a:r>
            <a:endParaRPr lang="en-US" sz="1300" dirty="0"/>
          </a:p>
          <a:p>
            <a:pPr indent="0" marL="0">
              <a:buNone/>
            </a:pPr>
            <a:r>
              <a:rPr lang="en-US" sz="1300" dirty="0">
                <a:solidFill>
                  <a:schemeClr val="tx1"/>
                </a:solidFill>
              </a:rPr>
              <a:t>VERY_AGGRESSIVE</a:t>
            </a:r>
            <a:endParaRPr lang="en-US" sz="1300" dirty="0"/>
          </a:p>
        </p:txBody>
      </p:sp>
      <p:sp>
        <p:nvSpPr>
          <p:cNvPr id="37" name="Text 34"/>
          <p:cNvSpPr txBox="1"/>
          <p:nvPr/>
        </p:nvSpPr>
        <p:spPr>
          <a:xfrm>
            <a:off x="548640" y="4782312"/>
            <a:ext cx="1645920" cy="658368"/>
          </a:xfrm>
          <a:prstGeom prst="rect">
            <a:avLst/>
          </a:prstGeom>
          <a:noFill/>
          <a:ln/>
        </p:spPr>
        <p:txBody>
          <a:bodyPr wrap="square" lIns="0" tIns="0" rIns="0" bIns="0" rtlCol="0" anchor="ctr"/>
          <a:lstStyle/>
          <a:p>
            <a:pPr indent="0" marL="0">
              <a:buNone/>
            </a:pPr>
            <a:r>
              <a:rPr lang="en-US" sz="1300" b="1" dirty="0">
                <a:solidFill>
                  <a:schemeClr val="tx1"/>
                </a:solidFill>
              </a:rPr>
              <a:t>Silent</a:t>
            </a:r>
            <a:endParaRPr lang="en-US" sz="1300" dirty="0"/>
          </a:p>
          <a:p>
            <a:pPr indent="0" marL="0">
              <a:buNone/>
            </a:pPr>
            <a:r>
              <a:rPr lang="en-US" sz="1300" dirty="0">
                <a:solidFill>
                  <a:schemeClr val="tx1"/>
                </a:solidFill>
              </a:rPr>
              <a:t>0 renewals</a:t>
            </a:r>
            <a:endParaRPr lang="en-US" sz="1300" dirty="0"/>
          </a:p>
        </p:txBody>
      </p:sp>
      <p:sp>
        <p:nvSpPr>
          <p:cNvPr id="38" name="Shape 35"/>
          <p:cNvSpPr/>
          <p:nvPr/>
        </p:nvSpPr>
        <p:spPr>
          <a:xfrm>
            <a:off x="2240280" y="4782312"/>
            <a:ext cx="4636008" cy="658368"/>
          </a:xfrm>
          <a:prstGeom prst="roundRect">
            <a:avLst>
              <a:gd name="adj" fmla="val 13889"/>
            </a:avLst>
          </a:prstGeom>
          <a:solidFill>
            <a:srgbClr val="F7D9C4"/>
          </a:solidFill>
          <a:ln w="9525">
            <a:solidFill>
              <a:srgbClr val="F7D9C4"/>
            </a:solidFill>
            <a:prstDash val="solid"/>
          </a:ln>
        </p:spPr>
      </p:sp>
      <p:sp>
        <p:nvSpPr>
          <p:cNvPr id="39" name="Text 36"/>
          <p:cNvSpPr txBox="1"/>
          <p:nvPr/>
        </p:nvSpPr>
        <p:spPr>
          <a:xfrm>
            <a:off x="2331720" y="4782312"/>
            <a:ext cx="4453128" cy="658368"/>
          </a:xfrm>
          <a:prstGeom prst="rect">
            <a:avLst/>
          </a:prstGeom>
          <a:noFill/>
          <a:ln/>
        </p:spPr>
        <p:txBody>
          <a:bodyPr wrap="square" lIns="0" tIns="0" rIns="0" bIns="0" rtlCol="0" anchor="ctr"/>
          <a:lstStyle/>
          <a:p>
            <a:pPr indent="0" marL="0">
              <a:buNone/>
            </a:pPr>
            <a:r>
              <a:rPr lang="en-US" sz="1300" b="1" dirty="0">
                <a:solidFill>
                  <a:schemeClr val="tx1"/>
                </a:solidFill>
              </a:rPr>
              <a:t>C13 Silent Reactivate</a:t>
            </a:r>
            <a:endParaRPr lang="en-US" sz="1300" dirty="0"/>
          </a:p>
          <a:p>
            <a:pPr indent="0" marL="0">
              <a:buNone/>
            </a:pPr>
            <a:r>
              <a:rPr lang="en-US" sz="1300" dirty="0">
                <a:solidFill>
                  <a:schemeClr val="tx1"/>
                </a:solidFill>
              </a:rPr>
              <a:t>AGGRESSIVE</a:t>
            </a:r>
            <a:endParaRPr lang="en-US" sz="1300" dirty="0"/>
          </a:p>
        </p:txBody>
      </p:sp>
      <p:sp>
        <p:nvSpPr>
          <p:cNvPr id="40" name="Shape 37"/>
          <p:cNvSpPr/>
          <p:nvPr/>
        </p:nvSpPr>
        <p:spPr>
          <a:xfrm>
            <a:off x="6940296" y="4782312"/>
            <a:ext cx="4636008" cy="658368"/>
          </a:xfrm>
          <a:prstGeom prst="roundRect">
            <a:avLst>
              <a:gd name="adj" fmla="val 13889"/>
            </a:avLst>
          </a:prstGeom>
          <a:solidFill>
            <a:srgbClr val="E8833A"/>
          </a:solidFill>
          <a:ln w="9525">
            <a:solidFill>
              <a:srgbClr val="E8833A"/>
            </a:solidFill>
            <a:prstDash val="solid"/>
          </a:ln>
        </p:spPr>
      </p:sp>
      <p:sp>
        <p:nvSpPr>
          <p:cNvPr id="41" name="Text 38"/>
          <p:cNvSpPr txBox="1"/>
          <p:nvPr/>
        </p:nvSpPr>
        <p:spPr>
          <a:xfrm>
            <a:off x="7031736" y="4782312"/>
            <a:ext cx="4453128" cy="658368"/>
          </a:xfrm>
          <a:prstGeom prst="rect">
            <a:avLst/>
          </a:prstGeom>
          <a:noFill/>
          <a:ln/>
        </p:spPr>
        <p:txBody>
          <a:bodyPr wrap="square" lIns="0" tIns="0" rIns="0" bIns="0" rtlCol="0" anchor="ctr"/>
          <a:lstStyle/>
          <a:p>
            <a:pPr indent="0" marL="0">
              <a:buNone/>
            </a:pPr>
            <a:r>
              <a:rPr lang="en-US" sz="1300" b="1" dirty="0">
                <a:solidFill>
                  <a:schemeClr val="tx1"/>
                </a:solidFill>
              </a:rPr>
              <a:t>C14 Silent Last Call</a:t>
            </a:r>
            <a:endParaRPr lang="en-US" sz="1300" dirty="0"/>
          </a:p>
          <a:p>
            <a:pPr indent="0" marL="0">
              <a:buNone/>
            </a:pPr>
            <a:r>
              <a:rPr lang="en-US" sz="1300" dirty="0">
                <a:solidFill>
                  <a:schemeClr val="tx1"/>
                </a:solidFill>
              </a:rPr>
              <a:t>VERY_AGGRESSIVE</a:t>
            </a:r>
            <a:endParaRPr lang="en-US" sz="1300" dirty="0"/>
          </a:p>
        </p:txBody>
      </p:sp>
      <p:sp>
        <p:nvSpPr>
          <p:cNvPr id="42" name="Text 39"/>
          <p:cNvSpPr txBox="1"/>
          <p:nvPr/>
        </p:nvSpPr>
        <p:spPr>
          <a:xfrm>
            <a:off x="548640" y="5760720"/>
            <a:ext cx="11064240" cy="502920"/>
          </a:xfrm>
          <a:prstGeom prst="rect">
            <a:avLst/>
          </a:prstGeom>
          <a:noFill/>
          <a:ln/>
        </p:spPr>
        <p:txBody>
          <a:bodyPr wrap="square" lIns="0" tIns="0" rIns="0" bIns="0" rtlCol="0" anchor="t"/>
          <a:lstStyle/>
          <a:p>
            <a:pPr indent="0" marL="0">
              <a:buNone/>
            </a:pPr>
            <a:r>
              <a:rPr lang="en-US" sz="1300" i="1" dirty="0">
                <a:solidFill>
                  <a:schemeClr val="accent6"/>
                </a:solidFill>
              </a:rPr>
              <a:t>C03 / C04: active Champions split by risk (healthy → upsell, at risk → protect). C09 / C10: lapsed Regulars split by roaming. Fictional grid: no gaps, no overlaps.</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LEVEL 1 · ONE SUBSCRIBER, STEP BY STEP</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How SUB000001 gets their Next Best Offer</a:t>
            </a:r>
            <a:endParaRPr lang="en-US" sz="3000" dirty="0"/>
          </a:p>
        </p:txBody>
      </p:sp>
      <p:sp>
        <p:nvSpPr>
          <p:cNvPr id="5" name="Shape 2"/>
          <p:cNvSpPr/>
          <p:nvPr/>
        </p:nvSpPr>
        <p:spPr>
          <a:xfrm>
            <a:off x="548640" y="1645920"/>
            <a:ext cx="3749040" cy="3977640"/>
          </a:xfrm>
          <a:prstGeom prst="roundRect">
            <a:avLst>
              <a:gd name="adj" fmla="val 2439"/>
            </a:avLst>
          </a:prstGeom>
          <a:solidFill>
            <a:schemeClr val="tx1"/>
          </a:solidFill>
          <a:ln w="9525">
            <a:solidFill>
              <a:schemeClr val="tx1"/>
            </a:solidFill>
            <a:prstDash val="solid"/>
          </a:ln>
        </p:spPr>
      </p:sp>
      <p:sp>
        <p:nvSpPr>
          <p:cNvPr id="6" name="Text 3"/>
          <p:cNvSpPr txBox="1"/>
          <p:nvPr/>
        </p:nvSpPr>
        <p:spPr>
          <a:xfrm>
            <a:off x="868680" y="1828800"/>
            <a:ext cx="3200400" cy="411480"/>
          </a:xfrm>
          <a:prstGeom prst="rect">
            <a:avLst/>
          </a:prstGeom>
          <a:noFill/>
          <a:ln/>
        </p:spPr>
        <p:txBody>
          <a:bodyPr wrap="square" lIns="0" tIns="0" rIns="0" bIns="0" rtlCol="0" anchor="t"/>
          <a:lstStyle/>
          <a:p>
            <a:pPr indent="0" marL="0">
              <a:buNone/>
            </a:pPr>
            <a:r>
              <a:rPr lang="en-US" sz="1800" b="1" dirty="0">
                <a:solidFill>
                  <a:srgbClr val="E8833A"/>
                </a:solidFill>
                <a:latin typeface="Courier New" pitchFamily="34" charset="0"/>
                <a:ea typeface="Courier New" pitchFamily="34" charset="-122"/>
                <a:cs typeface="Courier New" pitchFamily="34" charset="-120"/>
              </a:rPr>
              <a:t>SUB000001</a:t>
            </a:r>
            <a:endParaRPr lang="en-US" sz="1800" dirty="0"/>
          </a:p>
        </p:txBody>
      </p:sp>
      <p:sp>
        <p:nvSpPr>
          <p:cNvPr id="7" name="Text 4"/>
          <p:cNvSpPr txBox="1"/>
          <p:nvPr/>
        </p:nvSpPr>
        <p:spPr>
          <a:xfrm>
            <a:off x="868680" y="2377440"/>
            <a:ext cx="3200400" cy="1828800"/>
          </a:xfrm>
          <a:prstGeom prst="rect">
            <a:avLst/>
          </a:prstGeom>
          <a:noFill/>
          <a:ln/>
        </p:spPr>
        <p:txBody>
          <a:bodyPr wrap="square" lIns="0" tIns="0" rIns="0" bIns="0" rtlCol="0" anchor="t"/>
          <a:lstStyle/>
          <a:p>
            <a:pPr indent="0" marL="0">
              <a:spcAft>
                <a:spcPts val="400"/>
              </a:spcAft>
              <a:buNone/>
            </a:pPr>
            <a:r>
              <a:rPr lang="en-US" sz="1600" dirty="0">
                <a:solidFill>
                  <a:srgbClr val="C9D1E0"/>
                </a:solidFill>
              </a:rPr>
              <a:t>Tenure: 3,330 days</a:t>
            </a:r>
            <a:endParaRPr lang="en-US" sz="1600" dirty="0"/>
          </a:p>
          <a:p>
            <a:pPr indent="0" marL="0">
              <a:spcAft>
                <a:spcPts val="400"/>
              </a:spcAft>
              <a:buNone/>
            </a:pPr>
            <a:r>
              <a:rPr lang="en-US" sz="1600" dirty="0">
                <a:solidFill>
                  <a:srgbClr val="C9D1E0"/>
                </a:solidFill>
              </a:rPr>
              <a:t>Renewals (6m): 7</a:t>
            </a:r>
            <a:endParaRPr lang="en-US" sz="1600" dirty="0"/>
          </a:p>
          <a:p>
            <a:pPr indent="0" marL="0">
              <a:spcAft>
                <a:spcPts val="400"/>
              </a:spcAft>
              <a:buNone/>
            </a:pPr>
            <a:r>
              <a:rPr lang="en-US" sz="1600" dirty="0">
                <a:solidFill>
                  <a:srgbClr val="C9D1E0"/>
                </a:solidFill>
              </a:rPr>
              <a:t>Days late: −2 (ahead)</a:t>
            </a:r>
            <a:endParaRPr lang="en-US" sz="1600" dirty="0"/>
          </a:p>
          <a:p>
            <a:pPr indent="0" marL="0">
              <a:spcAft>
                <a:spcPts val="400"/>
              </a:spcAft>
              <a:buNone/>
            </a:pPr>
            <a:r>
              <a:rPr lang="en-US" sz="1600" dirty="0">
                <a:solidFill>
                  <a:srgbClr val="C9D1E0"/>
                </a:solidFill>
              </a:rPr>
              <a:t>Roaming: N</a:t>
            </a:r>
            <a:endParaRPr lang="en-US" sz="1600" dirty="0"/>
          </a:p>
          <a:p>
            <a:pPr indent="0" marL="0">
              <a:spcAft>
                <a:spcPts val="400"/>
              </a:spcAft>
              <a:buNone/>
            </a:pPr>
            <a:r>
              <a:rPr lang="en-US" sz="1600" dirty="0">
                <a:solidFill>
                  <a:srgbClr val="C9D1E0"/>
                </a:solidFill>
              </a:rPr>
              <a:t>Risk code: POS-MED</a:t>
            </a:r>
            <a:endParaRPr lang="en-US" sz="1600" dirty="0"/>
          </a:p>
        </p:txBody>
      </p:sp>
      <p:sp>
        <p:nvSpPr>
          <p:cNvPr id="8" name="Text 5"/>
          <p:cNvSpPr txBox="1"/>
          <p:nvPr/>
        </p:nvSpPr>
        <p:spPr>
          <a:xfrm>
            <a:off x="868680" y="4297680"/>
            <a:ext cx="3200400" cy="274320"/>
          </a:xfrm>
          <a:prstGeom prst="rect">
            <a:avLst/>
          </a:prstGeom>
          <a:noFill/>
          <a:ln/>
        </p:spPr>
        <p:txBody>
          <a:bodyPr wrap="square" lIns="0" tIns="0" rIns="0" bIns="0" rtlCol="0" anchor="t"/>
          <a:lstStyle/>
          <a:p>
            <a:pPr indent="0" marL="0">
              <a:buNone/>
            </a:pPr>
            <a:r>
              <a:rPr lang="en-US" sz="1300" dirty="0">
                <a:solidFill>
                  <a:srgbClr val="C9D1E0"/>
                </a:solidFill>
              </a:rPr>
              <a:t>Result</a:t>
            </a:r>
            <a:endParaRPr lang="en-US" sz="1300" dirty="0"/>
          </a:p>
        </p:txBody>
      </p:sp>
      <p:sp>
        <p:nvSpPr>
          <p:cNvPr id="9" name="Text 6"/>
          <p:cNvSpPr txBox="1"/>
          <p:nvPr/>
        </p:nvSpPr>
        <p:spPr>
          <a:xfrm>
            <a:off x="868680" y="4572000"/>
            <a:ext cx="3200400" cy="82296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C03 Champion Upsell → NORMAL offer</a:t>
            </a:r>
            <a:endParaRPr lang="en-US" sz="2000" dirty="0"/>
          </a:p>
        </p:txBody>
      </p:sp>
      <p:sp>
        <p:nvSpPr>
          <p:cNvPr id="10" name="Shape 7"/>
          <p:cNvSpPr/>
          <p:nvPr/>
        </p:nvSpPr>
        <p:spPr>
          <a:xfrm>
            <a:off x="4572000" y="1645920"/>
            <a:ext cx="7040880" cy="896112"/>
          </a:xfrm>
          <a:prstGeom prst="roundRect">
            <a:avLst>
              <a:gd name="adj" fmla="val 10204"/>
            </a:avLst>
          </a:prstGeom>
          <a:solidFill>
            <a:schemeClr val="bg2"/>
          </a:solidFill>
          <a:ln w="9525">
            <a:solidFill>
              <a:schemeClr val="bg2"/>
            </a:solidFill>
            <a:prstDash val="solid"/>
          </a:ln>
        </p:spPr>
      </p:sp>
      <p:sp>
        <p:nvSpPr>
          <p:cNvPr id="11" name="Shape 8"/>
          <p:cNvSpPr/>
          <p:nvPr/>
        </p:nvSpPr>
        <p:spPr>
          <a:xfrm>
            <a:off x="4800600" y="1865376"/>
            <a:ext cx="457200" cy="457200"/>
          </a:xfrm>
          <a:prstGeom prst="ellipse">
            <a:avLst/>
          </a:prstGeom>
          <a:solidFill>
            <a:schemeClr val="accent2"/>
          </a:solidFill>
          <a:ln w="12700">
            <a:solidFill>
              <a:schemeClr val="accent2"/>
            </a:solidFill>
            <a:prstDash val="solid"/>
          </a:ln>
        </p:spPr>
      </p:sp>
      <p:sp>
        <p:nvSpPr>
          <p:cNvPr id="12" name="Text 9"/>
          <p:cNvSpPr txBox="1"/>
          <p:nvPr/>
        </p:nvSpPr>
        <p:spPr>
          <a:xfrm>
            <a:off x="4800600" y="18653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3" name="Text 10"/>
          <p:cNvSpPr txBox="1"/>
          <p:nvPr/>
        </p:nvSpPr>
        <p:spPr>
          <a:xfrm>
            <a:off x="5486400" y="1773936"/>
            <a:ext cx="5943600" cy="365760"/>
          </a:xfrm>
          <a:prstGeom prst="rect">
            <a:avLst/>
          </a:prstGeom>
          <a:noFill/>
          <a:ln/>
        </p:spPr>
        <p:txBody>
          <a:bodyPr wrap="square" lIns="0" tIns="0" rIns="0" bIns="0" rtlCol="0" anchor="t"/>
          <a:lstStyle/>
          <a:p>
            <a:pPr indent="0" marL="0">
              <a:buNone/>
            </a:pPr>
            <a:r>
              <a:rPr lang="en-US" sz="1700" b="1" dirty="0">
                <a:solidFill>
                  <a:schemeClr val="tx1"/>
                </a:solidFill>
              </a:rPr>
              <a:t>3,330 days ≥ 150</a:t>
            </a:r>
            <a:endParaRPr lang="en-US" sz="1700" dirty="0"/>
          </a:p>
        </p:txBody>
      </p:sp>
      <p:sp>
        <p:nvSpPr>
          <p:cNvPr id="14" name="Text 11"/>
          <p:cNvSpPr txBox="1"/>
          <p:nvPr/>
        </p:nvSpPr>
        <p:spPr>
          <a:xfrm>
            <a:off x="5486400" y="2121408"/>
            <a:ext cx="5943600" cy="365760"/>
          </a:xfrm>
          <a:prstGeom prst="rect">
            <a:avLst/>
          </a:prstGeom>
          <a:noFill/>
          <a:ln/>
        </p:spPr>
        <p:txBody>
          <a:bodyPr wrap="square" lIns="0" tIns="0" rIns="0" bIns="0" rtlCol="0" anchor="t"/>
          <a:lstStyle/>
          <a:p>
            <a:pPr indent="0" marL="0">
              <a:buNone/>
            </a:pPr>
            <a:r>
              <a:rPr lang="en-US" sz="1500" dirty="0">
                <a:solidFill>
                  <a:schemeClr val="tx2"/>
                </a:solidFill>
              </a:rPr>
              <a:t>mature customer: not Welcome, not Onboarding</a:t>
            </a:r>
            <a:endParaRPr lang="en-US" sz="1500" dirty="0"/>
          </a:p>
        </p:txBody>
      </p:sp>
      <p:sp>
        <p:nvSpPr>
          <p:cNvPr id="15" name="Shape 12"/>
          <p:cNvSpPr/>
          <p:nvPr/>
        </p:nvSpPr>
        <p:spPr>
          <a:xfrm>
            <a:off x="4572000" y="2670048"/>
            <a:ext cx="7040880" cy="896112"/>
          </a:xfrm>
          <a:prstGeom prst="roundRect">
            <a:avLst>
              <a:gd name="adj" fmla="val 10204"/>
            </a:avLst>
          </a:prstGeom>
          <a:solidFill>
            <a:schemeClr val="bg2"/>
          </a:solidFill>
          <a:ln w="9525">
            <a:solidFill>
              <a:schemeClr val="bg2"/>
            </a:solidFill>
            <a:prstDash val="solid"/>
          </a:ln>
        </p:spPr>
      </p:sp>
      <p:sp>
        <p:nvSpPr>
          <p:cNvPr id="16" name="Shape 13"/>
          <p:cNvSpPr/>
          <p:nvPr/>
        </p:nvSpPr>
        <p:spPr>
          <a:xfrm>
            <a:off x="4800600" y="2889504"/>
            <a:ext cx="457200" cy="457200"/>
          </a:xfrm>
          <a:prstGeom prst="ellipse">
            <a:avLst/>
          </a:prstGeom>
          <a:solidFill>
            <a:schemeClr val="accent2"/>
          </a:solidFill>
          <a:ln w="12700">
            <a:solidFill>
              <a:schemeClr val="accent2"/>
            </a:solidFill>
            <a:prstDash val="solid"/>
          </a:ln>
        </p:spPr>
      </p:sp>
      <p:sp>
        <p:nvSpPr>
          <p:cNvPr id="17" name="Text 14"/>
          <p:cNvSpPr txBox="1"/>
          <p:nvPr/>
        </p:nvSpPr>
        <p:spPr>
          <a:xfrm>
            <a:off x="4800600" y="28895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8" name="Text 15"/>
          <p:cNvSpPr txBox="1"/>
          <p:nvPr/>
        </p:nvSpPr>
        <p:spPr>
          <a:xfrm>
            <a:off x="5486400" y="2798064"/>
            <a:ext cx="5943600" cy="365760"/>
          </a:xfrm>
          <a:prstGeom prst="rect">
            <a:avLst/>
          </a:prstGeom>
          <a:noFill/>
          <a:ln/>
        </p:spPr>
        <p:txBody>
          <a:bodyPr wrap="square" lIns="0" tIns="0" rIns="0" bIns="0" rtlCol="0" anchor="t"/>
          <a:lstStyle/>
          <a:p>
            <a:pPr indent="0" marL="0">
              <a:buNone/>
            </a:pPr>
            <a:r>
              <a:rPr lang="en-US" sz="1700" b="1" dirty="0">
                <a:solidFill>
                  <a:schemeClr val="tx1"/>
                </a:solidFill>
              </a:rPr>
              <a:t>7 renewals ≥ 6</a:t>
            </a:r>
            <a:endParaRPr lang="en-US" sz="1700" dirty="0"/>
          </a:p>
        </p:txBody>
      </p:sp>
      <p:sp>
        <p:nvSpPr>
          <p:cNvPr id="19" name="Text 16"/>
          <p:cNvSpPr txBox="1"/>
          <p:nvPr/>
        </p:nvSpPr>
        <p:spPr>
          <a:xfrm>
            <a:off x="5486400" y="3145536"/>
            <a:ext cx="5943600" cy="365760"/>
          </a:xfrm>
          <a:prstGeom prst="rect">
            <a:avLst/>
          </a:prstGeom>
          <a:noFill/>
          <a:ln/>
        </p:spPr>
        <p:txBody>
          <a:bodyPr wrap="square" lIns="0" tIns="0" rIns="0" bIns="0" rtlCol="0" anchor="t"/>
          <a:lstStyle/>
          <a:p>
            <a:pPr indent="0" marL="0">
              <a:buNone/>
            </a:pPr>
            <a:r>
              <a:rPr lang="en-US" sz="1500" dirty="0">
                <a:solidFill>
                  <a:schemeClr val="tx2"/>
                </a:solidFill>
              </a:rPr>
              <a:t>family Champion</a:t>
            </a:r>
            <a:endParaRPr lang="en-US" sz="1500" dirty="0"/>
          </a:p>
        </p:txBody>
      </p:sp>
      <p:sp>
        <p:nvSpPr>
          <p:cNvPr id="20" name="Shape 17"/>
          <p:cNvSpPr/>
          <p:nvPr/>
        </p:nvSpPr>
        <p:spPr>
          <a:xfrm>
            <a:off x="4572000" y="3694176"/>
            <a:ext cx="7040880" cy="896112"/>
          </a:xfrm>
          <a:prstGeom prst="roundRect">
            <a:avLst>
              <a:gd name="adj" fmla="val 10204"/>
            </a:avLst>
          </a:prstGeom>
          <a:solidFill>
            <a:schemeClr val="bg2"/>
          </a:solidFill>
          <a:ln w="9525">
            <a:solidFill>
              <a:schemeClr val="bg2"/>
            </a:solidFill>
            <a:prstDash val="solid"/>
          </a:ln>
        </p:spPr>
      </p:sp>
      <p:sp>
        <p:nvSpPr>
          <p:cNvPr id="21" name="Shape 18"/>
          <p:cNvSpPr/>
          <p:nvPr/>
        </p:nvSpPr>
        <p:spPr>
          <a:xfrm>
            <a:off x="4800600" y="3913632"/>
            <a:ext cx="457200" cy="457200"/>
          </a:xfrm>
          <a:prstGeom prst="ellipse">
            <a:avLst/>
          </a:prstGeom>
          <a:solidFill>
            <a:schemeClr val="accent2"/>
          </a:solidFill>
          <a:ln w="12700">
            <a:solidFill>
              <a:schemeClr val="accent2"/>
            </a:solidFill>
            <a:prstDash val="solid"/>
          </a:ln>
        </p:spPr>
      </p:sp>
      <p:sp>
        <p:nvSpPr>
          <p:cNvPr id="22" name="Text 19"/>
          <p:cNvSpPr txBox="1"/>
          <p:nvPr/>
        </p:nvSpPr>
        <p:spPr>
          <a:xfrm>
            <a:off x="4800600" y="391363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3" name="Text 20"/>
          <p:cNvSpPr txBox="1"/>
          <p:nvPr/>
        </p:nvSpPr>
        <p:spPr>
          <a:xfrm>
            <a:off x="5486400" y="3822192"/>
            <a:ext cx="5943600" cy="365760"/>
          </a:xfrm>
          <a:prstGeom prst="rect">
            <a:avLst/>
          </a:prstGeom>
          <a:noFill/>
          <a:ln/>
        </p:spPr>
        <p:txBody>
          <a:bodyPr wrap="square" lIns="0" tIns="0" rIns="0" bIns="0" rtlCol="0" anchor="t"/>
          <a:lstStyle/>
          <a:p>
            <a:pPr indent="0" marL="0">
              <a:buNone/>
            </a:pPr>
            <a:r>
              <a:rPr lang="en-US" sz="1700" b="1" dirty="0">
                <a:solidFill>
                  <a:schemeClr val="tx1"/>
                </a:solidFill>
              </a:rPr>
              <a:t>−2 days late &lt; 4</a:t>
            </a:r>
            <a:endParaRPr lang="en-US" sz="1700" dirty="0"/>
          </a:p>
        </p:txBody>
      </p:sp>
      <p:sp>
        <p:nvSpPr>
          <p:cNvPr id="24" name="Text 21"/>
          <p:cNvSpPr txBox="1"/>
          <p:nvPr/>
        </p:nvSpPr>
        <p:spPr>
          <a:xfrm>
            <a:off x="5486400" y="4169664"/>
            <a:ext cx="5943600" cy="365760"/>
          </a:xfrm>
          <a:prstGeom prst="rect">
            <a:avLst/>
          </a:prstGeom>
          <a:noFill/>
          <a:ln/>
        </p:spPr>
        <p:txBody>
          <a:bodyPr wrap="square" lIns="0" tIns="0" rIns="0" bIns="0" rtlCol="0" anchor="t"/>
          <a:lstStyle/>
          <a:p>
            <a:pPr indent="0" marL="0">
              <a:buNone/>
            </a:pPr>
            <a:r>
              <a:rPr lang="en-US" sz="1500" dirty="0">
                <a:solidFill>
                  <a:schemeClr val="tx2"/>
                </a:solidFill>
              </a:rPr>
              <a:t>stage Active: candidates C03 and C04</a:t>
            </a:r>
            <a:endParaRPr lang="en-US" sz="1500" dirty="0"/>
          </a:p>
        </p:txBody>
      </p:sp>
      <p:sp>
        <p:nvSpPr>
          <p:cNvPr id="25" name="Shape 22"/>
          <p:cNvSpPr/>
          <p:nvPr/>
        </p:nvSpPr>
        <p:spPr>
          <a:xfrm>
            <a:off x="4572000" y="4718304"/>
            <a:ext cx="7040880" cy="896112"/>
          </a:xfrm>
          <a:prstGeom prst="roundRect">
            <a:avLst>
              <a:gd name="adj" fmla="val 10204"/>
            </a:avLst>
          </a:prstGeom>
          <a:solidFill>
            <a:schemeClr val="bg2"/>
          </a:solidFill>
          <a:ln w="9525">
            <a:solidFill>
              <a:schemeClr val="bg2"/>
            </a:solidFill>
            <a:prstDash val="solid"/>
          </a:ln>
        </p:spPr>
      </p:sp>
      <p:sp>
        <p:nvSpPr>
          <p:cNvPr id="26" name="Shape 23"/>
          <p:cNvSpPr/>
          <p:nvPr/>
        </p:nvSpPr>
        <p:spPr>
          <a:xfrm>
            <a:off x="4800600" y="4937760"/>
            <a:ext cx="457200" cy="457200"/>
          </a:xfrm>
          <a:prstGeom prst="ellipse">
            <a:avLst/>
          </a:prstGeom>
          <a:solidFill>
            <a:schemeClr val="accent2"/>
          </a:solidFill>
          <a:ln w="12700">
            <a:solidFill>
              <a:schemeClr val="accent2"/>
            </a:solidFill>
            <a:prstDash val="solid"/>
          </a:ln>
        </p:spPr>
      </p:sp>
      <p:sp>
        <p:nvSpPr>
          <p:cNvPr id="27" name="Text 24"/>
          <p:cNvSpPr txBox="1"/>
          <p:nvPr/>
        </p:nvSpPr>
        <p:spPr>
          <a:xfrm>
            <a:off x="4800600" y="4937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8" name="Text 25"/>
          <p:cNvSpPr txBox="1"/>
          <p:nvPr/>
        </p:nvSpPr>
        <p:spPr>
          <a:xfrm>
            <a:off x="5486400" y="4846320"/>
            <a:ext cx="5943600" cy="365760"/>
          </a:xfrm>
          <a:prstGeom prst="rect">
            <a:avLst/>
          </a:prstGeom>
          <a:noFill/>
          <a:ln/>
        </p:spPr>
        <p:txBody>
          <a:bodyPr wrap="square" lIns="0" tIns="0" rIns="0" bIns="0" rtlCol="0" anchor="t"/>
          <a:lstStyle/>
          <a:p>
            <a:pPr indent="0" marL="0">
              <a:buNone/>
            </a:pPr>
            <a:r>
              <a:rPr lang="en-US" sz="1700" b="1" dirty="0">
                <a:solidFill>
                  <a:schemeClr val="tx1"/>
                </a:solidFill>
              </a:rPr>
              <a:t>POS-MED is a healthy code</a:t>
            </a:r>
            <a:endParaRPr lang="en-US" sz="1700" dirty="0"/>
          </a:p>
        </p:txBody>
      </p:sp>
      <p:sp>
        <p:nvSpPr>
          <p:cNvPr id="29" name="Text 26"/>
          <p:cNvSpPr txBox="1"/>
          <p:nvPr/>
        </p:nvSpPr>
        <p:spPr>
          <a:xfrm>
            <a:off x="5486400" y="5193792"/>
            <a:ext cx="5943600" cy="365760"/>
          </a:xfrm>
          <a:prstGeom prst="rect">
            <a:avLst/>
          </a:prstGeom>
          <a:noFill/>
          <a:ln/>
        </p:spPr>
        <p:txBody>
          <a:bodyPr wrap="square" lIns="0" tIns="0" rIns="0" bIns="0" rtlCol="0" anchor="t"/>
          <a:lstStyle/>
          <a:p>
            <a:pPr indent="0" marL="0">
              <a:buNone/>
            </a:pPr>
            <a:r>
              <a:rPr lang="en-US" sz="1500" dirty="0">
                <a:solidFill>
                  <a:schemeClr val="tx2"/>
                </a:solidFill>
              </a:rPr>
              <a:t>in C03's list, not in C04's → exactly 1 rule</a:t>
            </a:r>
            <a:endParaRPr lang="en-US" sz="1500" dirty="0"/>
          </a:p>
        </p:txBody>
      </p:sp>
      <p:sp>
        <p:nvSpPr>
          <p:cNvPr id="30" name="Text 27"/>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500" dirty="0">
                <a:solidFill>
                  <a:schemeClr val="accent6"/>
                </a:solidFill>
              </a:rPr>
              <a:t>Another one: SUB000006 (253 days, 5 renewals, 4 days late, NEG-HIGH) → C08 Regular Nudge → AGGRESSIVE.</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LEVEL 1 · APP CAPTURE</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The rule grid, as the app shows it</a:t>
            </a:r>
            <a:endParaRPr lang="en-US" sz="3000" dirty="0"/>
          </a:p>
        </p:txBody>
      </p:sp>
      <p:sp>
        <p:nvSpPr>
          <p:cNvPr id="5" name="Shape 2"/>
          <p:cNvSpPr/>
          <p:nvPr/>
        </p:nvSpPr>
        <p:spPr>
          <a:xfrm>
            <a:off x="518008" y="1554480"/>
            <a:ext cx="11155680" cy="3835779"/>
          </a:xfrm>
          <a:prstGeom prst="rect">
            <a:avLst/>
          </a:prstGeom>
          <a:solidFill>
            <a:schemeClr val="bg1"/>
          </a:solidFill>
          <a:ln w="12700">
            <a:solidFill>
              <a:srgbClr val="D5D9E2"/>
            </a:solidFill>
            <a:prstDash val="solid"/>
          </a:ln>
        </p:spPr>
      </p:sp>
      <p:pic>
        <p:nvPicPr>
          <p:cNvPr id="6" name="Image 0" descr="App capture: 6,000 subscribers, 14 active segments, 0 without a segment, 0 in two segments, and the rule grid with its bounds">    </p:cNvPr>
          <p:cNvPicPr>
            <a:picLocks noChangeAspect="1"/>
          </p:cNvPicPr>
          <p:nvPr/>
        </p:nvPicPr>
        <p:blipFill>
          <a:blip r:embed="rId1"/>
          <a:stretch>
            <a:fillRect/>
          </a:stretch>
        </p:blipFill>
        <p:spPr>
          <a:xfrm>
            <a:off x="563728" y="1600200"/>
            <a:ext cx="11064240" cy="3744339"/>
          </a:xfrm>
          <a:prstGeom prst="rect">
            <a:avLst/>
          </a:prstGeom>
        </p:spPr>
      </p:pic>
      <p:sp>
        <p:nvSpPr>
          <p:cNvPr id="7" name="Text 3"/>
          <p:cNvSpPr txBox="1"/>
          <p:nvPr/>
        </p:nvSpPr>
        <p:spPr>
          <a:xfrm>
            <a:off x="548640" y="5573139"/>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"Segments &amp; data" tab: 6,000 subscribers · 14 active segments · 0 without a segment · 0 in two segments.</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LEVEL 1 · APP CAPTURE</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Where the 6,000 customers are</a:t>
            </a:r>
            <a:endParaRPr lang="en-US" sz="3000" dirty="0"/>
          </a:p>
        </p:txBody>
      </p:sp>
      <p:sp>
        <p:nvSpPr>
          <p:cNvPr id="5" name="Shape 2"/>
          <p:cNvSpPr/>
          <p:nvPr/>
        </p:nvSpPr>
        <p:spPr>
          <a:xfrm>
            <a:off x="502920" y="1554480"/>
            <a:ext cx="5955537" cy="4617720"/>
          </a:xfrm>
          <a:prstGeom prst="rect">
            <a:avLst/>
          </a:prstGeom>
          <a:solidFill>
            <a:schemeClr val="bg1"/>
          </a:solidFill>
          <a:ln w="12700">
            <a:solidFill>
              <a:srgbClr val="D5D9E2"/>
            </a:solidFill>
            <a:prstDash val="solid"/>
          </a:ln>
        </p:spPr>
      </p:sp>
      <p:pic>
        <p:nvPicPr>
          <p:cNvPr id="6" name="Image 0" descr="App capture: bar chart of customers per segment C01 to C14 and a table of customers and share per segment">    </p:cNvPr>
          <p:cNvPicPr>
            <a:picLocks noChangeAspect="1"/>
          </p:cNvPicPr>
          <p:nvPr/>
        </p:nvPicPr>
        <p:blipFill>
          <a:blip r:embed="rId1"/>
          <a:stretch>
            <a:fillRect/>
          </a:stretch>
        </p:blipFill>
        <p:spPr>
          <a:xfrm>
            <a:off x="548640" y="1600200"/>
            <a:ext cx="5864097" cy="4526280"/>
          </a:xfrm>
          <a:prstGeom prst="rect">
            <a:avLst/>
          </a:prstGeom>
        </p:spPr>
      </p:pic>
      <p:sp>
        <p:nvSpPr>
          <p:cNvPr id="7" name="Text 3"/>
          <p:cNvSpPr txBox="1"/>
          <p:nvPr/>
        </p:nvSpPr>
        <p:spPr>
          <a:xfrm>
            <a:off x="6949440" y="1600200"/>
            <a:ext cx="4663440" cy="365760"/>
          </a:xfrm>
          <a:prstGeom prst="rect">
            <a:avLst/>
          </a:prstGeom>
          <a:noFill/>
          <a:ln/>
        </p:spPr>
        <p:txBody>
          <a:bodyPr wrap="square" lIns="0" tIns="0" rIns="0" bIns="0" rtlCol="0" anchor="t"/>
          <a:lstStyle/>
          <a:p>
            <a:pPr indent="0" marL="0">
              <a:buNone/>
            </a:pPr>
            <a:r>
              <a:rPr lang="en-US" sz="1800" b="1" dirty="0">
                <a:solidFill>
                  <a:schemeClr val="tx1"/>
                </a:solidFill>
              </a:rPr>
              <a:t>Customers per offer intensity</a:t>
            </a:r>
            <a:endParaRPr lang="en-US" sz="1800" dirty="0"/>
          </a:p>
        </p:txBody>
      </p:sp>
      <p:sp>
        <p:nvSpPr>
          <p:cNvPr id="8" name="Shape 4"/>
          <p:cNvSpPr/>
          <p:nvPr/>
        </p:nvSpPr>
        <p:spPr>
          <a:xfrm>
            <a:off x="6949440" y="2103120"/>
            <a:ext cx="2240280" cy="1188720"/>
          </a:xfrm>
          <a:prstGeom prst="roundRect">
            <a:avLst>
              <a:gd name="adj" fmla="val 7692"/>
            </a:avLst>
          </a:prstGeom>
          <a:solidFill>
            <a:srgbClr val="E4E6EC"/>
          </a:solidFill>
          <a:ln w="9525">
            <a:solidFill>
              <a:srgbClr val="E4E6EC"/>
            </a:solidFill>
            <a:prstDash val="solid"/>
          </a:ln>
        </p:spPr>
      </p:sp>
      <p:sp>
        <p:nvSpPr>
          <p:cNvPr id="9" name="Text 5"/>
          <p:cNvSpPr txBox="1"/>
          <p:nvPr/>
        </p:nvSpPr>
        <p:spPr>
          <a:xfrm>
            <a:off x="7132320" y="2240280"/>
            <a:ext cx="1920240" cy="548640"/>
          </a:xfrm>
          <a:prstGeom prst="rect">
            <a:avLst/>
          </a:prstGeom>
          <a:noFill/>
          <a:ln/>
        </p:spPr>
        <p:txBody>
          <a:bodyPr wrap="square" lIns="0" tIns="0" rIns="0" bIns="0" rtlCol="0" anchor="t"/>
          <a:lstStyle/>
          <a:p>
            <a:pPr indent="0" marL="0">
              <a:buNone/>
            </a:pPr>
            <a:r>
              <a:rPr lang="en-US" sz="2800" b="1" dirty="0">
                <a:solidFill>
                  <a:schemeClr val="tx1"/>
                </a:solidFill>
                <a:latin typeface="Arial" pitchFamily="34" charset="0"/>
                <a:ea typeface="Arial" pitchFamily="34" charset="-122"/>
                <a:cs typeface="Arial" pitchFamily="34" charset="-120"/>
              </a:rPr>
              <a:t>444</a:t>
            </a:r>
            <a:endParaRPr lang="en-US" sz="2800" dirty="0"/>
          </a:p>
        </p:txBody>
      </p:sp>
      <p:sp>
        <p:nvSpPr>
          <p:cNvPr id="10" name="Text 6"/>
          <p:cNvSpPr txBox="1"/>
          <p:nvPr/>
        </p:nvSpPr>
        <p:spPr>
          <a:xfrm>
            <a:off x="7132320" y="2834640"/>
            <a:ext cx="2011680" cy="320040"/>
          </a:xfrm>
          <a:prstGeom prst="rect">
            <a:avLst/>
          </a:prstGeom>
          <a:noFill/>
          <a:ln/>
        </p:spPr>
        <p:txBody>
          <a:bodyPr wrap="square" lIns="0" tIns="0" rIns="0" bIns="0" rtlCol="0" anchor="t"/>
          <a:lstStyle/>
          <a:p>
            <a:pPr indent="0" marL="0">
              <a:buNone/>
            </a:pPr>
            <a:r>
              <a:rPr lang="en-US" sz="1300" dirty="0">
                <a:solidFill>
                  <a:schemeClr val="tx1"/>
                </a:solidFill>
              </a:rPr>
              <a:t>NONE · 7.4%</a:t>
            </a:r>
            <a:endParaRPr lang="en-US" sz="1300" dirty="0"/>
          </a:p>
        </p:txBody>
      </p:sp>
      <p:sp>
        <p:nvSpPr>
          <p:cNvPr id="11" name="Shape 7"/>
          <p:cNvSpPr/>
          <p:nvPr/>
        </p:nvSpPr>
        <p:spPr>
          <a:xfrm>
            <a:off x="9326880" y="2103120"/>
            <a:ext cx="2240280" cy="1188720"/>
          </a:xfrm>
          <a:prstGeom prst="roundRect">
            <a:avLst>
              <a:gd name="adj" fmla="val 7692"/>
            </a:avLst>
          </a:prstGeom>
          <a:solidFill>
            <a:srgbClr val="DCE5F8"/>
          </a:solidFill>
          <a:ln w="9525">
            <a:solidFill>
              <a:srgbClr val="DCE5F8"/>
            </a:solidFill>
            <a:prstDash val="solid"/>
          </a:ln>
        </p:spPr>
      </p:sp>
      <p:sp>
        <p:nvSpPr>
          <p:cNvPr id="12" name="Text 8"/>
          <p:cNvSpPr txBox="1"/>
          <p:nvPr/>
        </p:nvSpPr>
        <p:spPr>
          <a:xfrm>
            <a:off x="9509760" y="2240280"/>
            <a:ext cx="1920240" cy="548640"/>
          </a:xfrm>
          <a:prstGeom prst="rect">
            <a:avLst/>
          </a:prstGeom>
          <a:noFill/>
          <a:ln/>
        </p:spPr>
        <p:txBody>
          <a:bodyPr wrap="square" lIns="0" tIns="0" rIns="0" bIns="0" rtlCol="0" anchor="t"/>
          <a:lstStyle/>
          <a:p>
            <a:pPr indent="0" marL="0">
              <a:buNone/>
            </a:pPr>
            <a:r>
              <a:rPr lang="en-US" sz="2800" b="1" dirty="0">
                <a:solidFill>
                  <a:schemeClr val="tx1"/>
                </a:solidFill>
                <a:latin typeface="Arial" pitchFamily="34" charset="0"/>
                <a:ea typeface="Arial" pitchFamily="34" charset="-122"/>
                <a:cs typeface="Arial" pitchFamily="34" charset="-120"/>
              </a:rPr>
              <a:t>2,812</a:t>
            </a:r>
            <a:endParaRPr lang="en-US" sz="2800" dirty="0"/>
          </a:p>
        </p:txBody>
      </p:sp>
      <p:sp>
        <p:nvSpPr>
          <p:cNvPr id="13" name="Text 9"/>
          <p:cNvSpPr txBox="1"/>
          <p:nvPr/>
        </p:nvSpPr>
        <p:spPr>
          <a:xfrm>
            <a:off x="9509760" y="2834640"/>
            <a:ext cx="2011680" cy="320040"/>
          </a:xfrm>
          <a:prstGeom prst="rect">
            <a:avLst/>
          </a:prstGeom>
          <a:noFill/>
          <a:ln/>
        </p:spPr>
        <p:txBody>
          <a:bodyPr wrap="square" lIns="0" tIns="0" rIns="0" bIns="0" rtlCol="0" anchor="t"/>
          <a:lstStyle/>
          <a:p>
            <a:pPr indent="0" marL="0">
              <a:buNone/>
            </a:pPr>
            <a:r>
              <a:rPr lang="en-US" sz="1300" dirty="0">
                <a:solidFill>
                  <a:schemeClr val="tx1"/>
                </a:solidFill>
              </a:rPr>
              <a:t>NORMAL · 46.9%</a:t>
            </a:r>
            <a:endParaRPr lang="en-US" sz="1300" dirty="0"/>
          </a:p>
        </p:txBody>
      </p:sp>
      <p:sp>
        <p:nvSpPr>
          <p:cNvPr id="14" name="Shape 10"/>
          <p:cNvSpPr/>
          <p:nvPr/>
        </p:nvSpPr>
        <p:spPr>
          <a:xfrm>
            <a:off x="6949440" y="3429000"/>
            <a:ext cx="2240280" cy="1188720"/>
          </a:xfrm>
          <a:prstGeom prst="roundRect">
            <a:avLst>
              <a:gd name="adj" fmla="val 7692"/>
            </a:avLst>
          </a:prstGeom>
          <a:solidFill>
            <a:srgbClr val="F7D9C4"/>
          </a:solidFill>
          <a:ln w="9525">
            <a:solidFill>
              <a:srgbClr val="F7D9C4"/>
            </a:solidFill>
            <a:prstDash val="solid"/>
          </a:ln>
        </p:spPr>
      </p:sp>
      <p:sp>
        <p:nvSpPr>
          <p:cNvPr id="15" name="Text 11"/>
          <p:cNvSpPr txBox="1"/>
          <p:nvPr/>
        </p:nvSpPr>
        <p:spPr>
          <a:xfrm>
            <a:off x="7132320" y="3566160"/>
            <a:ext cx="1920240" cy="548640"/>
          </a:xfrm>
          <a:prstGeom prst="rect">
            <a:avLst/>
          </a:prstGeom>
          <a:noFill/>
          <a:ln/>
        </p:spPr>
        <p:txBody>
          <a:bodyPr wrap="square" lIns="0" tIns="0" rIns="0" bIns="0" rtlCol="0" anchor="t"/>
          <a:lstStyle/>
          <a:p>
            <a:pPr indent="0" marL="0">
              <a:buNone/>
            </a:pPr>
            <a:r>
              <a:rPr lang="en-US" sz="2800" b="1" dirty="0">
                <a:solidFill>
                  <a:schemeClr val="tx1"/>
                </a:solidFill>
                <a:latin typeface="Arial" pitchFamily="34" charset="0"/>
                <a:ea typeface="Arial" pitchFamily="34" charset="-122"/>
                <a:cs typeface="Arial" pitchFamily="34" charset="-120"/>
              </a:rPr>
              <a:t>2,151</a:t>
            </a:r>
            <a:endParaRPr lang="en-US" sz="2800" dirty="0"/>
          </a:p>
        </p:txBody>
      </p:sp>
      <p:sp>
        <p:nvSpPr>
          <p:cNvPr id="16" name="Text 12"/>
          <p:cNvSpPr txBox="1"/>
          <p:nvPr/>
        </p:nvSpPr>
        <p:spPr>
          <a:xfrm>
            <a:off x="7132320" y="4160520"/>
            <a:ext cx="2011680" cy="320040"/>
          </a:xfrm>
          <a:prstGeom prst="rect">
            <a:avLst/>
          </a:prstGeom>
          <a:noFill/>
          <a:ln/>
        </p:spPr>
        <p:txBody>
          <a:bodyPr wrap="square" lIns="0" tIns="0" rIns="0" bIns="0" rtlCol="0" anchor="t"/>
          <a:lstStyle/>
          <a:p>
            <a:pPr indent="0" marL="0">
              <a:buNone/>
            </a:pPr>
            <a:r>
              <a:rPr lang="en-US" sz="1300" dirty="0">
                <a:solidFill>
                  <a:schemeClr val="tx1"/>
                </a:solidFill>
              </a:rPr>
              <a:t>AGGRESSIVE · 35.9%</a:t>
            </a:r>
            <a:endParaRPr lang="en-US" sz="1300" dirty="0"/>
          </a:p>
        </p:txBody>
      </p:sp>
      <p:sp>
        <p:nvSpPr>
          <p:cNvPr id="17" name="Shape 13"/>
          <p:cNvSpPr/>
          <p:nvPr/>
        </p:nvSpPr>
        <p:spPr>
          <a:xfrm>
            <a:off x="9326880" y="3429000"/>
            <a:ext cx="2240280" cy="1188720"/>
          </a:xfrm>
          <a:prstGeom prst="roundRect">
            <a:avLst>
              <a:gd name="adj" fmla="val 7692"/>
            </a:avLst>
          </a:prstGeom>
          <a:solidFill>
            <a:srgbClr val="E8833A"/>
          </a:solidFill>
          <a:ln w="9525">
            <a:solidFill>
              <a:srgbClr val="E8833A"/>
            </a:solidFill>
            <a:prstDash val="solid"/>
          </a:ln>
        </p:spPr>
      </p:sp>
      <p:sp>
        <p:nvSpPr>
          <p:cNvPr id="18" name="Text 14"/>
          <p:cNvSpPr txBox="1"/>
          <p:nvPr/>
        </p:nvSpPr>
        <p:spPr>
          <a:xfrm>
            <a:off x="9509760" y="3566160"/>
            <a:ext cx="1920240" cy="548640"/>
          </a:xfrm>
          <a:prstGeom prst="rect">
            <a:avLst/>
          </a:prstGeom>
          <a:noFill/>
          <a:ln/>
        </p:spPr>
        <p:txBody>
          <a:bodyPr wrap="square" lIns="0" tIns="0" rIns="0" bIns="0" rtlCol="0" anchor="t"/>
          <a:lstStyle/>
          <a:p>
            <a:pPr indent="0" marL="0">
              <a:buNone/>
            </a:pPr>
            <a:r>
              <a:rPr lang="en-US" sz="2800" b="1" dirty="0">
                <a:solidFill>
                  <a:schemeClr val="tx1"/>
                </a:solidFill>
                <a:latin typeface="Arial" pitchFamily="34" charset="0"/>
                <a:ea typeface="Arial" pitchFamily="34" charset="-122"/>
                <a:cs typeface="Arial" pitchFamily="34" charset="-120"/>
              </a:rPr>
              <a:t>593</a:t>
            </a:r>
            <a:endParaRPr lang="en-US" sz="2800" dirty="0"/>
          </a:p>
        </p:txBody>
      </p:sp>
      <p:sp>
        <p:nvSpPr>
          <p:cNvPr id="19" name="Text 15"/>
          <p:cNvSpPr txBox="1"/>
          <p:nvPr/>
        </p:nvSpPr>
        <p:spPr>
          <a:xfrm>
            <a:off x="9509760" y="4160520"/>
            <a:ext cx="2011680" cy="320040"/>
          </a:xfrm>
          <a:prstGeom prst="rect">
            <a:avLst/>
          </a:prstGeom>
          <a:noFill/>
          <a:ln/>
        </p:spPr>
        <p:txBody>
          <a:bodyPr wrap="square" lIns="0" tIns="0" rIns="0" bIns="0" rtlCol="0" anchor="t"/>
          <a:lstStyle/>
          <a:p>
            <a:pPr indent="0" marL="0">
              <a:buNone/>
            </a:pPr>
            <a:r>
              <a:rPr lang="en-US" sz="1300" dirty="0">
                <a:solidFill>
                  <a:schemeClr val="tx1"/>
                </a:solidFill>
              </a:rPr>
              <a:t>VERY_AGGRESSIVE · 9.9%</a:t>
            </a:r>
            <a:endParaRPr lang="en-US" sz="1300" dirty="0"/>
          </a:p>
        </p:txBody>
      </p:sp>
      <p:sp>
        <p:nvSpPr>
          <p:cNvPr id="20" name="Text 16"/>
          <p:cNvSpPr txBox="1"/>
          <p:nvPr/>
        </p:nvSpPr>
        <p:spPr>
          <a:xfrm>
            <a:off x="6949440" y="4892040"/>
            <a:ext cx="4663440" cy="731520"/>
          </a:xfrm>
          <a:prstGeom prst="rect">
            <a:avLst/>
          </a:prstGeom>
          <a:noFill/>
          <a:ln/>
        </p:spPr>
        <p:txBody>
          <a:bodyPr wrap="square" lIns="0" tIns="0" rIns="0" bIns="0" rtlCol="0" anchor="t"/>
          <a:lstStyle/>
          <a:p>
            <a:pPr indent="0" marL="0">
              <a:buNone/>
            </a:pPr>
            <a:r>
              <a:rPr lang="en-US" sz="1500" dirty="0">
                <a:solidFill>
                  <a:schemeClr val="tx2"/>
                </a:solidFill>
              </a:rPr>
              <a:t>Largest segment: C11 Occasional Activate, 866 customers (14.4%).</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LEVEL 1 · THE DATA</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Every subscriber → one segment → one offer</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554480"/>
                <a:gridCol w="1005840"/>
                <a:gridCol w="1097280"/>
                <a:gridCol w="1097280"/>
                <a:gridCol w="1280160"/>
                <a:gridCol w="3017520"/>
                <a:gridCol w="2011680"/>
              </a:tblGrid>
              <a:tr h="457200">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Subscriber</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Tenure</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Renewals</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Days late</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Risk</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Segment</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Offer</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r>
              <a:tr h="457200">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SUB000000</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124</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NEG-HIGH</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C02 Onboarding Boost</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NORMAL</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r>
              <a:tr h="457200">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SUB000001</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3,330</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POS-MED</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C03 Champion Upsell</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NORMAL</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r h="457200">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SUB000002</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57</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FLAT-MED</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C01 Welcome Journey</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NONE</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r>
              <a:tr h="457200">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SUB000003</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2,253</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−9</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NEG-HIGH</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C07 Regular Grow</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NORMAL</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r h="457200">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SUB000004</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1,415</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NEG-MED</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C13 Silent Reactivate</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AGGRESSIVE</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r>
              <a:tr h="457200">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SUB000005</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1,892</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FLAT-HIGH</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C07 Regular Grow</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NORMAL</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r h="457200">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SUB000006</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253</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NEG-HIGH</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C08 Regular Nudge</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AGGRESSIVE</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r>
              <a:tr h="457200">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SUB000008</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2,893</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9</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FLAT-LOW</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C03 Champion Upsell</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NORMAL</a:t>
                      </a:r>
                      <a:endParaRPr lang="en-US" sz="15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bl>
          </a:graphicData>
        </a:graphic>
      </p:graphicFrame>
      <p:sp>
        <p:nvSpPr>
          <p:cNvPr id="6" name="Text 2"/>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Extract of data/subscribers.csv with the segment computed by the engine. 100% synthetic data.</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LEVEL 2 · AUTOMATIC CONTROL</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Five barriers between a sentence and the data</a:t>
            </a:r>
            <a:endParaRPr lang="en-US" sz="3000" dirty="0"/>
          </a:p>
        </p:txBody>
      </p:sp>
      <p:sp>
        <p:nvSpPr>
          <p:cNvPr id="5" name="Shape 2"/>
          <p:cNvSpPr/>
          <p:nvPr/>
        </p:nvSpPr>
        <p:spPr>
          <a:xfrm>
            <a:off x="548640" y="1600200"/>
            <a:ext cx="11064240" cy="749808"/>
          </a:xfrm>
          <a:prstGeom prst="roundRect">
            <a:avLst>
              <a:gd name="adj" fmla="val 12195"/>
            </a:avLst>
          </a:prstGeom>
          <a:solidFill>
            <a:schemeClr val="bg2"/>
          </a:solidFill>
          <a:ln w="9525">
            <a:solidFill>
              <a:schemeClr val="bg2"/>
            </a:solidFill>
            <a:prstDash val="solid"/>
          </a:ln>
        </p:spPr>
      </p:sp>
      <p:sp>
        <p:nvSpPr>
          <p:cNvPr id="6" name="Shape 3"/>
          <p:cNvSpPr/>
          <p:nvPr/>
        </p:nvSpPr>
        <p:spPr>
          <a:xfrm>
            <a:off x="777240" y="1746504"/>
            <a:ext cx="457200" cy="457200"/>
          </a:xfrm>
          <a:prstGeom prst="ellipse">
            <a:avLst/>
          </a:prstGeom>
          <a:solidFill>
            <a:schemeClr val="accent2"/>
          </a:solidFill>
          <a:ln w="12700">
            <a:solidFill>
              <a:schemeClr val="accent2"/>
            </a:solidFill>
            <a:prstDash val="solid"/>
          </a:ln>
        </p:spPr>
      </p:sp>
      <p:sp>
        <p:nvSpPr>
          <p:cNvPr id="7" name="Text 4"/>
          <p:cNvSpPr txBox="1"/>
          <p:nvPr/>
        </p:nvSpPr>
        <p:spPr>
          <a:xfrm>
            <a:off x="777240" y="17465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417320" y="1783080"/>
            <a:ext cx="2834640" cy="411480"/>
          </a:xfrm>
          <a:prstGeom prst="rect">
            <a:avLst/>
          </a:prstGeom>
          <a:noFill/>
          <a:ln/>
        </p:spPr>
        <p:txBody>
          <a:bodyPr wrap="square" lIns="0" tIns="0" rIns="0" bIns="0" rtlCol="0" anchor="t"/>
          <a:lstStyle/>
          <a:p>
            <a:pPr indent="0" marL="0">
              <a:buNone/>
            </a:pPr>
            <a:r>
              <a:rPr lang="en-US" sz="1800" b="1" dirty="0">
                <a:solidFill>
                  <a:schemeClr val="tx1"/>
                </a:solidFill>
              </a:rPr>
              <a:t>The AI can decline</a:t>
            </a:r>
            <a:endParaRPr lang="en-US" sz="1800" dirty="0"/>
          </a:p>
        </p:txBody>
      </p:sp>
      <p:sp>
        <p:nvSpPr>
          <p:cNvPr id="9" name="Text 6"/>
          <p:cNvSpPr txBox="1"/>
          <p:nvPr/>
        </p:nvSpPr>
        <p:spPr>
          <a:xfrm>
            <a:off x="4297680" y="1783080"/>
            <a:ext cx="4480560" cy="411480"/>
          </a:xfrm>
          <a:prstGeom prst="rect">
            <a:avLst/>
          </a:prstGeom>
          <a:noFill/>
          <a:ln/>
        </p:spPr>
        <p:txBody>
          <a:bodyPr wrap="square" lIns="0" tIns="0" rIns="0" bIns="0" rtlCol="0" anchor="t"/>
          <a:lstStyle/>
          <a:p>
            <a:pPr indent="0" marL="0">
              <a:buNone/>
            </a:pPr>
            <a:r>
              <a:rPr lang="en-US" sz="1500" dirty="0">
                <a:solidFill>
                  <a:schemeClr val="tx2"/>
                </a:solidFill>
              </a:rPr>
              <a:t>Unknown segment, new variable, out of scope</a:t>
            </a:r>
            <a:endParaRPr lang="en-US" sz="1500" dirty="0"/>
          </a:p>
        </p:txBody>
      </p:sp>
      <p:sp>
        <p:nvSpPr>
          <p:cNvPr id="10" name="Text 7"/>
          <p:cNvSpPr txBox="1"/>
          <p:nvPr/>
        </p:nvSpPr>
        <p:spPr>
          <a:xfrm>
            <a:off x="8869680" y="1783080"/>
            <a:ext cx="2651760" cy="411480"/>
          </a:xfrm>
          <a:prstGeom prst="rect">
            <a:avLst/>
          </a:prstGeom>
          <a:noFill/>
          <a:ln/>
        </p:spPr>
        <p:txBody>
          <a:bodyPr wrap="square" lIns="0" tIns="0" rIns="0" bIns="0" rtlCol="0" anchor="t"/>
          <a:lstStyle/>
          <a:p>
            <a:pPr indent="0" marL="0">
              <a:buNone/>
            </a:pPr>
            <a:r>
              <a:rPr lang="en-US" sz="1400" b="1" dirty="0">
                <a:solidFill>
                  <a:schemeClr val="accent4"/>
                </a:solidFill>
                <a:latin typeface="Courier New" pitchFamily="34" charset="0"/>
                <a:ea typeface="Courier New" pitchFamily="34" charset="-122"/>
                <a:cs typeface="Courier New" pitchFamily="34" charset="-120"/>
              </a:rPr>
              <a:t>REJECTED_NO_CHANGE</a:t>
            </a:r>
            <a:endParaRPr lang="en-US" sz="1400" dirty="0"/>
          </a:p>
        </p:txBody>
      </p:sp>
      <p:sp>
        <p:nvSpPr>
          <p:cNvPr id="11" name="Shape 8"/>
          <p:cNvSpPr/>
          <p:nvPr/>
        </p:nvSpPr>
        <p:spPr>
          <a:xfrm>
            <a:off x="548640" y="2468880"/>
            <a:ext cx="11064240" cy="749808"/>
          </a:xfrm>
          <a:prstGeom prst="roundRect">
            <a:avLst>
              <a:gd name="adj" fmla="val 12195"/>
            </a:avLst>
          </a:prstGeom>
          <a:solidFill>
            <a:schemeClr val="bg2"/>
          </a:solidFill>
          <a:ln w="9525">
            <a:solidFill>
              <a:schemeClr val="bg2"/>
            </a:solidFill>
            <a:prstDash val="solid"/>
          </a:ln>
        </p:spPr>
      </p:sp>
      <p:sp>
        <p:nvSpPr>
          <p:cNvPr id="12" name="Shape 9"/>
          <p:cNvSpPr/>
          <p:nvPr/>
        </p:nvSpPr>
        <p:spPr>
          <a:xfrm>
            <a:off x="777240" y="2615184"/>
            <a:ext cx="457200" cy="457200"/>
          </a:xfrm>
          <a:prstGeom prst="ellipse">
            <a:avLst/>
          </a:prstGeom>
          <a:solidFill>
            <a:schemeClr val="accent2"/>
          </a:solidFill>
          <a:ln w="12700">
            <a:solidFill>
              <a:schemeClr val="accent2"/>
            </a:solidFill>
            <a:prstDash val="solid"/>
          </a:ln>
        </p:spPr>
      </p:sp>
      <p:sp>
        <p:nvSpPr>
          <p:cNvPr id="13" name="Text 10"/>
          <p:cNvSpPr txBox="1"/>
          <p:nvPr/>
        </p:nvSpPr>
        <p:spPr>
          <a:xfrm>
            <a:off x="777240" y="261518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1"/>
          <p:cNvSpPr txBox="1"/>
          <p:nvPr/>
        </p:nvSpPr>
        <p:spPr>
          <a:xfrm>
            <a:off x="1417320" y="2651760"/>
            <a:ext cx="2834640" cy="411480"/>
          </a:xfrm>
          <a:prstGeom prst="rect">
            <a:avLst/>
          </a:prstGeom>
          <a:noFill/>
          <a:ln/>
        </p:spPr>
        <p:txBody>
          <a:bodyPr wrap="square" lIns="0" tIns="0" rIns="0" bIns="0" rtlCol="0" anchor="t"/>
          <a:lstStyle/>
          <a:p>
            <a:pPr indent="0" marL="0">
              <a:buNone/>
            </a:pPr>
            <a:r>
              <a:rPr lang="en-US" sz="1800" b="1" dirty="0">
                <a:solidFill>
                  <a:schemeClr val="tx1"/>
                </a:solidFill>
              </a:rPr>
              <a:t>Format validation</a:t>
            </a:r>
            <a:endParaRPr lang="en-US" sz="1800" dirty="0"/>
          </a:p>
        </p:txBody>
      </p:sp>
      <p:sp>
        <p:nvSpPr>
          <p:cNvPr id="15" name="Text 12"/>
          <p:cNvSpPr txBox="1"/>
          <p:nvPr/>
        </p:nvSpPr>
        <p:spPr>
          <a:xfrm>
            <a:off x="4297680" y="2651760"/>
            <a:ext cx="4480560" cy="411480"/>
          </a:xfrm>
          <a:prstGeom prst="rect">
            <a:avLst/>
          </a:prstGeom>
          <a:noFill/>
          <a:ln/>
        </p:spPr>
        <p:txBody>
          <a:bodyPr wrap="square" lIns="0" tIns="0" rIns="0" bIns="0" rtlCol="0" anchor="t"/>
          <a:lstStyle/>
          <a:p>
            <a:pPr indent="0" marL="0">
              <a:buNone/>
            </a:pPr>
            <a:r>
              <a:rPr lang="en-US" sz="1500" dirty="0">
                <a:solidFill>
                  <a:schemeClr val="tx2"/>
                </a:solidFill>
              </a:rPr>
              <a:t>7 checks: field, values, bounds, empty change…</a:t>
            </a:r>
            <a:endParaRPr lang="en-US" sz="1500" dirty="0"/>
          </a:p>
        </p:txBody>
      </p:sp>
      <p:sp>
        <p:nvSpPr>
          <p:cNvPr id="16" name="Text 13"/>
          <p:cNvSpPr txBox="1"/>
          <p:nvPr/>
        </p:nvSpPr>
        <p:spPr>
          <a:xfrm>
            <a:off x="8869680" y="2651760"/>
            <a:ext cx="2651760" cy="411480"/>
          </a:xfrm>
          <a:prstGeom prst="rect">
            <a:avLst/>
          </a:prstGeom>
          <a:noFill/>
          <a:ln/>
        </p:spPr>
        <p:txBody>
          <a:bodyPr wrap="square" lIns="0" tIns="0" rIns="0" bIns="0" rtlCol="0" anchor="t"/>
          <a:lstStyle/>
          <a:p>
            <a:pPr indent="0" marL="0">
              <a:buNone/>
            </a:pPr>
            <a:r>
              <a:rPr lang="en-US" sz="1400" b="1" dirty="0">
                <a:solidFill>
                  <a:schemeClr val="accent4"/>
                </a:solidFill>
                <a:latin typeface="Courier New" pitchFamily="34" charset="0"/>
                <a:ea typeface="Courier New" pitchFamily="34" charset="-122"/>
                <a:cs typeface="Courier New" pitchFamily="34" charset="-120"/>
              </a:rPr>
              <a:t>REJECTED_VALIDATION</a:t>
            </a:r>
            <a:endParaRPr lang="en-US" sz="1400" dirty="0"/>
          </a:p>
        </p:txBody>
      </p:sp>
      <p:sp>
        <p:nvSpPr>
          <p:cNvPr id="17" name="Shape 14"/>
          <p:cNvSpPr/>
          <p:nvPr/>
        </p:nvSpPr>
        <p:spPr>
          <a:xfrm>
            <a:off x="548640" y="3337560"/>
            <a:ext cx="11064240" cy="749808"/>
          </a:xfrm>
          <a:prstGeom prst="roundRect">
            <a:avLst>
              <a:gd name="adj" fmla="val 12195"/>
            </a:avLst>
          </a:prstGeom>
          <a:solidFill>
            <a:schemeClr val="bg2"/>
          </a:solidFill>
          <a:ln w="9525">
            <a:solidFill>
              <a:schemeClr val="bg2"/>
            </a:solidFill>
            <a:prstDash val="solid"/>
          </a:ln>
        </p:spPr>
      </p:sp>
      <p:sp>
        <p:nvSpPr>
          <p:cNvPr id="18" name="Shape 15"/>
          <p:cNvSpPr/>
          <p:nvPr/>
        </p:nvSpPr>
        <p:spPr>
          <a:xfrm>
            <a:off x="777240" y="3483864"/>
            <a:ext cx="457200" cy="457200"/>
          </a:xfrm>
          <a:prstGeom prst="ellipse">
            <a:avLst/>
          </a:prstGeom>
          <a:solidFill>
            <a:schemeClr val="accent2"/>
          </a:solidFill>
          <a:ln w="12700">
            <a:solidFill>
              <a:schemeClr val="accent2"/>
            </a:solidFill>
            <a:prstDash val="solid"/>
          </a:ln>
        </p:spPr>
      </p:sp>
      <p:sp>
        <p:nvSpPr>
          <p:cNvPr id="19" name="Text 16"/>
          <p:cNvSpPr txBox="1"/>
          <p:nvPr/>
        </p:nvSpPr>
        <p:spPr>
          <a:xfrm>
            <a:off x="777240" y="348386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0" name="Text 17"/>
          <p:cNvSpPr txBox="1"/>
          <p:nvPr/>
        </p:nvSpPr>
        <p:spPr>
          <a:xfrm>
            <a:off x="1417320" y="3520440"/>
            <a:ext cx="2834640" cy="411480"/>
          </a:xfrm>
          <a:prstGeom prst="rect">
            <a:avLst/>
          </a:prstGeom>
          <a:noFill/>
          <a:ln/>
        </p:spPr>
        <p:txBody>
          <a:bodyPr wrap="square" lIns="0" tIns="0" rIns="0" bIns="0" rtlCol="0" anchor="t"/>
          <a:lstStyle/>
          <a:p>
            <a:pPr indent="0" marL="0">
              <a:buNone/>
            </a:pPr>
            <a:r>
              <a:rPr lang="en-US" sz="1800" b="1" dirty="0">
                <a:solidFill>
                  <a:schemeClr val="tx1"/>
                </a:solidFill>
              </a:rPr>
              <a:t>Impact simulation</a:t>
            </a:r>
            <a:endParaRPr lang="en-US" sz="1800" dirty="0"/>
          </a:p>
        </p:txBody>
      </p:sp>
      <p:sp>
        <p:nvSpPr>
          <p:cNvPr id="21" name="Text 18"/>
          <p:cNvSpPr txBox="1"/>
          <p:nvPr/>
        </p:nvSpPr>
        <p:spPr>
          <a:xfrm>
            <a:off x="4297680" y="3520440"/>
            <a:ext cx="4480560" cy="411480"/>
          </a:xfrm>
          <a:prstGeom prst="rect">
            <a:avLst/>
          </a:prstGeom>
          <a:noFill/>
          <a:ln/>
        </p:spPr>
        <p:txBody>
          <a:bodyPr wrap="square" lIns="0" tIns="0" rIns="0" bIns="0" rtlCol="0" anchor="t"/>
          <a:lstStyle/>
          <a:p>
            <a:pPr indent="0" marL="0">
              <a:buNone/>
            </a:pPr>
            <a:r>
              <a:rPr lang="en-US" sz="1500" dirty="0">
                <a:solidFill>
                  <a:schemeClr val="tx2"/>
                </a:solidFill>
              </a:rPr>
              <a:t>All 6,000 customers recomputed before / after</a:t>
            </a:r>
            <a:endParaRPr lang="en-US" sz="1500" dirty="0"/>
          </a:p>
        </p:txBody>
      </p:sp>
      <p:sp>
        <p:nvSpPr>
          <p:cNvPr id="22" name="Text 19"/>
          <p:cNvSpPr txBox="1"/>
          <p:nvPr/>
        </p:nvSpPr>
        <p:spPr>
          <a:xfrm>
            <a:off x="8869680" y="3520440"/>
            <a:ext cx="2651760" cy="411480"/>
          </a:xfrm>
          <a:prstGeom prst="rect">
            <a:avLst/>
          </a:prstGeom>
          <a:noFill/>
          <a:ln/>
        </p:spPr>
        <p:txBody>
          <a:bodyPr wrap="square" lIns="0" tIns="0" rIns="0" bIns="0" rtlCol="0" anchor="t"/>
          <a:lstStyle/>
          <a:p>
            <a:pPr indent="0" marL="0">
              <a:buNone/>
            </a:pPr>
            <a:r>
              <a:rPr lang="en-US" sz="1400" b="1" dirty="0">
                <a:solidFill>
                  <a:schemeClr val="accent6"/>
                </a:solidFill>
                <a:latin typeface="Courier New" pitchFamily="34" charset="0"/>
                <a:ea typeface="Courier New" pitchFamily="34" charset="-122"/>
                <a:cs typeface="Courier New" pitchFamily="34" charset="-120"/>
              </a:rPr>
              <a:t>figures, per segment</a:t>
            </a:r>
            <a:endParaRPr lang="en-US" sz="1400" dirty="0"/>
          </a:p>
        </p:txBody>
      </p:sp>
      <p:sp>
        <p:nvSpPr>
          <p:cNvPr id="23" name="Shape 20"/>
          <p:cNvSpPr/>
          <p:nvPr/>
        </p:nvSpPr>
        <p:spPr>
          <a:xfrm>
            <a:off x="548640" y="4206240"/>
            <a:ext cx="11064240" cy="749808"/>
          </a:xfrm>
          <a:prstGeom prst="roundRect">
            <a:avLst>
              <a:gd name="adj" fmla="val 12195"/>
            </a:avLst>
          </a:prstGeom>
          <a:solidFill>
            <a:schemeClr val="bg2"/>
          </a:solidFill>
          <a:ln w="9525">
            <a:solidFill>
              <a:schemeClr val="bg2"/>
            </a:solidFill>
            <a:prstDash val="solid"/>
          </a:ln>
        </p:spPr>
      </p:sp>
      <p:sp>
        <p:nvSpPr>
          <p:cNvPr id="24" name="Shape 21"/>
          <p:cNvSpPr/>
          <p:nvPr/>
        </p:nvSpPr>
        <p:spPr>
          <a:xfrm>
            <a:off x="777240" y="4352544"/>
            <a:ext cx="457200" cy="457200"/>
          </a:xfrm>
          <a:prstGeom prst="ellipse">
            <a:avLst/>
          </a:prstGeom>
          <a:solidFill>
            <a:schemeClr val="accent2"/>
          </a:solidFill>
          <a:ln w="12700">
            <a:solidFill>
              <a:schemeClr val="accent2"/>
            </a:solidFill>
            <a:prstDash val="solid"/>
          </a:ln>
        </p:spPr>
      </p:sp>
      <p:sp>
        <p:nvSpPr>
          <p:cNvPr id="25" name="Text 22"/>
          <p:cNvSpPr txBox="1"/>
          <p:nvPr/>
        </p:nvSpPr>
        <p:spPr>
          <a:xfrm>
            <a:off x="777240" y="435254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6" name="Text 23"/>
          <p:cNvSpPr txBox="1"/>
          <p:nvPr/>
        </p:nvSpPr>
        <p:spPr>
          <a:xfrm>
            <a:off x="1417320" y="4389120"/>
            <a:ext cx="2834640" cy="411480"/>
          </a:xfrm>
          <a:prstGeom prst="rect">
            <a:avLst/>
          </a:prstGeom>
          <a:noFill/>
          <a:ln/>
        </p:spPr>
        <p:txBody>
          <a:bodyPr wrap="square" lIns="0" tIns="0" rIns="0" bIns="0" rtlCol="0" anchor="t"/>
          <a:lstStyle/>
          <a:p>
            <a:pPr indent="0" marL="0">
              <a:buNone/>
            </a:pPr>
            <a:r>
              <a:rPr lang="en-US" sz="1800" b="1" dirty="0">
                <a:solidFill>
                  <a:schemeClr val="tx1"/>
                </a:solidFill>
              </a:rPr>
              <a:t>Impact check</a:t>
            </a:r>
            <a:endParaRPr lang="en-US" sz="1800" dirty="0"/>
          </a:p>
        </p:txBody>
      </p:sp>
      <p:sp>
        <p:nvSpPr>
          <p:cNvPr id="27" name="Text 24"/>
          <p:cNvSpPr txBox="1"/>
          <p:nvPr/>
        </p:nvSpPr>
        <p:spPr>
          <a:xfrm>
            <a:off x="4297680" y="4389120"/>
            <a:ext cx="4480560" cy="411480"/>
          </a:xfrm>
          <a:prstGeom prst="rect">
            <a:avLst/>
          </a:prstGeom>
          <a:noFill/>
          <a:ln/>
        </p:spPr>
        <p:txBody>
          <a:bodyPr wrap="square" lIns="0" tIns="0" rIns="0" bIns="0" rtlCol="0" anchor="t"/>
          <a:lstStyle/>
          <a:p>
            <a:pPr indent="0" marL="0">
              <a:buNone/>
            </a:pPr>
            <a:r>
              <a:rPr lang="en-US" sz="1500" dirty="0">
                <a:solidFill>
                  <a:schemeClr val="tx2"/>
                </a:solidFill>
              </a:rPr>
              <a:t>Two segments → rejected · no segment → warning</a:t>
            </a:r>
            <a:endParaRPr lang="en-US" sz="1500" dirty="0"/>
          </a:p>
        </p:txBody>
      </p:sp>
      <p:sp>
        <p:nvSpPr>
          <p:cNvPr id="28" name="Text 25"/>
          <p:cNvSpPr txBox="1"/>
          <p:nvPr/>
        </p:nvSpPr>
        <p:spPr>
          <a:xfrm>
            <a:off x="8869680" y="4389120"/>
            <a:ext cx="2651760" cy="411480"/>
          </a:xfrm>
          <a:prstGeom prst="rect">
            <a:avLst/>
          </a:prstGeom>
          <a:noFill/>
          <a:ln/>
        </p:spPr>
        <p:txBody>
          <a:bodyPr wrap="square" lIns="0" tIns="0" rIns="0" bIns="0" rtlCol="0" anchor="t"/>
          <a:lstStyle/>
          <a:p>
            <a:pPr indent="0" marL="0">
              <a:buNone/>
            </a:pPr>
            <a:r>
              <a:rPr lang="en-US" sz="1400" b="1" dirty="0">
                <a:solidFill>
                  <a:schemeClr val="accent4"/>
                </a:solidFill>
                <a:latin typeface="Courier New" pitchFamily="34" charset="0"/>
                <a:ea typeface="Courier New" pitchFamily="34" charset="-122"/>
                <a:cs typeface="Courier New" pitchFamily="34" charset="-120"/>
              </a:rPr>
              <a:t>REJECTED_IMPACT</a:t>
            </a:r>
            <a:endParaRPr lang="en-US" sz="1400" dirty="0"/>
          </a:p>
        </p:txBody>
      </p:sp>
      <p:sp>
        <p:nvSpPr>
          <p:cNvPr id="29" name="Shape 26"/>
          <p:cNvSpPr/>
          <p:nvPr/>
        </p:nvSpPr>
        <p:spPr>
          <a:xfrm>
            <a:off x="548640" y="5074920"/>
            <a:ext cx="11064240" cy="749808"/>
          </a:xfrm>
          <a:prstGeom prst="roundRect">
            <a:avLst>
              <a:gd name="adj" fmla="val 12195"/>
            </a:avLst>
          </a:prstGeom>
          <a:solidFill>
            <a:srgbClr val="DCE5F8"/>
          </a:solidFill>
          <a:ln w="9525">
            <a:solidFill>
              <a:srgbClr val="DCE5F8"/>
            </a:solidFill>
            <a:prstDash val="solid"/>
          </a:ln>
        </p:spPr>
      </p:sp>
      <p:sp>
        <p:nvSpPr>
          <p:cNvPr id="30" name="Shape 27"/>
          <p:cNvSpPr/>
          <p:nvPr/>
        </p:nvSpPr>
        <p:spPr>
          <a:xfrm>
            <a:off x="777240" y="5221224"/>
            <a:ext cx="457200" cy="457200"/>
          </a:xfrm>
          <a:prstGeom prst="ellipse">
            <a:avLst/>
          </a:prstGeom>
          <a:solidFill>
            <a:schemeClr val="accent2"/>
          </a:solidFill>
          <a:ln w="12700">
            <a:solidFill>
              <a:schemeClr val="accent2"/>
            </a:solidFill>
            <a:prstDash val="solid"/>
          </a:ln>
        </p:spPr>
      </p:sp>
      <p:sp>
        <p:nvSpPr>
          <p:cNvPr id="31" name="Text 28"/>
          <p:cNvSpPr txBox="1"/>
          <p:nvPr/>
        </p:nvSpPr>
        <p:spPr>
          <a:xfrm>
            <a:off x="777240" y="522122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2" name="Text 29"/>
          <p:cNvSpPr txBox="1"/>
          <p:nvPr/>
        </p:nvSpPr>
        <p:spPr>
          <a:xfrm>
            <a:off x="1417320" y="5257800"/>
            <a:ext cx="2834640" cy="411480"/>
          </a:xfrm>
          <a:prstGeom prst="rect">
            <a:avLst/>
          </a:prstGeom>
          <a:noFill/>
          <a:ln/>
        </p:spPr>
        <p:txBody>
          <a:bodyPr wrap="square" lIns="0" tIns="0" rIns="0" bIns="0" rtlCol="0" anchor="t"/>
          <a:lstStyle/>
          <a:p>
            <a:pPr indent="0" marL="0">
              <a:buNone/>
            </a:pPr>
            <a:r>
              <a:rPr lang="en-US" sz="1800" b="1" dirty="0">
                <a:solidFill>
                  <a:schemeClr val="tx1"/>
                </a:solidFill>
              </a:rPr>
              <a:t>Traced application</a:t>
            </a:r>
            <a:endParaRPr lang="en-US" sz="1800" dirty="0"/>
          </a:p>
        </p:txBody>
      </p:sp>
      <p:sp>
        <p:nvSpPr>
          <p:cNvPr id="33" name="Text 30"/>
          <p:cNvSpPr txBox="1"/>
          <p:nvPr/>
        </p:nvSpPr>
        <p:spPr>
          <a:xfrm>
            <a:off x="4297680" y="5257800"/>
            <a:ext cx="4480560" cy="411480"/>
          </a:xfrm>
          <a:prstGeom prst="rect">
            <a:avLst/>
          </a:prstGeom>
          <a:noFill/>
          <a:ln/>
        </p:spPr>
        <p:txBody>
          <a:bodyPr wrap="square" lIns="0" tIns="0" rIns="0" bIns="0" rtlCol="0" anchor="t"/>
          <a:lstStyle/>
          <a:p>
            <a:pPr indent="0" marL="0">
              <a:buNone/>
            </a:pPr>
            <a:r>
              <a:rPr lang="en-US" sz="1500" dirty="0">
                <a:solidFill>
                  <a:schemeClr val="tx2"/>
                </a:solidFill>
              </a:rPr>
              <a:t>Rules copied before / after + a log line</a:t>
            </a:r>
            <a:endParaRPr lang="en-US" sz="1500" dirty="0"/>
          </a:p>
        </p:txBody>
      </p:sp>
      <p:sp>
        <p:nvSpPr>
          <p:cNvPr id="34" name="Text 31"/>
          <p:cNvSpPr txBox="1"/>
          <p:nvPr/>
        </p:nvSpPr>
        <p:spPr>
          <a:xfrm>
            <a:off x="8869680" y="5257800"/>
            <a:ext cx="2651760" cy="411480"/>
          </a:xfrm>
          <a:prstGeom prst="rect">
            <a:avLst/>
          </a:prstGeom>
          <a:noFill/>
          <a:ln/>
        </p:spPr>
        <p:txBody>
          <a:bodyPr wrap="square" lIns="0" tIns="0" rIns="0" bIns="0" rtlCol="0" anchor="t"/>
          <a:lstStyle/>
          <a:p>
            <a:pPr indent="0" marL="0">
              <a:buNone/>
            </a:pPr>
            <a:r>
              <a:rPr lang="en-US" sz="1400" b="1" dirty="0">
                <a:solidFill>
                  <a:schemeClr val="accent3"/>
                </a:solidFill>
                <a:latin typeface="Courier New" pitchFamily="34" charset="0"/>
                <a:ea typeface="Courier New" pitchFamily="34" charset="-122"/>
                <a:cs typeface="Courier New" pitchFamily="34" charset="-120"/>
              </a:rPr>
              <a:t>APPLIED</a:t>
            </a:r>
            <a:endParaRPr lang="en-US" sz="1400" dirty="0"/>
          </a:p>
        </p:txBody>
      </p:sp>
      <p:sp>
        <p:nvSpPr>
          <p:cNvPr id="35" name="Text 32"/>
          <p:cNvSpPr txBox="1"/>
          <p:nvPr/>
        </p:nvSpPr>
        <p:spPr>
          <a:xfrm>
            <a:off x="548640" y="5989320"/>
            <a:ext cx="11064240" cy="365760"/>
          </a:xfrm>
          <a:prstGeom prst="rect">
            <a:avLst/>
          </a:prstGeom>
          <a:noFill/>
          <a:ln/>
        </p:spPr>
        <p:txBody>
          <a:bodyPr wrap="square" lIns="0" tIns="0" rIns="0" bIns="0" rtlCol="0" anchor="t"/>
          <a:lstStyle/>
          <a:p>
            <a:pPr indent="0" marL="0">
              <a:buNone/>
            </a:pPr>
            <a:r>
              <a:rPr lang="en-US" sz="1500" i="1" dirty="0">
                <a:solidFill>
                  <a:schemeClr val="accent6"/>
                </a:solidFill>
              </a:rPr>
              <a:t>No human step: if everything passes it is applied; otherwise it is rejected with the reason.</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LEVEL 2 · EVERY GUARDRAIL TESTED</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Ten guardrails, ten real tests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377440"/>
                <a:gridCol w="2743200"/>
                <a:gridCol w="5943600"/>
              </a:tblGrid>
              <a:tr h="393192">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Control</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Change tested</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Message returned by the engine</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r>
              <a:tr h="393192">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Unknown segment</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disable C99</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Unknown segment_id 'C99'.</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r>
              <a:tr h="393192">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New variable</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add "age"</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Field 'age' is not editable (adding a variable is not allowed).</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r h="393192">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Value not allowed</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intensity "SUPER"</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offer_intensity must be one of [NONE, NORMAL, …].</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r>
              <a:tr h="393192">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Risk format</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risk "HIGH"</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risk_combos must be ANY or like |POS-LOW|FLAT-MED|.</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r h="393192">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Non-integer bound</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tenure_max = "ninety"</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tenure_max must be an integer, got 'ninety'.</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r>
              <a:tr h="393192">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Inconsistent bounds</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C05 days-late min = 40</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Change would make a MIN &gt;= MAX bound.</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r h="393192">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Empty change</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C07 NORMAL → NORMAL</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No-op: C07 offer_intensity is already 'NORMAL'.</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r>
              <a:tr h="393192">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Nothing applicable</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"Premium Gold" segment</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No applicable change: … not in the current rules.</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r h="393192">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Overlap</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BE3DF"/>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C05 days-late max 15 → 20</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BE3DF"/>
                    </a:solidFill>
                  </a:tcPr>
                </a:tc>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REJECTED: 45 customers would match two segments.</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BE3DF"/>
                    </a:solidFill>
                  </a:tcPr>
                </a:tc>
              </a:tr>
              <a:tr h="393192">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No segment</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2CC"/>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disable C14</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2CC"/>
                    </a:solidFill>
                  </a:tcPr>
                </a:tc>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APPLIED + warning: 221 customers will no longer receive any offer.</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2CC"/>
                    </a:solidFill>
                  </a:tcPr>
                </a:tc>
              </a:tr>
            </a:tbl>
          </a:graphicData>
        </a:graphic>
      </p:graphicFrame>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LEVEL 2 · WHY OVERLAPS ARE REJECTED</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"Extend the Champion Nudge window to 20 days late"</a:t>
            </a:r>
            <a:endParaRPr lang="en-US" sz="3000" dirty="0"/>
          </a:p>
        </p:txBody>
      </p:sp>
      <p:sp>
        <p:nvSpPr>
          <p:cNvPr id="5" name="Text 2"/>
          <p:cNvSpPr txBox="1"/>
          <p:nvPr/>
        </p:nvSpPr>
        <p:spPr>
          <a:xfrm>
            <a:off x="548640" y="1965960"/>
            <a:ext cx="1645920" cy="457200"/>
          </a:xfrm>
          <a:prstGeom prst="rect">
            <a:avLst/>
          </a:prstGeom>
          <a:noFill/>
          <a:ln/>
        </p:spPr>
        <p:txBody>
          <a:bodyPr wrap="square" lIns="0" tIns="0" rIns="0" bIns="0" rtlCol="0" anchor="t"/>
          <a:lstStyle/>
          <a:p>
            <a:pPr indent="0" marL="0">
              <a:buNone/>
            </a:pPr>
            <a:r>
              <a:rPr lang="en-US" sz="2000" b="1" dirty="0">
                <a:solidFill>
                  <a:schemeClr val="tx1"/>
                </a:solidFill>
              </a:rPr>
              <a:t>Before</a:t>
            </a:r>
            <a:endParaRPr lang="en-US" sz="2000" dirty="0"/>
          </a:p>
        </p:txBody>
      </p:sp>
      <p:sp>
        <p:nvSpPr>
          <p:cNvPr id="6" name="Shape 3"/>
          <p:cNvSpPr/>
          <p:nvPr/>
        </p:nvSpPr>
        <p:spPr>
          <a:xfrm>
            <a:off x="2377440" y="1828800"/>
            <a:ext cx="2697480" cy="731520"/>
          </a:xfrm>
          <a:prstGeom prst="roundRect">
            <a:avLst>
              <a:gd name="adj" fmla="val 12500"/>
            </a:avLst>
          </a:prstGeom>
          <a:solidFill>
            <a:srgbClr val="DCE5F8"/>
          </a:solidFill>
          <a:ln w="9525">
            <a:solidFill>
              <a:srgbClr val="DCE5F8"/>
            </a:solidFill>
            <a:prstDash val="solid"/>
          </a:ln>
        </p:spPr>
      </p:sp>
      <p:sp>
        <p:nvSpPr>
          <p:cNvPr id="7" name="Text 4"/>
          <p:cNvSpPr txBox="1"/>
          <p:nvPr/>
        </p:nvSpPr>
        <p:spPr>
          <a:xfrm>
            <a:off x="2560320" y="1828800"/>
            <a:ext cx="2560320" cy="731520"/>
          </a:xfrm>
          <a:prstGeom prst="rect">
            <a:avLst/>
          </a:prstGeom>
          <a:noFill/>
          <a:ln/>
        </p:spPr>
        <p:txBody>
          <a:bodyPr wrap="square" lIns="0" tIns="0" rIns="0" bIns="0" rtlCol="0" anchor="ctr"/>
          <a:lstStyle/>
          <a:p>
            <a:pPr indent="0" marL="0">
              <a:buNone/>
            </a:pPr>
            <a:r>
              <a:rPr lang="en-US" sz="1400" b="1" dirty="0">
                <a:solidFill>
                  <a:schemeClr val="tx1"/>
                </a:solidFill>
              </a:rPr>
              <a:t>C05 Champion Nudge · 4–14 days</a:t>
            </a:r>
            <a:endParaRPr lang="en-US" sz="1400" dirty="0"/>
          </a:p>
        </p:txBody>
      </p:sp>
      <p:sp>
        <p:nvSpPr>
          <p:cNvPr id="8" name="Shape 5"/>
          <p:cNvSpPr/>
          <p:nvPr/>
        </p:nvSpPr>
        <p:spPr>
          <a:xfrm>
            <a:off x="5120640" y="1828800"/>
            <a:ext cx="6400800" cy="731520"/>
          </a:xfrm>
          <a:prstGeom prst="roundRect">
            <a:avLst>
              <a:gd name="adj" fmla="val 12500"/>
            </a:avLst>
          </a:prstGeom>
          <a:solidFill>
            <a:srgbClr val="F7D9C4"/>
          </a:solidFill>
          <a:ln w="9525">
            <a:solidFill>
              <a:srgbClr val="F7D9C4"/>
            </a:solidFill>
            <a:prstDash val="solid"/>
          </a:ln>
        </p:spPr>
      </p:sp>
      <p:sp>
        <p:nvSpPr>
          <p:cNvPr id="9" name="Text 6"/>
          <p:cNvSpPr txBox="1"/>
          <p:nvPr/>
        </p:nvSpPr>
        <p:spPr>
          <a:xfrm>
            <a:off x="5303520" y="1828800"/>
            <a:ext cx="4572000" cy="731520"/>
          </a:xfrm>
          <a:prstGeom prst="rect">
            <a:avLst/>
          </a:prstGeom>
          <a:noFill/>
          <a:ln/>
        </p:spPr>
        <p:txBody>
          <a:bodyPr wrap="square" lIns="0" tIns="0" rIns="0" bIns="0" rtlCol="0" anchor="ctr"/>
          <a:lstStyle/>
          <a:p>
            <a:pPr indent="0" marL="0">
              <a:buNone/>
            </a:pPr>
            <a:r>
              <a:rPr lang="en-US" sz="1400" b="1" dirty="0">
                <a:solidFill>
                  <a:schemeClr val="tx1"/>
                </a:solidFill>
              </a:rPr>
              <a:t>C06 Champion Recovery · 15+ days</a:t>
            </a:r>
            <a:endParaRPr lang="en-US" sz="1400" dirty="0"/>
          </a:p>
        </p:txBody>
      </p:sp>
      <p:sp>
        <p:nvSpPr>
          <p:cNvPr id="10" name="Text 7"/>
          <p:cNvSpPr txBox="1"/>
          <p:nvPr/>
        </p:nvSpPr>
        <p:spPr>
          <a:xfrm>
            <a:off x="548640" y="3246120"/>
            <a:ext cx="1645920" cy="457200"/>
          </a:xfrm>
          <a:prstGeom prst="rect">
            <a:avLst/>
          </a:prstGeom>
          <a:noFill/>
          <a:ln/>
        </p:spPr>
        <p:txBody>
          <a:bodyPr wrap="square" lIns="0" tIns="0" rIns="0" bIns="0" rtlCol="0" anchor="t"/>
          <a:lstStyle/>
          <a:p>
            <a:pPr indent="0" marL="0">
              <a:buNone/>
            </a:pPr>
            <a:r>
              <a:rPr lang="en-US" sz="2000" b="1" dirty="0">
                <a:solidFill>
                  <a:schemeClr val="tx1"/>
                </a:solidFill>
              </a:rPr>
              <a:t>After</a:t>
            </a:r>
            <a:endParaRPr lang="en-US" sz="2000" dirty="0"/>
          </a:p>
        </p:txBody>
      </p:sp>
      <p:sp>
        <p:nvSpPr>
          <p:cNvPr id="11" name="Shape 8"/>
          <p:cNvSpPr/>
          <p:nvPr/>
        </p:nvSpPr>
        <p:spPr>
          <a:xfrm>
            <a:off x="2377440" y="3108960"/>
            <a:ext cx="4389120" cy="731520"/>
          </a:xfrm>
          <a:prstGeom prst="roundRect">
            <a:avLst>
              <a:gd name="adj" fmla="val 12500"/>
            </a:avLst>
          </a:prstGeom>
          <a:solidFill>
            <a:srgbClr val="DCE5F8"/>
          </a:solidFill>
          <a:ln w="25400">
            <a:solidFill>
              <a:schemeClr val="tx1"/>
            </a:solidFill>
            <a:prstDash val="solid"/>
          </a:ln>
        </p:spPr>
      </p:sp>
      <p:sp>
        <p:nvSpPr>
          <p:cNvPr id="12" name="Text 9"/>
          <p:cNvSpPr txBox="1"/>
          <p:nvPr/>
        </p:nvSpPr>
        <p:spPr>
          <a:xfrm>
            <a:off x="2560320" y="3108960"/>
            <a:ext cx="3657600" cy="731520"/>
          </a:xfrm>
          <a:prstGeom prst="rect">
            <a:avLst/>
          </a:prstGeom>
          <a:noFill/>
          <a:ln/>
        </p:spPr>
        <p:txBody>
          <a:bodyPr wrap="square" lIns="0" tIns="0" rIns="0" bIns="0" rtlCol="0" anchor="ctr"/>
          <a:lstStyle/>
          <a:p>
            <a:pPr indent="0" marL="0">
              <a:buNone/>
            </a:pPr>
            <a:r>
              <a:rPr lang="en-US" sz="1400" b="1" dirty="0">
                <a:solidFill>
                  <a:schemeClr val="tx1"/>
                </a:solidFill>
              </a:rPr>
              <a:t>C05 Champion Nudge · 4–19 days</a:t>
            </a:r>
            <a:endParaRPr lang="en-US" sz="1400" dirty="0"/>
          </a:p>
        </p:txBody>
      </p:sp>
      <p:sp>
        <p:nvSpPr>
          <p:cNvPr id="13" name="Shape 10"/>
          <p:cNvSpPr/>
          <p:nvPr/>
        </p:nvSpPr>
        <p:spPr>
          <a:xfrm>
            <a:off x="5120640" y="3977640"/>
            <a:ext cx="6400800" cy="731520"/>
          </a:xfrm>
          <a:prstGeom prst="roundRect">
            <a:avLst>
              <a:gd name="adj" fmla="val 12500"/>
            </a:avLst>
          </a:prstGeom>
          <a:solidFill>
            <a:srgbClr val="F7D9C4"/>
          </a:solidFill>
          <a:ln w="9525">
            <a:solidFill>
              <a:srgbClr val="F7D9C4"/>
            </a:solidFill>
            <a:prstDash val="solid"/>
          </a:ln>
        </p:spPr>
      </p:sp>
      <p:sp>
        <p:nvSpPr>
          <p:cNvPr id="14" name="Text 11"/>
          <p:cNvSpPr txBox="1"/>
          <p:nvPr/>
        </p:nvSpPr>
        <p:spPr>
          <a:xfrm>
            <a:off x="7498080" y="3977640"/>
            <a:ext cx="4023360" cy="731520"/>
          </a:xfrm>
          <a:prstGeom prst="rect">
            <a:avLst/>
          </a:prstGeom>
          <a:noFill/>
          <a:ln/>
        </p:spPr>
        <p:txBody>
          <a:bodyPr wrap="square" lIns="0" tIns="0" rIns="0" bIns="0" rtlCol="0" anchor="ctr"/>
          <a:lstStyle/>
          <a:p>
            <a:pPr indent="0" marL="0">
              <a:buNone/>
            </a:pPr>
            <a:r>
              <a:rPr lang="en-US" sz="1400" b="1" dirty="0">
                <a:solidFill>
                  <a:schemeClr val="tx1"/>
                </a:solidFill>
              </a:rPr>
              <a:t>C06 Champion Recovery · 15+ days</a:t>
            </a:r>
            <a:endParaRPr lang="en-US" sz="1400" dirty="0"/>
          </a:p>
        </p:txBody>
      </p:sp>
      <p:sp>
        <p:nvSpPr>
          <p:cNvPr id="15" name="Shape 12"/>
          <p:cNvSpPr/>
          <p:nvPr/>
        </p:nvSpPr>
        <p:spPr>
          <a:xfrm>
            <a:off x="5074920" y="3017520"/>
            <a:ext cx="1737360" cy="1783080"/>
          </a:xfrm>
          <a:prstGeom prst="rect">
            <a:avLst/>
          </a:prstGeom>
          <a:solidFill>
            <a:schemeClr val="accent4">
              <a:alpha val="15000"/>
            </a:schemeClr>
          </a:solidFill>
          <a:ln w="31750">
            <a:solidFill>
              <a:schemeClr val="accent4"/>
            </a:solidFill>
            <a:prstDash val="dash"/>
          </a:ln>
        </p:spPr>
      </p:sp>
      <p:sp>
        <p:nvSpPr>
          <p:cNvPr id="16" name="Text 13"/>
          <p:cNvSpPr txBox="1"/>
          <p:nvPr/>
        </p:nvSpPr>
        <p:spPr>
          <a:xfrm>
            <a:off x="5074920" y="4892040"/>
            <a:ext cx="5486400" cy="365760"/>
          </a:xfrm>
          <a:prstGeom prst="rect">
            <a:avLst/>
          </a:prstGeom>
          <a:noFill/>
          <a:ln/>
        </p:spPr>
        <p:txBody>
          <a:bodyPr wrap="square" lIns="0" tIns="0" rIns="0" bIns="0" rtlCol="0" anchor="t"/>
          <a:lstStyle/>
          <a:p>
            <a:pPr indent="0" marL="0">
              <a:buNone/>
            </a:pPr>
            <a:r>
              <a:rPr lang="en-US" sz="1600" b="1" dirty="0">
                <a:solidFill>
                  <a:schemeClr val="accent4"/>
                </a:solidFill>
              </a:rPr>
              <a:t>15–19 days late: in C05 AND C06</a:t>
            </a:r>
            <a:endParaRPr lang="en-US" sz="1600" dirty="0"/>
          </a:p>
        </p:txBody>
      </p:sp>
      <p:sp>
        <p:nvSpPr>
          <p:cNvPr id="17" name="Text 14"/>
          <p:cNvSpPr txBox="1"/>
          <p:nvPr/>
        </p:nvSpPr>
        <p:spPr>
          <a:xfrm>
            <a:off x="548640" y="5623560"/>
            <a:ext cx="11064240" cy="457200"/>
          </a:xfrm>
          <a:prstGeom prst="rect">
            <a:avLst/>
          </a:prstGeom>
          <a:noFill/>
          <a:ln/>
        </p:spPr>
        <p:txBody>
          <a:bodyPr wrap="square" lIns="0" tIns="0" rIns="0" bIns="0" rtlCol="0" anchor="t"/>
          <a:lstStyle/>
          <a:p>
            <a:pPr indent="0" marL="0">
              <a:buNone/>
            </a:pPr>
            <a:r>
              <a:rPr lang="en-US" sz="1700" dirty="0">
                <a:solidFill>
                  <a:schemeClr val="tx2"/>
                </a:solidFill>
              </a:rPr>
              <a:t>The simulation finds </a:t>
            </a:r>
            <a:pPr indent="0" marL="0">
              <a:buNone/>
            </a:pPr>
            <a:r>
              <a:rPr lang="en-US" sz="1700" b="1" dirty="0">
                <a:solidFill>
                  <a:schemeClr val="tx2"/>
                </a:solidFill>
              </a:rPr>
              <a:t>45 Champions</a:t>
            </a:r>
            <a:pPr indent="0" marL="0">
              <a:buNone/>
            </a:pPr>
            <a:r>
              <a:rPr lang="en-US" sz="1700" dirty="0">
                <a:solidFill>
                  <a:schemeClr val="tx2"/>
                </a:solidFill>
              </a:rPr>
              <a:t> who would get two conflicting offers: the change is </a:t>
            </a:r>
            <a:pPr indent="0" marL="0">
              <a:buNone/>
            </a:pPr>
            <a:r>
              <a:rPr lang="en-US" sz="1700" b="1" dirty="0">
                <a:solidFill>
                  <a:schemeClr val="tx2"/>
                </a:solidFill>
              </a:rPr>
              <a:t>rejected</a:t>
            </a:r>
            <a:pPr indent="0" marL="0">
              <a:buNone/>
            </a:pPr>
            <a:r>
              <a:rPr lang="en-US" sz="1700" dirty="0">
                <a:solidFill>
                  <a:schemeClr val="tx2"/>
                </a:solidFill>
              </a:rPr>
              <a:t> and nothing is modified.</a:t>
            </a:r>
            <a:endParaRPr lang="en-US" sz="17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LEVEL 2 · APP CAPTURE</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The rejection, as the business sees it</a:t>
            </a:r>
            <a:endParaRPr lang="en-US" sz="3000" dirty="0"/>
          </a:p>
        </p:txBody>
      </p:sp>
      <p:sp>
        <p:nvSpPr>
          <p:cNvPr id="5" name="Shape 2"/>
          <p:cNvSpPr/>
          <p:nvPr/>
        </p:nvSpPr>
        <p:spPr>
          <a:xfrm>
            <a:off x="518008" y="1554480"/>
            <a:ext cx="11155680" cy="3893606"/>
          </a:xfrm>
          <a:prstGeom prst="rect">
            <a:avLst/>
          </a:prstGeom>
          <a:solidFill>
            <a:schemeClr val="bg1"/>
          </a:solidFill>
          <a:ln w="12700">
            <a:solidFill>
              <a:srgbClr val="D5D9E2"/>
            </a:solidFill>
            <a:prstDash val="solid"/>
          </a:ln>
        </p:spPr>
      </p:sp>
      <p:pic>
        <p:nvPicPr>
          <p:cNvPr id="6" name="Image 0" descr="App capture: 45 customers in two segments, migration from C06 to MULTIPLE, then 'Change rejected by the impact check: 45 customers would match two segments'">    </p:cNvPr>
          <p:cNvPicPr>
            <a:picLocks noChangeAspect="1"/>
          </p:cNvPicPr>
          <p:nvPr/>
        </p:nvPicPr>
        <p:blipFill>
          <a:blip r:embed="rId1"/>
          <a:stretch>
            <a:fillRect/>
          </a:stretch>
        </p:blipFill>
        <p:spPr>
          <a:xfrm>
            <a:off x="563728" y="1600200"/>
            <a:ext cx="11064240" cy="3802166"/>
          </a:xfrm>
          <a:prstGeom prst="rect">
            <a:avLst/>
          </a:prstGeom>
        </p:spPr>
      </p:pic>
      <p:sp>
        <p:nvSpPr>
          <p:cNvPr id="7" name="Text 3"/>
          <p:cNvSpPr txBox="1"/>
          <p:nvPr/>
        </p:nvSpPr>
        <p:spPr>
          <a:xfrm>
            <a:off x="548640" y="5630966"/>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Decision REJECTED_IMPACT · the rules stay unchanged · the decision is logged.</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LEVEL 2 · APP CAPTURE</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Disabling Silent Last Call: applied, with a warning</a:t>
            </a:r>
            <a:endParaRPr lang="en-US" sz="3000" dirty="0"/>
          </a:p>
        </p:txBody>
      </p:sp>
      <p:sp>
        <p:nvSpPr>
          <p:cNvPr id="5" name="Shape 2"/>
          <p:cNvSpPr/>
          <p:nvPr/>
        </p:nvSpPr>
        <p:spPr>
          <a:xfrm>
            <a:off x="518008" y="1554480"/>
            <a:ext cx="11155680" cy="4061623"/>
          </a:xfrm>
          <a:prstGeom prst="rect">
            <a:avLst/>
          </a:prstGeom>
          <a:solidFill>
            <a:schemeClr val="bg1"/>
          </a:solidFill>
          <a:ln w="12700">
            <a:solidFill>
              <a:srgbClr val="D5D9E2"/>
            </a:solidFill>
            <a:prstDash val="solid"/>
          </a:ln>
        </p:spPr>
      </p:sp>
      <p:pic>
        <p:nvPicPr>
          <p:cNvPr id="6" name="Image 0" descr="App capture: 221 customers without a segment, migration from C14 to UNASSIGNED, yellow warning, then green 'applied automatically'">    </p:cNvPr>
          <p:cNvPicPr>
            <a:picLocks noChangeAspect="1"/>
          </p:cNvPicPr>
          <p:nvPr/>
        </p:nvPicPr>
        <p:blipFill>
          <a:blip r:embed="rId1"/>
          <a:stretch>
            <a:fillRect/>
          </a:stretch>
        </p:blipFill>
        <p:spPr>
          <a:xfrm>
            <a:off x="563728" y="1600200"/>
            <a:ext cx="11064240" cy="3970183"/>
          </a:xfrm>
          <a:prstGeom prst="rect">
            <a:avLst/>
          </a:prstGeom>
        </p:spPr>
      </p:pic>
      <p:sp>
        <p:nvSpPr>
          <p:cNvPr id="7" name="Text 3"/>
          <p:cNvSpPr txBox="1"/>
          <p:nvPr/>
        </p:nvSpPr>
        <p:spPr>
          <a:xfrm>
            <a:off x="548640" y="5798983"/>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Customers left without a segment = a business choice → applied, with the consequence quantified.</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LEVEL 3 · RAG EDITOR</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From plain English to a structured change</a:t>
            </a:r>
            <a:endParaRPr lang="en-US" sz="3000" dirty="0"/>
          </a:p>
        </p:txBody>
      </p:sp>
      <p:sp>
        <p:nvSpPr>
          <p:cNvPr id="5" name="Shape 2"/>
          <p:cNvSpPr/>
          <p:nvPr/>
        </p:nvSpPr>
        <p:spPr>
          <a:xfrm>
            <a:off x="548640" y="1691640"/>
            <a:ext cx="3383280" cy="1920240"/>
          </a:xfrm>
          <a:prstGeom prst="roundRect">
            <a:avLst>
              <a:gd name="adj" fmla="val 4762"/>
            </a:avLst>
          </a:prstGeom>
          <a:solidFill>
            <a:schemeClr val="tx1"/>
          </a:solidFill>
          <a:ln w="9525">
            <a:solidFill>
              <a:schemeClr val="tx1"/>
            </a:solidFill>
            <a:prstDash val="solid"/>
          </a:ln>
        </p:spPr>
      </p:sp>
      <p:sp>
        <p:nvSpPr>
          <p:cNvPr id="6" name="Text 3"/>
          <p:cNvSpPr txBox="1"/>
          <p:nvPr/>
        </p:nvSpPr>
        <p:spPr>
          <a:xfrm>
            <a:off x="822960" y="1874520"/>
            <a:ext cx="2834640" cy="365760"/>
          </a:xfrm>
          <a:prstGeom prst="rect">
            <a:avLst/>
          </a:prstGeom>
          <a:noFill/>
          <a:ln/>
        </p:spPr>
        <p:txBody>
          <a:bodyPr wrap="square" lIns="0" tIns="0" rIns="0" bIns="0" rtlCol="0" anchor="t"/>
          <a:lstStyle/>
          <a:p>
            <a:pPr indent="0" marL="0">
              <a:buNone/>
            </a:pPr>
            <a:r>
              <a:rPr lang="en-US" sz="1400" b="1" spc="100" kern="0" dirty="0">
                <a:solidFill>
                  <a:srgbClr val="E8833A"/>
                </a:solidFill>
              </a:rPr>
              <a:t>1 · REQUEST</a:t>
            </a:r>
            <a:endParaRPr lang="en-US" sz="1400" dirty="0"/>
          </a:p>
        </p:txBody>
      </p:sp>
      <p:sp>
        <p:nvSpPr>
          <p:cNvPr id="7" name="Text 4"/>
          <p:cNvSpPr txBox="1"/>
          <p:nvPr/>
        </p:nvSpPr>
        <p:spPr>
          <a:xfrm>
            <a:off x="822960" y="2331720"/>
            <a:ext cx="2834640" cy="1097280"/>
          </a:xfrm>
          <a:prstGeom prst="rect">
            <a:avLst/>
          </a:prstGeom>
          <a:noFill/>
          <a:ln/>
        </p:spPr>
        <p:txBody>
          <a:bodyPr wrap="square" lIns="0" tIns="0" rIns="0" bIns="0" rtlCol="0" anchor="t"/>
          <a:lstStyle/>
          <a:p>
            <a:pPr indent="0" marL="0">
              <a:buNone/>
            </a:pPr>
            <a:r>
              <a:rPr lang="en-US" sz="1700" dirty="0">
                <a:solidFill>
                  <a:schemeClr val="bg1"/>
                </a:solidFill>
              </a:rPr>
              <a:t>"make the Regular Nudge segment more aggressive"</a:t>
            </a:r>
            <a:endParaRPr lang="en-US" sz="1700" dirty="0"/>
          </a:p>
        </p:txBody>
      </p:sp>
      <p:sp>
        <p:nvSpPr>
          <p:cNvPr id="8" name="Shape 5"/>
          <p:cNvSpPr/>
          <p:nvPr/>
        </p:nvSpPr>
        <p:spPr>
          <a:xfrm>
            <a:off x="3977640" y="2514600"/>
            <a:ext cx="320040" cy="292608"/>
          </a:xfrm>
          <a:prstGeom prst="rightArrow">
            <a:avLst/>
          </a:prstGeom>
          <a:solidFill>
            <a:srgbClr val="E8833A"/>
          </a:solidFill>
          <a:ln w="12700">
            <a:solidFill>
              <a:srgbClr val="E8833A"/>
            </a:solidFill>
            <a:prstDash val="solid"/>
          </a:ln>
        </p:spPr>
      </p:sp>
      <p:sp>
        <p:nvSpPr>
          <p:cNvPr id="9" name="Shape 6"/>
          <p:cNvSpPr/>
          <p:nvPr/>
        </p:nvSpPr>
        <p:spPr>
          <a:xfrm>
            <a:off x="4343400" y="1691640"/>
            <a:ext cx="3383280" cy="1920240"/>
          </a:xfrm>
          <a:prstGeom prst="roundRect">
            <a:avLst>
              <a:gd name="adj" fmla="val 4762"/>
            </a:avLst>
          </a:prstGeom>
          <a:solidFill>
            <a:schemeClr val="tx1"/>
          </a:solidFill>
          <a:ln w="9525">
            <a:solidFill>
              <a:schemeClr val="tx1"/>
            </a:solidFill>
            <a:prstDash val="solid"/>
          </a:ln>
        </p:spPr>
      </p:sp>
      <p:sp>
        <p:nvSpPr>
          <p:cNvPr id="10" name="Text 7"/>
          <p:cNvSpPr txBox="1"/>
          <p:nvPr/>
        </p:nvSpPr>
        <p:spPr>
          <a:xfrm>
            <a:off x="4617720" y="1874520"/>
            <a:ext cx="2834640" cy="365760"/>
          </a:xfrm>
          <a:prstGeom prst="rect">
            <a:avLst/>
          </a:prstGeom>
          <a:noFill/>
          <a:ln/>
        </p:spPr>
        <p:txBody>
          <a:bodyPr wrap="square" lIns="0" tIns="0" rIns="0" bIns="0" rtlCol="0" anchor="t"/>
          <a:lstStyle/>
          <a:p>
            <a:pPr indent="0" marL="0">
              <a:buNone/>
            </a:pPr>
            <a:r>
              <a:rPr lang="en-US" sz="1400" b="1" spc="100" kern="0" dirty="0">
                <a:solidFill>
                  <a:srgbClr val="E8833A"/>
                </a:solidFill>
              </a:rPr>
              <a:t>2 · RETRIEVE</a:t>
            </a:r>
            <a:endParaRPr lang="en-US" sz="1400" dirty="0"/>
          </a:p>
        </p:txBody>
      </p:sp>
      <p:sp>
        <p:nvSpPr>
          <p:cNvPr id="11" name="Text 8"/>
          <p:cNvSpPr txBox="1"/>
          <p:nvPr/>
        </p:nvSpPr>
        <p:spPr>
          <a:xfrm>
            <a:off x="4617720" y="2331720"/>
            <a:ext cx="2834640" cy="1097280"/>
          </a:xfrm>
          <a:prstGeom prst="rect">
            <a:avLst/>
          </a:prstGeom>
          <a:noFill/>
          <a:ln/>
        </p:spPr>
        <p:txBody>
          <a:bodyPr wrap="square" lIns="0" tIns="0" rIns="0" bIns="0" rtlCol="0" anchor="t"/>
          <a:lstStyle/>
          <a:p>
            <a:pPr indent="0" marL="0">
              <a:buNone/>
            </a:pPr>
            <a:r>
              <a:rPr lang="en-US" sz="1700" dirty="0">
                <a:solidFill>
                  <a:schemeClr val="bg1"/>
                </a:solidFill>
              </a:rPr>
              <a:t>4 closest rules + 2 variable definitions (Chroma)</a:t>
            </a:r>
            <a:endParaRPr lang="en-US" sz="1700" dirty="0"/>
          </a:p>
        </p:txBody>
      </p:sp>
      <p:sp>
        <p:nvSpPr>
          <p:cNvPr id="12" name="Shape 9"/>
          <p:cNvSpPr/>
          <p:nvPr/>
        </p:nvSpPr>
        <p:spPr>
          <a:xfrm>
            <a:off x="7772400" y="2514600"/>
            <a:ext cx="320040" cy="292608"/>
          </a:xfrm>
          <a:prstGeom prst="rightArrow">
            <a:avLst/>
          </a:prstGeom>
          <a:solidFill>
            <a:srgbClr val="E8833A"/>
          </a:solidFill>
          <a:ln w="12700">
            <a:solidFill>
              <a:srgbClr val="E8833A"/>
            </a:solidFill>
            <a:prstDash val="solid"/>
          </a:ln>
        </p:spPr>
      </p:sp>
      <p:sp>
        <p:nvSpPr>
          <p:cNvPr id="13" name="Shape 10"/>
          <p:cNvSpPr/>
          <p:nvPr/>
        </p:nvSpPr>
        <p:spPr>
          <a:xfrm>
            <a:off x="8138160" y="1691640"/>
            <a:ext cx="3383280" cy="1920240"/>
          </a:xfrm>
          <a:prstGeom prst="roundRect">
            <a:avLst>
              <a:gd name="adj" fmla="val 4762"/>
            </a:avLst>
          </a:prstGeom>
          <a:solidFill>
            <a:schemeClr val="tx1"/>
          </a:solidFill>
          <a:ln w="9525">
            <a:solidFill>
              <a:schemeClr val="tx1"/>
            </a:solidFill>
            <a:prstDash val="solid"/>
          </a:ln>
        </p:spPr>
      </p:sp>
      <p:sp>
        <p:nvSpPr>
          <p:cNvPr id="14" name="Text 11"/>
          <p:cNvSpPr txBox="1"/>
          <p:nvPr/>
        </p:nvSpPr>
        <p:spPr>
          <a:xfrm>
            <a:off x="8412480" y="1874520"/>
            <a:ext cx="2834640" cy="365760"/>
          </a:xfrm>
          <a:prstGeom prst="rect">
            <a:avLst/>
          </a:prstGeom>
          <a:noFill/>
          <a:ln/>
        </p:spPr>
        <p:txBody>
          <a:bodyPr wrap="square" lIns="0" tIns="0" rIns="0" bIns="0" rtlCol="0" anchor="t"/>
          <a:lstStyle/>
          <a:p>
            <a:pPr indent="0" marL="0">
              <a:buNone/>
            </a:pPr>
            <a:r>
              <a:rPr lang="en-US" sz="1400" b="1" spc="100" kern="0" dirty="0">
                <a:solidFill>
                  <a:srgbClr val="E8833A"/>
                </a:solidFill>
              </a:rPr>
              <a:t>3 · GENERATE</a:t>
            </a:r>
            <a:endParaRPr lang="en-US" sz="1400" dirty="0"/>
          </a:p>
        </p:txBody>
      </p:sp>
      <p:sp>
        <p:nvSpPr>
          <p:cNvPr id="15" name="Text 12"/>
          <p:cNvSpPr txBox="1"/>
          <p:nvPr/>
        </p:nvSpPr>
        <p:spPr>
          <a:xfrm>
            <a:off x="8412480" y="2331720"/>
            <a:ext cx="2834640" cy="1097280"/>
          </a:xfrm>
          <a:prstGeom prst="rect">
            <a:avLst/>
          </a:prstGeom>
          <a:noFill/>
          <a:ln/>
        </p:spPr>
        <p:txBody>
          <a:bodyPr wrap="square" lIns="0" tIns="0" rIns="0" bIns="0" rtlCol="0" anchor="t"/>
          <a:lstStyle/>
          <a:p>
            <a:pPr indent="0" marL="0">
              <a:buNone/>
            </a:pPr>
            <a:r>
              <a:rPr lang="en-US" sz="1700" dirty="0">
                <a:solidFill>
                  <a:schemeClr val="bg1"/>
                </a:solidFill>
              </a:rPr>
              <a:t>gpt-4o-mini proposes a JSON change, or declines</a:t>
            </a:r>
            <a:endParaRPr lang="en-US" sz="1700" dirty="0"/>
          </a:p>
        </p:txBody>
      </p:sp>
      <p:sp>
        <p:nvSpPr>
          <p:cNvPr id="16" name="Shape 13"/>
          <p:cNvSpPr/>
          <p:nvPr/>
        </p:nvSpPr>
        <p:spPr>
          <a:xfrm>
            <a:off x="548640" y="3977640"/>
            <a:ext cx="5486400" cy="1600200"/>
          </a:xfrm>
          <a:prstGeom prst="roundRect">
            <a:avLst>
              <a:gd name="adj" fmla="val 5714"/>
            </a:avLst>
          </a:prstGeom>
          <a:solidFill>
            <a:schemeClr val="bg2"/>
          </a:solidFill>
          <a:ln w="9525">
            <a:solidFill>
              <a:schemeClr val="bg2"/>
            </a:solidFill>
            <a:prstDash val="solid"/>
          </a:ln>
        </p:spPr>
      </p:sp>
      <p:sp>
        <p:nvSpPr>
          <p:cNvPr id="17" name="Text 14"/>
          <p:cNvSpPr txBox="1"/>
          <p:nvPr/>
        </p:nvSpPr>
        <p:spPr>
          <a:xfrm>
            <a:off x="822960" y="4206240"/>
            <a:ext cx="5120640" cy="1188720"/>
          </a:xfrm>
          <a:prstGeom prst="rect">
            <a:avLst/>
          </a:prstGeom>
          <a:noFill/>
          <a:ln/>
        </p:spPr>
        <p:txBody>
          <a:bodyPr wrap="square" lIns="0" tIns="0" rIns="0" bIns="0" rtlCol="0" anchor="t"/>
          <a:lstStyle/>
          <a:p>
            <a:pPr indent="0" marL="0">
              <a:buNone/>
            </a:pPr>
            <a:r>
              <a:rPr lang="en-US" sz="1600" dirty="0">
                <a:solidFill>
                  <a:schemeClr val="tx1"/>
                </a:solidFill>
                <a:latin typeface="Courier New" pitchFamily="34" charset="0"/>
                <a:ea typeface="Courier New" pitchFamily="34" charset="-122"/>
                <a:cs typeface="Courier New" pitchFamily="34" charset="-120"/>
              </a:rPr>
              <a:t>{ "segment_id": "C08",</a:t>
            </a:r>
            <a:endParaRPr lang="en-US" sz="1600" dirty="0"/>
          </a:p>
          <a:p>
            <a:pPr indent="0" marL="0">
              <a:buNone/>
            </a:pPr>
            <a:r>
              <a:rPr lang="en-US" sz="1600" dirty="0">
                <a:solidFill>
                  <a:schemeClr val="tx1"/>
                </a:solidFill>
                <a:latin typeface="Courier New" pitchFamily="34" charset="0"/>
                <a:ea typeface="Courier New" pitchFamily="34" charset="-122"/>
                <a:cs typeface="Courier New" pitchFamily="34" charset="-120"/>
              </a:rPr>
              <a:t>  "field": "offer_intensity",</a:t>
            </a:r>
            <a:endParaRPr lang="en-US" sz="1600" dirty="0"/>
          </a:p>
          <a:p>
            <a:pPr indent="0" marL="0">
              <a:buNone/>
            </a:pPr>
            <a:r>
              <a:rPr lang="en-US" sz="1600" dirty="0">
                <a:solidFill>
                  <a:schemeClr val="tx1"/>
                </a:solidFill>
                <a:latin typeface="Courier New" pitchFamily="34" charset="0"/>
                <a:ea typeface="Courier New" pitchFamily="34" charset="-122"/>
                <a:cs typeface="Courier New" pitchFamily="34" charset="-120"/>
              </a:rPr>
              <a:t>  "new_value": "VERY_AGGRESSIVE" }</a:t>
            </a:r>
            <a:endParaRPr lang="en-US" sz="1600" dirty="0"/>
          </a:p>
        </p:txBody>
      </p:sp>
      <p:sp>
        <p:nvSpPr>
          <p:cNvPr id="18" name="Text 15"/>
          <p:cNvSpPr txBox="1"/>
          <p:nvPr/>
        </p:nvSpPr>
        <p:spPr>
          <a:xfrm>
            <a:off x="6309360" y="4160520"/>
            <a:ext cx="5303520" cy="1280160"/>
          </a:xfrm>
          <a:prstGeom prst="rect">
            <a:avLst/>
          </a:prstGeom>
          <a:noFill/>
          <a:ln/>
        </p:spPr>
        <p:txBody>
          <a:bodyPr wrap="square" lIns="0" tIns="0" rIns="0" bIns="0" rtlCol="0" anchor="t"/>
          <a:lstStyle/>
          <a:p>
            <a:pPr indent="0" marL="0">
              <a:buNone/>
            </a:pPr>
            <a:r>
              <a:rPr lang="en-US" sz="1800" dirty="0">
                <a:solidFill>
                  <a:schemeClr val="tx2"/>
                </a:solidFill>
              </a:rPr>
              <a:t>This JSON is only a proposal: it then goes through the five barriers of level 2. </a:t>
            </a:r>
            <a:pPr indent="0" marL="0">
              <a:buNone/>
            </a:pPr>
            <a:r>
              <a:rPr lang="en-US" sz="1800" b="1" dirty="0">
                <a:solidFill>
                  <a:schemeClr val="accent1"/>
                </a:solidFill>
              </a:rPr>
              <a:t>The AI proposes, the engine verifies.</a:t>
            </a:r>
            <a:endParaRPr lang="en-US" sz="18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LEVEL 3 · UNDER THE HOOD</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Index once, search on every request</a:t>
            </a:r>
            <a:endParaRPr lang="en-US" sz="3000" dirty="0"/>
          </a:p>
        </p:txBody>
      </p:sp>
      <p:sp>
        <p:nvSpPr>
          <p:cNvPr id="5" name="Shape 2"/>
          <p:cNvSpPr/>
          <p:nvPr/>
        </p:nvSpPr>
        <p:spPr>
          <a:xfrm>
            <a:off x="548640" y="1600200"/>
            <a:ext cx="5394960" cy="3566160"/>
          </a:xfrm>
          <a:prstGeom prst="roundRect">
            <a:avLst>
              <a:gd name="adj" fmla="val 2564"/>
            </a:avLst>
          </a:prstGeom>
          <a:solidFill>
            <a:schemeClr val="bg2"/>
          </a:solidFill>
          <a:ln w="9525">
            <a:solidFill>
              <a:schemeClr val="bg2"/>
            </a:solidFill>
            <a:prstDash val="solid"/>
          </a:ln>
        </p:spPr>
      </p:sp>
      <p:sp>
        <p:nvSpPr>
          <p:cNvPr id="6" name="Text 3"/>
          <p:cNvSpPr txBox="1"/>
          <p:nvPr/>
        </p:nvSpPr>
        <p:spPr>
          <a:xfrm>
            <a:off x="822960" y="1783080"/>
            <a:ext cx="4846320" cy="36576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INDEXING · rag/ingest.py</a:t>
            </a:r>
            <a:endParaRPr lang="en-US" sz="1400" dirty="0"/>
          </a:p>
        </p:txBody>
      </p:sp>
      <p:sp>
        <p:nvSpPr>
          <p:cNvPr id="7" name="Text 4"/>
          <p:cNvSpPr txBox="1"/>
          <p:nvPr/>
        </p:nvSpPr>
        <p:spPr>
          <a:xfrm>
            <a:off x="822960" y="2286000"/>
            <a:ext cx="484632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19 documents: 14 rules (one sentence each) + chunks of variables.md</a:t>
            </a:r>
            <a:endParaRPr lang="en-US" sz="1600" dirty="0"/>
          </a:p>
          <a:p>
            <a:pPr marL="342900" indent="-342900">
              <a:spcAft>
                <a:spcPts val="800"/>
              </a:spcAft>
              <a:buSzPct val="100000"/>
              <a:buChar char="•"/>
            </a:pPr>
            <a:r>
              <a:rPr lang="en-US" sz="1600" dirty="0">
                <a:solidFill>
                  <a:schemeClr val="tx2"/>
                </a:solidFill>
              </a:rPr>
              <a:t>Each document becomes a vector of 1,536 numbers (text-embedding-3-small)</a:t>
            </a:r>
            <a:endParaRPr lang="en-US" sz="1600" dirty="0"/>
          </a:p>
          <a:p>
            <a:pPr marL="342900" indent="-342900">
              <a:spcAft>
                <a:spcPts val="800"/>
              </a:spcAft>
              <a:buSzPct val="100000"/>
              <a:buChar char="•"/>
            </a:pPr>
            <a:r>
              <a:rPr lang="en-US" sz="1600" dirty="0">
                <a:solidFill>
                  <a:schemeClr val="tx2"/>
                </a:solidFill>
              </a:rPr>
              <a:t>Stored in Chroma; rebuilt on every indexing run (no duplicates)</a:t>
            </a:r>
            <a:endParaRPr lang="en-US" sz="1600" dirty="0"/>
          </a:p>
        </p:txBody>
      </p:sp>
      <p:sp>
        <p:nvSpPr>
          <p:cNvPr id="8" name="Shape 5"/>
          <p:cNvSpPr/>
          <p:nvPr/>
        </p:nvSpPr>
        <p:spPr>
          <a:xfrm>
            <a:off x="6217920" y="1600200"/>
            <a:ext cx="5394960" cy="3566160"/>
          </a:xfrm>
          <a:prstGeom prst="roundRect">
            <a:avLst>
              <a:gd name="adj" fmla="val 2564"/>
            </a:avLst>
          </a:prstGeom>
          <a:solidFill>
            <a:schemeClr val="bg2"/>
          </a:solidFill>
          <a:ln w="9525">
            <a:solidFill>
              <a:schemeClr val="bg2"/>
            </a:solidFill>
            <a:prstDash val="solid"/>
          </a:ln>
        </p:spPr>
      </p:sp>
      <p:sp>
        <p:nvSpPr>
          <p:cNvPr id="9" name="Text 6"/>
          <p:cNvSpPr txBox="1"/>
          <p:nvPr/>
        </p:nvSpPr>
        <p:spPr>
          <a:xfrm>
            <a:off x="6492240" y="1783080"/>
            <a:ext cx="4846320" cy="36576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EVERY REQUEST · rag/chain.py</a:t>
            </a:r>
            <a:endParaRPr lang="en-US" sz="1400" dirty="0"/>
          </a:p>
        </p:txBody>
      </p:sp>
      <p:sp>
        <p:nvSpPr>
          <p:cNvPr id="10" name="Text 7"/>
          <p:cNvSpPr txBox="1"/>
          <p:nvPr/>
        </p:nvSpPr>
        <p:spPr>
          <a:xfrm>
            <a:off x="6492240" y="2286000"/>
            <a:ext cx="484632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The sentence is vectorised and compared with the 19 documents</a:t>
            </a:r>
            <a:endParaRPr lang="en-US" sz="1600" dirty="0"/>
          </a:p>
          <a:p>
            <a:pPr marL="342900" indent="-342900">
              <a:spcAft>
                <a:spcPts val="800"/>
              </a:spcAft>
              <a:buSzPct val="100000"/>
              <a:buChar char="•"/>
            </a:pPr>
            <a:r>
              <a:rPr lang="en-US" sz="1600" dirty="0">
                <a:solidFill>
                  <a:schemeClr val="tx2"/>
                </a:solidFill>
              </a:rPr>
              <a:t>Context = 4 closest rules + 2 variable definitions</a:t>
            </a:r>
            <a:endParaRPr lang="en-US" sz="1600" dirty="0"/>
          </a:p>
          <a:p>
            <a:pPr marL="342900" indent="-342900">
              <a:spcAft>
                <a:spcPts val="800"/>
              </a:spcAft>
              <a:buSzPct val="100000"/>
              <a:buChar char="•"/>
            </a:pPr>
            <a:r>
              <a:rPr lang="en-US" sz="1600" dirty="0">
                <a:solidFill>
                  <a:schemeClr val="tx2"/>
                </a:solidFill>
              </a:rPr>
              <a:t>Prompt = instructions + allowed values + context + grid + request</a:t>
            </a:r>
            <a:endParaRPr lang="en-US" sz="1600" dirty="0"/>
          </a:p>
          <a:p>
            <a:pPr marL="342900" indent="-342900">
              <a:spcAft>
                <a:spcPts val="800"/>
              </a:spcAft>
              <a:buSzPct val="100000"/>
              <a:buChar char="•"/>
            </a:pPr>
            <a:r>
              <a:rPr lang="en-US" sz="1600" dirty="0">
                <a:solidFill>
                  <a:schemeClr val="tx2"/>
                </a:solidFill>
              </a:rPr>
              <a:t>gpt-4o-mini, temperature 0, forced JSON output</a:t>
            </a:r>
            <a:endParaRPr lang="en-US" sz="1600" dirty="0"/>
          </a:p>
        </p:txBody>
      </p:sp>
      <p:sp>
        <p:nvSpPr>
          <p:cNvPr id="11" name="Text 8"/>
          <p:cNvSpPr txBox="1"/>
          <p:nvPr/>
        </p:nvSpPr>
        <p:spPr>
          <a:xfrm>
            <a:off x="548640" y="5440680"/>
            <a:ext cx="11064240" cy="548640"/>
          </a:xfrm>
          <a:prstGeom prst="rect">
            <a:avLst/>
          </a:prstGeom>
          <a:noFill/>
          <a:ln/>
        </p:spPr>
        <p:txBody>
          <a:bodyPr wrap="square" lIns="0" tIns="0" rIns="0" bIns="0" rtlCol="0" anchor="t"/>
          <a:lstStyle/>
          <a:p>
            <a:pPr indent="0" marL="0">
              <a:buNone/>
            </a:pPr>
            <a:r>
              <a:rPr lang="en-US" sz="1500" i="1" dirty="0">
                <a:solidFill>
                  <a:schemeClr val="accent6"/>
                </a:solidFill>
              </a:rPr>
              <a:t>With 14 rules the whole grid fits in the prompt; vector search pays off when the rule base grows to hundreds of rules.</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DEMO · STEP 1 OF 3 · CAPTURE</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The business types its request in one sentence</a:t>
            </a:r>
            <a:endParaRPr lang="en-US" sz="3000" dirty="0"/>
          </a:p>
        </p:txBody>
      </p:sp>
      <p:sp>
        <p:nvSpPr>
          <p:cNvPr id="5" name="Shape 2"/>
          <p:cNvSpPr/>
          <p:nvPr/>
        </p:nvSpPr>
        <p:spPr>
          <a:xfrm>
            <a:off x="518008" y="1554480"/>
            <a:ext cx="11155680" cy="3937166"/>
          </a:xfrm>
          <a:prstGeom prst="rect">
            <a:avLst/>
          </a:prstGeom>
          <a:solidFill>
            <a:schemeClr val="bg1"/>
          </a:solidFill>
          <a:ln w="12700">
            <a:solidFill>
              <a:srgbClr val="D5D9E2"/>
            </a:solidFill>
            <a:prstDash val="solid"/>
          </a:ln>
        </p:spPr>
      </p:sp>
      <p:pic>
        <p:nvPicPr>
          <p:cNvPr id="6" name="Image 0" descr="App capture: the current rules C01 to C14 with their offer intensity, and the request 'make the Regular Nudge segment more aggressive' with the Propose and simulate button">    </p:cNvPr>
          <p:cNvPicPr>
            <a:picLocks noChangeAspect="1"/>
          </p:cNvPicPr>
          <p:nvPr/>
        </p:nvPicPr>
        <p:blipFill>
          <a:blip r:embed="rId1"/>
          <a:stretch>
            <a:fillRect/>
          </a:stretch>
        </p:blipFill>
        <p:spPr>
          <a:xfrm>
            <a:off x="563728" y="1600200"/>
            <a:ext cx="11064240" cy="3845726"/>
          </a:xfrm>
          <a:prstGeom prst="rect">
            <a:avLst/>
          </a:prstGeom>
        </p:spPr>
      </p:pic>
      <p:sp>
        <p:nvSpPr>
          <p:cNvPr id="7" name="Text 3"/>
          <p:cNvSpPr txBox="1"/>
          <p:nvPr/>
        </p:nvSpPr>
        <p:spPr>
          <a:xfrm>
            <a:off x="548640" y="5674526"/>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Left: the 14 segments and their current offer. Right: the request, in plain English.</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DEMO · STEP 2 OF 3 · CAPTURE</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The AI proposes, the engine validates</a:t>
            </a:r>
            <a:endParaRPr lang="en-US" sz="3000" dirty="0"/>
          </a:p>
        </p:txBody>
      </p:sp>
      <p:sp>
        <p:nvSpPr>
          <p:cNvPr id="5" name="Shape 2"/>
          <p:cNvSpPr/>
          <p:nvPr/>
        </p:nvSpPr>
        <p:spPr>
          <a:xfrm>
            <a:off x="518008" y="1554480"/>
            <a:ext cx="11155680" cy="3495343"/>
          </a:xfrm>
          <a:prstGeom prst="rect">
            <a:avLst/>
          </a:prstGeom>
          <a:solidFill>
            <a:schemeClr val="bg1"/>
          </a:solidFill>
          <a:ln w="12700">
            <a:solidFill>
              <a:srgbClr val="D5D9E2"/>
            </a:solidFill>
            <a:prstDash val="solid"/>
          </a:ln>
        </p:spPr>
      </p:sp>
      <p:pic>
        <p:nvPicPr>
          <p:cNvPr id="6" name="Image 0" descr="App capture: proposed change with its change id, JSON segment_id C08, field offer_intensity, new_value VERY_AGGRESSIVE, the retrieved documents, then 'Validation passed: C08 offer_intensity AGGRESSIVE to VERY_AGGRESSIVE'">    </p:cNvPr>
          <p:cNvPicPr>
            <a:picLocks noChangeAspect="1"/>
          </p:cNvPicPr>
          <p:nvPr/>
        </p:nvPicPr>
        <p:blipFill>
          <a:blip r:embed="rId1"/>
          <a:stretch>
            <a:fillRect/>
          </a:stretch>
        </p:blipFill>
        <p:spPr>
          <a:xfrm>
            <a:off x="563728" y="1600200"/>
            <a:ext cx="11064240" cy="3403903"/>
          </a:xfrm>
          <a:prstGeom prst="rect">
            <a:avLst/>
          </a:prstGeom>
        </p:spPr>
      </p:pic>
      <p:sp>
        <p:nvSpPr>
          <p:cNvPr id="7" name="Text 3"/>
          <p:cNvSpPr txBox="1"/>
          <p:nvPr/>
        </p:nvSpPr>
        <p:spPr>
          <a:xfrm>
            <a:off x="548640" y="5232703"/>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C08 is retrieved first; the validation shows the value before → after. Each proposal gets a unique change id.</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DEMO · STEP 3 OF 3 · CAPTURE</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Simulated impact, then automatic application</a:t>
            </a:r>
            <a:endParaRPr lang="en-US" sz="3000" dirty="0"/>
          </a:p>
        </p:txBody>
      </p:sp>
      <p:sp>
        <p:nvSpPr>
          <p:cNvPr id="5" name="Shape 2"/>
          <p:cNvSpPr/>
          <p:nvPr/>
        </p:nvSpPr>
        <p:spPr>
          <a:xfrm>
            <a:off x="518008" y="1554480"/>
            <a:ext cx="11155680" cy="3613577"/>
          </a:xfrm>
          <a:prstGeom prst="rect">
            <a:avLst/>
          </a:prstGeom>
          <a:solidFill>
            <a:schemeClr val="bg1"/>
          </a:solidFill>
          <a:ln w="12700">
            <a:solidFill>
              <a:srgbClr val="D5D9E2"/>
            </a:solidFill>
            <a:prstDash val="solid"/>
          </a:ln>
        </p:spPr>
      </p:sp>
      <p:pic>
        <p:nvPicPr>
          <p:cNvPr id="6" name="Image 0" descr="App capture: 210 customers whose offer changes, 0 moved, 0 without a segment, 0 in two segments, then 'Change validated, impact-checked and applied automatically. 210 customers affected'">    </p:cNvPr>
          <p:cNvPicPr>
            <a:picLocks noChangeAspect="1"/>
          </p:cNvPicPr>
          <p:nvPr/>
        </p:nvPicPr>
        <p:blipFill>
          <a:blip r:embed="rId1"/>
          <a:stretch>
            <a:fillRect/>
          </a:stretch>
        </p:blipFill>
        <p:spPr>
          <a:xfrm>
            <a:off x="563728" y="1600200"/>
            <a:ext cx="11064240" cy="3522137"/>
          </a:xfrm>
          <a:prstGeom prst="rect">
            <a:avLst/>
          </a:prstGeom>
        </p:spPr>
      </p:pic>
      <p:sp>
        <p:nvSpPr>
          <p:cNvPr id="7" name="Text 3"/>
          <p:cNvSpPr txBox="1"/>
          <p:nvPr/>
        </p:nvSpPr>
        <p:spPr>
          <a:xfrm>
            <a:off x="548640" y="5350937"/>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210 customers get a stronger offer · 0 segment changes · 0 without a segment · 0 in two segments → applied.</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LEVEL 3 · 11 REAL REQUESTS TO THE LLM</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5 applied, 6 rejected, each for a real reason</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4572000"/>
                <a:gridCol w="3931920"/>
                <a:gridCol w="2560320"/>
              </a:tblGrid>
              <a:tr h="36576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Request (typed in English)</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AI proposal</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Decision</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r>
              <a:tr h="365760">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Make the Regular Nudge segment more aggressive</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DFF1E6"/>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C08 · AGGRESSIVE → VERY_AGGR.</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DFF1E6"/>
                    </a:solidFill>
                  </a:tcPr>
                </a:tc>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Applied · 210</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DFF1E6"/>
                    </a:solidFill>
                  </a:tcPr>
                </a:tc>
              </a:tr>
              <a:tr h="365760">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Be less aggressive with Occasional Win-back</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DFF1E6"/>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C12 · VERY_AGGR. → AGGRESSIVE</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DFF1E6"/>
                    </a:solidFill>
                  </a:tcPr>
                </a:tc>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Applied · 372</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DFF1E6"/>
                    </a:solidFill>
                  </a:tcPr>
                </a:tc>
              </a:tr>
              <a:tr h="365760">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Send a normal offer to Welcome Journey customers</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DFF1E6"/>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C01 · NONE → NORMAL</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DFF1E6"/>
                    </a:solidFill>
                  </a:tcPr>
                </a:tc>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Applied · 411</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DFF1E6"/>
                    </a:solidFill>
                  </a:tcPr>
                </a:tc>
              </a:tr>
              <a:tr h="365760">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Disable the Silent Last Call segment</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2CC"/>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C14 · is_active → N</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2CC"/>
                    </a:solidFill>
                  </a:tcPr>
                </a:tc>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Applied + warning · 221</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2CC"/>
                    </a:solidFill>
                  </a:tcPr>
                </a:tc>
              </a:tr>
              <a:tr h="365760">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Exclude roamers from Champion Recovery</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2CC"/>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C06 · roaming → N</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2CC"/>
                    </a:solidFill>
                  </a:tcPr>
                </a:tc>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Applied + warning · 42</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2CC"/>
                    </a:solidFill>
                  </a:tcPr>
                </a:tc>
              </a:tr>
              <a:tr h="365760">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Extend Champion Nudge to 20 days late</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BE3DF"/>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C05 · days-late max 15 → 20</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BE3DF"/>
                    </a:solidFill>
                  </a:tcPr>
                </a:tc>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Rejected · 45 in two</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BE3DF"/>
                    </a:solidFill>
                  </a:tcPr>
                </a:tc>
              </a:tr>
              <a:tr h="365760">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Make Regular Grow start at 2 renewals</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BE3DF"/>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C07 · renewals min 4 → 2</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BE3DF"/>
                    </a:solidFill>
                  </a:tcPr>
                </a:tc>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Rejected · 457 in two</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BE3DF"/>
                    </a:solidFill>
                  </a:tcPr>
                </a:tc>
              </a:tr>
              <a:tr h="365760">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Target high churn customers in Champion Upsell</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BE3DF"/>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C03 · + HIGH risk combos</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BE3DF"/>
                    </a:solidFill>
                  </a:tcPr>
                </a:tc>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Rejected · 294 in two</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BE3DF"/>
                    </a:solidFill>
                  </a:tcPr>
                </a:tc>
              </a:tr>
              <a:tr h="365760">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Make the Premium Gold segment more aggressive</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BE3DF"/>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none: unknown segment</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BE3DF"/>
                    </a:solidFill>
                  </a:tcPr>
                </a:tc>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Declined by the AI</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BE3DF"/>
                    </a:solidFill>
                  </a:tcPr>
                </a:tc>
              </a:tr>
              <a:tr h="365760">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Add customer age as a targeting variable</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BE3DF"/>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none: new variable</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BE3DF"/>
                    </a:solidFill>
                  </a:tcPr>
                </a:tc>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Declined by the AI</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BE3DF"/>
                    </a:solidFill>
                  </a:tcPr>
                </a:tc>
              </a:tr>
              <a:tr h="365760">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Give everyone a free iPhone</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BE3DF"/>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none: out of scope</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BE3DF"/>
                    </a:solidFill>
                  </a:tcPr>
                </a:tc>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Declined by the AI</a:t>
                      </a:r>
                      <a:endParaRPr lang="en-US" sz="14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BE3DF"/>
                    </a:solidFill>
                  </a:tcPr>
                </a:tc>
              </a:tr>
            </a:tbl>
          </a:graphicData>
        </a:graphic>
      </p:graphicFrame>
      <p:sp>
        <p:nvSpPr>
          <p:cNvPr id="6" name="Text 2"/>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200" dirty="0">
                <a:solidFill>
                  <a:schemeClr val="accent6"/>
                </a:solidFill>
              </a:rPr>
              <a:t>Run with the real OpenAI API on the final code. Figures = customers affected.</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LEVEL 3 · WHAT THE TESTS REVEALED</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Four flaws found, four fixes</a:t>
            </a:r>
            <a:endParaRPr lang="en-US" sz="3000" dirty="0"/>
          </a:p>
        </p:txBody>
      </p:sp>
      <p:sp>
        <p:nvSpPr>
          <p:cNvPr id="5" name="Shape 2"/>
          <p:cNvSpPr/>
          <p:nvPr/>
        </p:nvSpPr>
        <p:spPr>
          <a:xfrm>
            <a:off x="548640" y="1600200"/>
            <a:ext cx="5394960" cy="2011680"/>
          </a:xfrm>
          <a:prstGeom prst="roundRect">
            <a:avLst>
              <a:gd name="adj" fmla="val 4545"/>
            </a:avLst>
          </a:prstGeom>
          <a:solidFill>
            <a:schemeClr val="bg2"/>
          </a:solidFill>
          <a:ln w="9525">
            <a:solidFill>
              <a:schemeClr val="bg2"/>
            </a:solidFill>
            <a:prstDash val="solid"/>
          </a:ln>
        </p:spPr>
      </p:sp>
      <p:sp>
        <p:nvSpPr>
          <p:cNvPr id="6" name="Text 3"/>
          <p:cNvSpPr txBox="1"/>
          <p:nvPr/>
        </p:nvSpPr>
        <p:spPr>
          <a:xfrm>
            <a:off x="822960" y="1783080"/>
            <a:ext cx="4846320" cy="4114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The AI invented a change</a:t>
            </a:r>
            <a:endParaRPr lang="en-US" sz="1900" dirty="0"/>
          </a:p>
        </p:txBody>
      </p:sp>
      <p:sp>
        <p:nvSpPr>
          <p:cNvPr id="7" name="Text 4"/>
          <p:cNvSpPr txBox="1"/>
          <p:nvPr/>
        </p:nvSpPr>
        <p:spPr>
          <a:xfrm>
            <a:off x="822960" y="2286000"/>
            <a:ext cx="4846320" cy="548640"/>
          </a:xfrm>
          <a:prstGeom prst="rect">
            <a:avLst/>
          </a:prstGeom>
          <a:noFill/>
          <a:ln/>
        </p:spPr>
        <p:txBody>
          <a:bodyPr wrap="square" lIns="0" tIns="0" rIns="0" bIns="0" rtlCol="0" anchor="t"/>
          <a:lstStyle/>
          <a:p>
            <a:pPr indent="0" marL="0">
              <a:buNone/>
            </a:pPr>
            <a:r>
              <a:rPr lang="en-US" sz="1500" dirty="0">
                <a:solidFill>
                  <a:schemeClr val="tx2"/>
                </a:solidFill>
              </a:rPr>
              <a:t>An unknown segment name led to a change on the wrong segment.</a:t>
            </a:r>
            <a:endParaRPr lang="en-US" sz="1500" dirty="0"/>
          </a:p>
        </p:txBody>
      </p:sp>
      <p:sp>
        <p:nvSpPr>
          <p:cNvPr id="8" name="Text 5"/>
          <p:cNvSpPr txBox="1"/>
          <p:nvPr/>
        </p:nvSpPr>
        <p:spPr>
          <a:xfrm>
            <a:off x="822960" y="2880360"/>
            <a:ext cx="4846320" cy="594360"/>
          </a:xfrm>
          <a:prstGeom prst="rect">
            <a:avLst/>
          </a:prstGeom>
          <a:noFill/>
          <a:ln/>
        </p:spPr>
        <p:txBody>
          <a:bodyPr wrap="square" lIns="0" tIns="0" rIns="0" bIns="0" rtlCol="0" anchor="t"/>
          <a:lstStyle/>
          <a:p>
            <a:pPr indent="0" marL="0">
              <a:buNone/>
            </a:pPr>
            <a:r>
              <a:rPr lang="en-US" sz="1500" b="1" dirty="0">
                <a:solidFill>
                  <a:schemeClr val="accent3"/>
                </a:solidFill>
              </a:rPr>
              <a:t>Fix: </a:t>
            </a:r>
            <a:pPr indent="0" marL="0">
              <a:buNone/>
            </a:pPr>
            <a:r>
              <a:rPr lang="en-US" sz="1500" dirty="0">
                <a:solidFill>
                  <a:schemeClr val="accent3"/>
                </a:solidFill>
              </a:rPr>
              <a:t>The AI can now answer "no change possible".</a:t>
            </a:r>
            <a:endParaRPr lang="en-US" sz="1500" dirty="0"/>
          </a:p>
        </p:txBody>
      </p:sp>
      <p:sp>
        <p:nvSpPr>
          <p:cNvPr id="9" name="Shape 6"/>
          <p:cNvSpPr/>
          <p:nvPr/>
        </p:nvSpPr>
        <p:spPr>
          <a:xfrm>
            <a:off x="6217920" y="1600200"/>
            <a:ext cx="5394960" cy="2011680"/>
          </a:xfrm>
          <a:prstGeom prst="roundRect">
            <a:avLst>
              <a:gd name="adj" fmla="val 4545"/>
            </a:avLst>
          </a:prstGeom>
          <a:solidFill>
            <a:schemeClr val="bg2"/>
          </a:solidFill>
          <a:ln w="9525">
            <a:solidFill>
              <a:schemeClr val="bg2"/>
            </a:solidFill>
            <a:prstDash val="solid"/>
          </a:ln>
        </p:spPr>
      </p:sp>
      <p:sp>
        <p:nvSpPr>
          <p:cNvPr id="10" name="Text 7"/>
          <p:cNvSpPr txBox="1"/>
          <p:nvPr/>
        </p:nvSpPr>
        <p:spPr>
          <a:xfrm>
            <a:off x="6492240" y="1783080"/>
            <a:ext cx="4846320" cy="4114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Invalid formats</a:t>
            </a:r>
            <a:endParaRPr lang="en-US" sz="1900" dirty="0"/>
          </a:p>
        </p:txBody>
      </p:sp>
      <p:sp>
        <p:nvSpPr>
          <p:cNvPr id="11" name="Text 8"/>
          <p:cNvSpPr txBox="1"/>
          <p:nvPr/>
        </p:nvSpPr>
        <p:spPr>
          <a:xfrm>
            <a:off x="6492240" y="2286000"/>
            <a:ext cx="4846320" cy="548640"/>
          </a:xfrm>
          <a:prstGeom prst="rect">
            <a:avLst/>
          </a:prstGeom>
          <a:noFill/>
          <a:ln/>
        </p:spPr>
        <p:txBody>
          <a:bodyPr wrap="square" lIns="0" tIns="0" rIns="0" bIns="0" rtlCol="0" anchor="t"/>
          <a:lstStyle/>
          <a:p>
            <a:pPr indent="0" marL="0">
              <a:buNone/>
            </a:pPr>
            <a:r>
              <a:rPr lang="en-US" sz="1500" dirty="0">
                <a:solidFill>
                  <a:schemeClr val="tx2"/>
                </a:solidFill>
              </a:rPr>
              <a:t>Wrong roaming value, wrong risk format.</a:t>
            </a:r>
            <a:endParaRPr lang="en-US" sz="1500" dirty="0"/>
          </a:p>
        </p:txBody>
      </p:sp>
      <p:sp>
        <p:nvSpPr>
          <p:cNvPr id="12" name="Text 9"/>
          <p:cNvSpPr txBox="1"/>
          <p:nvPr/>
        </p:nvSpPr>
        <p:spPr>
          <a:xfrm>
            <a:off x="6492240" y="2880360"/>
            <a:ext cx="4846320" cy="594360"/>
          </a:xfrm>
          <a:prstGeom prst="rect">
            <a:avLst/>
          </a:prstGeom>
          <a:noFill/>
          <a:ln/>
        </p:spPr>
        <p:txBody>
          <a:bodyPr wrap="square" lIns="0" tIns="0" rIns="0" bIns="0" rtlCol="0" anchor="t"/>
          <a:lstStyle/>
          <a:p>
            <a:pPr indent="0" marL="0">
              <a:buNone/>
            </a:pPr>
            <a:r>
              <a:rPr lang="en-US" sz="1500" b="1" dirty="0">
                <a:solidFill>
                  <a:schemeClr val="accent3"/>
                </a:solidFill>
              </a:rPr>
              <a:t>Fix: </a:t>
            </a:r>
            <a:pPr indent="0" marL="0">
              <a:buNone/>
            </a:pPr>
            <a:r>
              <a:rPr lang="en-US" sz="1500" dirty="0">
                <a:solidFill>
                  <a:schemeClr val="accent3"/>
                </a:solidFill>
              </a:rPr>
              <a:t>Retrieve variable definitions + list allowed values in the prompt.</a:t>
            </a:r>
            <a:endParaRPr lang="en-US" sz="1500" dirty="0"/>
          </a:p>
        </p:txBody>
      </p:sp>
      <p:sp>
        <p:nvSpPr>
          <p:cNvPr id="13" name="Shape 10"/>
          <p:cNvSpPr/>
          <p:nvPr/>
        </p:nvSpPr>
        <p:spPr>
          <a:xfrm>
            <a:off x="548640" y="3840480"/>
            <a:ext cx="5394960" cy="2011680"/>
          </a:xfrm>
          <a:prstGeom prst="roundRect">
            <a:avLst>
              <a:gd name="adj" fmla="val 4545"/>
            </a:avLst>
          </a:prstGeom>
          <a:solidFill>
            <a:schemeClr val="bg2"/>
          </a:solidFill>
          <a:ln w="9525">
            <a:solidFill>
              <a:schemeClr val="bg2"/>
            </a:solidFill>
            <a:prstDash val="solid"/>
          </a:ln>
        </p:spPr>
      </p:sp>
      <p:sp>
        <p:nvSpPr>
          <p:cNvPr id="14" name="Text 11"/>
          <p:cNvSpPr txBox="1"/>
          <p:nvPr/>
        </p:nvSpPr>
        <p:spPr>
          <a:xfrm>
            <a:off x="822960" y="4023360"/>
            <a:ext cx="4846320" cy="4114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An empty change accepted</a:t>
            </a:r>
            <a:endParaRPr lang="en-US" sz="1900" dirty="0"/>
          </a:p>
        </p:txBody>
      </p:sp>
      <p:sp>
        <p:nvSpPr>
          <p:cNvPr id="15" name="Text 12"/>
          <p:cNvSpPr txBox="1"/>
          <p:nvPr/>
        </p:nvSpPr>
        <p:spPr>
          <a:xfrm>
            <a:off x="822960" y="4526280"/>
            <a:ext cx="4846320" cy="548640"/>
          </a:xfrm>
          <a:prstGeom prst="rect">
            <a:avLst/>
          </a:prstGeom>
          <a:noFill/>
          <a:ln/>
        </p:spPr>
        <p:txBody>
          <a:bodyPr wrap="square" lIns="0" tIns="0" rIns="0" bIns="0" rtlCol="0" anchor="t"/>
          <a:lstStyle/>
          <a:p>
            <a:pPr indent="0" marL="0">
              <a:buNone/>
            </a:pPr>
            <a:r>
              <a:rPr lang="en-US" sz="1500" dirty="0">
                <a:solidFill>
                  <a:schemeClr val="tx2"/>
                </a:solidFill>
              </a:rPr>
              <a:t>Once, the LLM proposed a value that was already set.</a:t>
            </a:r>
            <a:endParaRPr lang="en-US" sz="1500" dirty="0"/>
          </a:p>
        </p:txBody>
      </p:sp>
      <p:sp>
        <p:nvSpPr>
          <p:cNvPr id="16" name="Text 13"/>
          <p:cNvSpPr txBox="1"/>
          <p:nvPr/>
        </p:nvSpPr>
        <p:spPr>
          <a:xfrm>
            <a:off x="822960" y="5120640"/>
            <a:ext cx="4846320" cy="594360"/>
          </a:xfrm>
          <a:prstGeom prst="rect">
            <a:avLst/>
          </a:prstGeom>
          <a:noFill/>
          <a:ln/>
        </p:spPr>
        <p:txBody>
          <a:bodyPr wrap="square" lIns="0" tIns="0" rIns="0" bIns="0" rtlCol="0" anchor="t"/>
          <a:lstStyle/>
          <a:p>
            <a:pPr indent="0" marL="0">
              <a:buNone/>
            </a:pPr>
            <a:r>
              <a:rPr lang="en-US" sz="1500" b="1" dirty="0">
                <a:solidFill>
                  <a:schemeClr val="accent3"/>
                </a:solidFill>
              </a:rPr>
              <a:t>Fix: </a:t>
            </a:r>
            <a:pPr indent="0" marL="0">
              <a:buNone/>
            </a:pPr>
            <a:r>
              <a:rPr lang="en-US" sz="1500" dirty="0">
                <a:solidFill>
                  <a:schemeClr val="accent3"/>
                </a:solidFill>
              </a:rPr>
              <a:t>"No-op" check: the value must really change.</a:t>
            </a:r>
            <a:endParaRPr lang="en-US" sz="1500" dirty="0"/>
          </a:p>
        </p:txBody>
      </p:sp>
      <p:sp>
        <p:nvSpPr>
          <p:cNvPr id="17" name="Shape 14"/>
          <p:cNvSpPr/>
          <p:nvPr/>
        </p:nvSpPr>
        <p:spPr>
          <a:xfrm>
            <a:off x="6217920" y="3840480"/>
            <a:ext cx="5394960" cy="2011680"/>
          </a:xfrm>
          <a:prstGeom prst="roundRect">
            <a:avLst>
              <a:gd name="adj" fmla="val 4545"/>
            </a:avLst>
          </a:prstGeom>
          <a:solidFill>
            <a:schemeClr val="bg2"/>
          </a:solidFill>
          <a:ln w="9525">
            <a:solidFill>
              <a:schemeClr val="bg2"/>
            </a:solidFill>
            <a:prstDash val="solid"/>
          </a:ln>
        </p:spPr>
      </p:sp>
      <p:sp>
        <p:nvSpPr>
          <p:cNvPr id="18" name="Text 15"/>
          <p:cNvSpPr txBox="1"/>
          <p:nvPr/>
        </p:nvSpPr>
        <p:spPr>
          <a:xfrm>
            <a:off x="6492240" y="4023360"/>
            <a:ext cx="4846320" cy="4114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Double assignments accepted</a:t>
            </a:r>
            <a:endParaRPr lang="en-US" sz="1900" dirty="0"/>
          </a:p>
        </p:txBody>
      </p:sp>
      <p:sp>
        <p:nvSpPr>
          <p:cNvPr id="19" name="Text 16"/>
          <p:cNvSpPr txBox="1"/>
          <p:nvPr/>
        </p:nvSpPr>
        <p:spPr>
          <a:xfrm>
            <a:off x="6492240" y="4526280"/>
            <a:ext cx="4846320" cy="548640"/>
          </a:xfrm>
          <a:prstGeom prst="rect">
            <a:avLst/>
          </a:prstGeom>
          <a:noFill/>
          <a:ln/>
        </p:spPr>
        <p:txBody>
          <a:bodyPr wrap="square" lIns="0" tIns="0" rIns="0" bIns="0" rtlCol="0" anchor="t"/>
          <a:lstStyle/>
          <a:p>
            <a:pPr indent="0" marL="0">
              <a:buNone/>
            </a:pPr>
            <a:r>
              <a:rPr lang="en-US" sz="1500" dirty="0">
                <a:solidFill>
                  <a:schemeClr val="tx2"/>
                </a:solidFill>
              </a:rPr>
              <a:t>At first, no impact check: overlaps went through.</a:t>
            </a:r>
            <a:endParaRPr lang="en-US" sz="1500" dirty="0"/>
          </a:p>
        </p:txBody>
      </p:sp>
      <p:sp>
        <p:nvSpPr>
          <p:cNvPr id="20" name="Text 17"/>
          <p:cNvSpPr txBox="1"/>
          <p:nvPr/>
        </p:nvSpPr>
        <p:spPr>
          <a:xfrm>
            <a:off x="6492240" y="5120640"/>
            <a:ext cx="4846320" cy="594360"/>
          </a:xfrm>
          <a:prstGeom prst="rect">
            <a:avLst/>
          </a:prstGeom>
          <a:noFill/>
          <a:ln/>
        </p:spPr>
        <p:txBody>
          <a:bodyPr wrap="square" lIns="0" tIns="0" rIns="0" bIns="0" rtlCol="0" anchor="t"/>
          <a:lstStyle/>
          <a:p>
            <a:pPr indent="0" marL="0">
              <a:buNone/>
            </a:pPr>
            <a:r>
              <a:rPr lang="en-US" sz="1500" b="1" dirty="0">
                <a:solidFill>
                  <a:schemeClr val="accent3"/>
                </a:solidFill>
              </a:rPr>
              <a:t>Fix: </a:t>
            </a:r>
            <a:pPr indent="0" marL="0">
              <a:buNone/>
            </a:pPr>
            <a:r>
              <a:rPr lang="en-US" sz="1500" dirty="0">
                <a:solidFill>
                  <a:schemeClr val="accent3"/>
                </a:solidFill>
              </a:rPr>
              <a:t>Automatic rejection of any overlap.</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TRACEABILITY · APP CAPTURE</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Every request leaves a trace</a:t>
            </a:r>
            <a:endParaRPr lang="en-US" sz="3000" dirty="0"/>
          </a:p>
        </p:txBody>
      </p:sp>
      <p:sp>
        <p:nvSpPr>
          <p:cNvPr id="5" name="Shape 2"/>
          <p:cNvSpPr/>
          <p:nvPr/>
        </p:nvSpPr>
        <p:spPr>
          <a:xfrm>
            <a:off x="597739" y="1554480"/>
            <a:ext cx="10996218" cy="2606040"/>
          </a:xfrm>
          <a:prstGeom prst="rect">
            <a:avLst/>
          </a:prstGeom>
          <a:solidFill>
            <a:schemeClr val="bg1"/>
          </a:solidFill>
          <a:ln w="12700">
            <a:solidFill>
              <a:srgbClr val="D5D9E2"/>
            </a:solidFill>
            <a:prstDash val="solid"/>
          </a:ln>
        </p:spPr>
      </p:sp>
      <p:pic>
        <p:nvPicPr>
          <p:cNvPr id="6" name="Image 0" descr="App capture of the audit trail: change ids, timestamps, requests, decisions RESET and REJECTED_NO_CHANGE with their reasons">    </p:cNvPr>
          <p:cNvPicPr>
            <a:picLocks noChangeAspect="1"/>
          </p:cNvPicPr>
          <p:nvPr/>
        </p:nvPicPr>
        <p:blipFill>
          <a:blip r:embed="rId1"/>
          <a:stretch>
            <a:fillRect/>
          </a:stretch>
        </p:blipFill>
        <p:spPr>
          <a:xfrm>
            <a:off x="643459" y="1600200"/>
            <a:ext cx="10904778" cy="2514600"/>
          </a:xfrm>
          <a:prstGeom prst="rect">
            <a:avLst/>
          </a:prstGeom>
        </p:spPr>
      </p:pic>
      <p:sp>
        <p:nvSpPr>
          <p:cNvPr id="7" name="Shape 3"/>
          <p:cNvSpPr/>
          <p:nvPr/>
        </p:nvSpPr>
        <p:spPr>
          <a:xfrm>
            <a:off x="548640" y="4434840"/>
            <a:ext cx="5394960" cy="1554480"/>
          </a:xfrm>
          <a:prstGeom prst="roundRect">
            <a:avLst>
              <a:gd name="adj" fmla="val 5882"/>
            </a:avLst>
          </a:prstGeom>
          <a:solidFill>
            <a:schemeClr val="bg2"/>
          </a:solidFill>
          <a:ln w="9525">
            <a:solidFill>
              <a:schemeClr val="bg2"/>
            </a:solidFill>
            <a:prstDash val="solid"/>
          </a:ln>
        </p:spPr>
      </p:sp>
      <p:sp>
        <p:nvSpPr>
          <p:cNvPr id="8" name="Text 4"/>
          <p:cNvSpPr txBox="1"/>
          <p:nvPr/>
        </p:nvSpPr>
        <p:spPr>
          <a:xfrm>
            <a:off x="822960" y="4572000"/>
            <a:ext cx="4846320" cy="365760"/>
          </a:xfrm>
          <a:prstGeom prst="rect">
            <a:avLst/>
          </a:prstGeom>
          <a:noFill/>
          <a:ln/>
        </p:spPr>
        <p:txBody>
          <a:bodyPr wrap="square" lIns="0" tIns="0" rIns="0" bIns="0" rtlCol="0" anchor="t"/>
          <a:lstStyle/>
          <a:p>
            <a:pPr indent="0" marL="0">
              <a:buNone/>
            </a:pPr>
            <a:r>
              <a:rPr lang="en-US" sz="1800" b="1" dirty="0">
                <a:solidFill>
                  <a:schemeClr val="tx1"/>
                </a:solidFill>
              </a:rPr>
              <a:t>In the log</a:t>
            </a:r>
            <a:endParaRPr lang="en-US" sz="1800" dirty="0"/>
          </a:p>
        </p:txBody>
      </p:sp>
      <p:sp>
        <p:nvSpPr>
          <p:cNvPr id="9" name="Text 5"/>
          <p:cNvSpPr txBox="1"/>
          <p:nvPr/>
        </p:nvSpPr>
        <p:spPr>
          <a:xfrm>
            <a:off x="822960" y="4983480"/>
            <a:ext cx="4937760" cy="914400"/>
          </a:xfrm>
          <a:prstGeom prst="rect">
            <a:avLst/>
          </a:prstGeom>
          <a:noFill/>
          <a:ln/>
        </p:spPr>
        <p:txBody>
          <a:bodyPr wrap="square" lIns="0" tIns="0" rIns="0" bIns="0" rtlCol="0" anchor="t"/>
          <a:lstStyle/>
          <a:p>
            <a:pPr indent="0" marL="0">
              <a:buNone/>
            </a:pPr>
            <a:r>
              <a:rPr lang="en-US" sz="1500" dirty="0">
                <a:solidFill>
                  <a:schemeClr val="tx2"/>
                </a:solidFill>
              </a:rPr>
              <a:t>Unique id, timestamp, exact sentence, retrieved documents, AI JSON, before → after, decision, reason, impact.</a:t>
            </a:r>
            <a:endParaRPr lang="en-US" sz="1500" dirty="0"/>
          </a:p>
        </p:txBody>
      </p:sp>
      <p:sp>
        <p:nvSpPr>
          <p:cNvPr id="10" name="Shape 6"/>
          <p:cNvSpPr/>
          <p:nvPr/>
        </p:nvSpPr>
        <p:spPr>
          <a:xfrm>
            <a:off x="6217920" y="4434840"/>
            <a:ext cx="5394960" cy="1554480"/>
          </a:xfrm>
          <a:prstGeom prst="roundRect">
            <a:avLst>
              <a:gd name="adj" fmla="val 5882"/>
            </a:avLst>
          </a:prstGeom>
          <a:solidFill>
            <a:schemeClr val="bg2"/>
          </a:solidFill>
          <a:ln w="9525">
            <a:solidFill>
              <a:schemeClr val="bg2"/>
            </a:solidFill>
            <a:prstDash val="solid"/>
          </a:ln>
        </p:spPr>
      </p:sp>
      <p:sp>
        <p:nvSpPr>
          <p:cNvPr id="11" name="Text 7"/>
          <p:cNvSpPr txBox="1"/>
          <p:nvPr/>
        </p:nvSpPr>
        <p:spPr>
          <a:xfrm>
            <a:off x="6492240" y="4572000"/>
            <a:ext cx="4846320" cy="365760"/>
          </a:xfrm>
          <a:prstGeom prst="rect">
            <a:avLst/>
          </a:prstGeom>
          <a:noFill/>
          <a:ln/>
        </p:spPr>
        <p:txBody>
          <a:bodyPr wrap="square" lIns="0" tIns="0" rIns="0" bIns="0" rtlCol="0" anchor="t"/>
          <a:lstStyle/>
          <a:p>
            <a:pPr indent="0" marL="0">
              <a:buNone/>
            </a:pPr>
            <a:r>
              <a:rPr lang="en-US" sz="1800" b="1" dirty="0">
                <a:solidFill>
                  <a:schemeClr val="tx1"/>
                </a:solidFill>
              </a:rPr>
              <a:t>For every applied change</a:t>
            </a:r>
            <a:endParaRPr lang="en-US" sz="1800" dirty="0"/>
          </a:p>
        </p:txBody>
      </p:sp>
      <p:sp>
        <p:nvSpPr>
          <p:cNvPr id="12" name="Text 8"/>
          <p:cNvSpPr txBox="1"/>
          <p:nvPr/>
        </p:nvSpPr>
        <p:spPr>
          <a:xfrm>
            <a:off x="6492240" y="4983480"/>
            <a:ext cx="4937760" cy="914400"/>
          </a:xfrm>
          <a:prstGeom prst="rect">
            <a:avLst/>
          </a:prstGeom>
          <a:noFill/>
          <a:ln/>
        </p:spPr>
        <p:txBody>
          <a:bodyPr wrap="square" lIns="0" tIns="0" rIns="0" bIns="0" rtlCol="0" anchor="t"/>
          <a:lstStyle/>
          <a:p>
            <a:pPr indent="0" marL="0">
              <a:buNone/>
            </a:pPr>
            <a:r>
              <a:rPr lang="en-US" sz="1500" dirty="0">
                <a:solidFill>
                  <a:schemeClr val="tx2"/>
                </a:solidFill>
              </a:rPr>
              <a:t>A full copy of the rules before and after: any change can be proven, audited or rolled back.</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FINAL STEP · INTEGRATION PLAN</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Plugging the app into the Oracle database</a:t>
            </a:r>
            <a:endParaRPr lang="en-US" sz="3000" dirty="0"/>
          </a:p>
        </p:txBody>
      </p:sp>
      <p:sp>
        <p:nvSpPr>
          <p:cNvPr id="5" name="Shape 2"/>
          <p:cNvSpPr/>
          <p:nvPr/>
        </p:nvSpPr>
        <p:spPr>
          <a:xfrm>
            <a:off x="548640" y="1600200"/>
            <a:ext cx="11064240" cy="676656"/>
          </a:xfrm>
          <a:prstGeom prst="roundRect">
            <a:avLst>
              <a:gd name="adj" fmla="val 13514"/>
            </a:avLst>
          </a:prstGeom>
          <a:solidFill>
            <a:schemeClr val="bg2"/>
          </a:solidFill>
          <a:ln w="9525">
            <a:solidFill>
              <a:schemeClr val="bg2"/>
            </a:solidFill>
            <a:prstDash val="solid"/>
          </a:ln>
        </p:spPr>
      </p:sp>
      <p:sp>
        <p:nvSpPr>
          <p:cNvPr id="6" name="Shape 3"/>
          <p:cNvSpPr/>
          <p:nvPr/>
        </p:nvSpPr>
        <p:spPr>
          <a:xfrm>
            <a:off x="777240" y="1709928"/>
            <a:ext cx="457200" cy="457200"/>
          </a:xfrm>
          <a:prstGeom prst="ellipse">
            <a:avLst/>
          </a:prstGeom>
          <a:solidFill>
            <a:schemeClr val="accent1"/>
          </a:solidFill>
          <a:ln w="12700">
            <a:solidFill>
              <a:schemeClr val="accent1"/>
            </a:solidFill>
            <a:prstDash val="solid"/>
          </a:ln>
        </p:spPr>
      </p:sp>
      <p:sp>
        <p:nvSpPr>
          <p:cNvPr id="7" name="Text 4"/>
          <p:cNvSpPr txBox="1"/>
          <p:nvPr/>
        </p:nvSpPr>
        <p:spPr>
          <a:xfrm>
            <a:off x="777240" y="17099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417320" y="1755648"/>
            <a:ext cx="3291840" cy="384048"/>
          </a:xfrm>
          <a:prstGeom prst="rect">
            <a:avLst/>
          </a:prstGeom>
          <a:noFill/>
          <a:ln/>
        </p:spPr>
        <p:txBody>
          <a:bodyPr wrap="square" lIns="0" tIns="0" rIns="0" bIns="0" rtlCol="0" anchor="t"/>
          <a:lstStyle/>
          <a:p>
            <a:pPr indent="0" marL="0">
              <a:buNone/>
            </a:pPr>
            <a:r>
              <a:rPr lang="en-US" sz="1800" b="1" dirty="0">
                <a:solidFill>
                  <a:schemeClr val="tx1"/>
                </a:solidFill>
              </a:rPr>
              <a:t>Streamlit app</a:t>
            </a:r>
            <a:endParaRPr lang="en-US" sz="1800" dirty="0"/>
          </a:p>
        </p:txBody>
      </p:sp>
      <p:sp>
        <p:nvSpPr>
          <p:cNvPr id="9" name="Text 6"/>
          <p:cNvSpPr txBox="1"/>
          <p:nvPr/>
        </p:nvSpPr>
        <p:spPr>
          <a:xfrm>
            <a:off x="4754880" y="1755648"/>
            <a:ext cx="6675120" cy="384048"/>
          </a:xfrm>
          <a:prstGeom prst="rect">
            <a:avLst/>
          </a:prstGeom>
          <a:noFill/>
          <a:ln/>
        </p:spPr>
        <p:txBody>
          <a:bodyPr wrap="square" lIns="0" tIns="0" rIns="0" bIns="0" rtlCol="0" anchor="t"/>
          <a:lstStyle/>
          <a:p>
            <a:pPr indent="0" marL="0">
              <a:buNone/>
            </a:pPr>
            <a:r>
              <a:rPr lang="en-US" sz="1500" dirty="0">
                <a:solidFill>
                  <a:schemeClr val="tx2"/>
                </a:solidFill>
              </a:rPr>
              <a:t>RAG + guardrails + simulation: only approved changes go out</a:t>
            </a:r>
            <a:endParaRPr lang="en-US" sz="1500" dirty="0"/>
          </a:p>
        </p:txBody>
      </p:sp>
      <p:sp>
        <p:nvSpPr>
          <p:cNvPr id="10" name="Shape 7"/>
          <p:cNvSpPr/>
          <p:nvPr/>
        </p:nvSpPr>
        <p:spPr>
          <a:xfrm>
            <a:off x="548640" y="2386584"/>
            <a:ext cx="11064240" cy="676656"/>
          </a:xfrm>
          <a:prstGeom prst="roundRect">
            <a:avLst>
              <a:gd name="adj" fmla="val 13514"/>
            </a:avLst>
          </a:prstGeom>
          <a:solidFill>
            <a:schemeClr val="bg2"/>
          </a:solidFill>
          <a:ln w="9525">
            <a:solidFill>
              <a:schemeClr val="bg2"/>
            </a:solidFill>
            <a:prstDash val="solid"/>
          </a:ln>
        </p:spPr>
      </p:sp>
      <p:sp>
        <p:nvSpPr>
          <p:cNvPr id="11" name="Shape 8"/>
          <p:cNvSpPr/>
          <p:nvPr/>
        </p:nvSpPr>
        <p:spPr>
          <a:xfrm>
            <a:off x="777240" y="2496312"/>
            <a:ext cx="457200" cy="457200"/>
          </a:xfrm>
          <a:prstGeom prst="ellipse">
            <a:avLst/>
          </a:prstGeom>
          <a:solidFill>
            <a:schemeClr val="accent1"/>
          </a:solidFill>
          <a:ln w="12700">
            <a:solidFill>
              <a:schemeClr val="accent1"/>
            </a:solidFill>
            <a:prstDash val="solid"/>
          </a:ln>
        </p:spPr>
      </p:sp>
      <p:sp>
        <p:nvSpPr>
          <p:cNvPr id="12" name="Text 9"/>
          <p:cNvSpPr txBox="1"/>
          <p:nvPr/>
        </p:nvSpPr>
        <p:spPr>
          <a:xfrm>
            <a:off x="777240" y="24963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1417320" y="2542032"/>
            <a:ext cx="3291840" cy="384048"/>
          </a:xfrm>
          <a:prstGeom prst="rect">
            <a:avLst/>
          </a:prstGeom>
          <a:noFill/>
          <a:ln/>
        </p:spPr>
        <p:txBody>
          <a:bodyPr wrap="square" lIns="0" tIns="0" rIns="0" bIns="0" rtlCol="0" anchor="t"/>
          <a:lstStyle/>
          <a:p>
            <a:pPr indent="0" marL="0">
              <a:buNone/>
            </a:pPr>
            <a:r>
              <a:rPr lang="en-US" sz="1800" b="1" dirty="0">
                <a:solidFill>
                  <a:schemeClr val="tx1"/>
                </a:solidFill>
              </a:rPr>
              <a:t>Oracle staging table</a:t>
            </a:r>
            <a:endParaRPr lang="en-US" sz="1800" dirty="0"/>
          </a:p>
        </p:txBody>
      </p:sp>
      <p:sp>
        <p:nvSpPr>
          <p:cNvPr id="14" name="Text 11"/>
          <p:cNvSpPr txBox="1"/>
          <p:nvPr/>
        </p:nvSpPr>
        <p:spPr>
          <a:xfrm>
            <a:off x="4754880" y="2542032"/>
            <a:ext cx="6675120" cy="384048"/>
          </a:xfrm>
          <a:prstGeom prst="rect">
            <a:avLst/>
          </a:prstGeom>
          <a:noFill/>
          <a:ln/>
        </p:spPr>
        <p:txBody>
          <a:bodyPr wrap="square" lIns="0" tIns="0" rIns="0" bIns="0" rtlCol="0" anchor="t"/>
          <a:lstStyle/>
          <a:p>
            <a:pPr indent="0" marL="0">
              <a:buNone/>
            </a:pPr>
            <a:r>
              <a:rPr lang="en-US" sz="1500" dirty="0">
                <a:solidFill>
                  <a:schemeClr val="tx2"/>
                </a:solidFill>
              </a:rPr>
              <a:t>One row per approved request: who, what, before → after, impact</a:t>
            </a:r>
            <a:endParaRPr lang="en-US" sz="1500" dirty="0"/>
          </a:p>
        </p:txBody>
      </p:sp>
      <p:sp>
        <p:nvSpPr>
          <p:cNvPr id="15" name="Shape 12"/>
          <p:cNvSpPr/>
          <p:nvPr/>
        </p:nvSpPr>
        <p:spPr>
          <a:xfrm>
            <a:off x="548640" y="3172968"/>
            <a:ext cx="11064240" cy="676656"/>
          </a:xfrm>
          <a:prstGeom prst="roundRect">
            <a:avLst>
              <a:gd name="adj" fmla="val 13514"/>
            </a:avLst>
          </a:prstGeom>
          <a:solidFill>
            <a:srgbClr val="F7D9C4"/>
          </a:solidFill>
          <a:ln w="9525">
            <a:solidFill>
              <a:srgbClr val="F7D9C4"/>
            </a:solidFill>
            <a:prstDash val="solid"/>
          </a:ln>
        </p:spPr>
      </p:sp>
      <p:sp>
        <p:nvSpPr>
          <p:cNvPr id="16" name="Shape 13"/>
          <p:cNvSpPr/>
          <p:nvPr/>
        </p:nvSpPr>
        <p:spPr>
          <a:xfrm>
            <a:off x="777240" y="3282696"/>
            <a:ext cx="457200" cy="457200"/>
          </a:xfrm>
          <a:prstGeom prst="ellipse">
            <a:avLst/>
          </a:prstGeom>
          <a:solidFill>
            <a:schemeClr val="accent1"/>
          </a:solidFill>
          <a:ln w="12700">
            <a:solidFill>
              <a:schemeClr val="accent1"/>
            </a:solidFill>
            <a:prstDash val="solid"/>
          </a:ln>
        </p:spPr>
      </p:sp>
      <p:sp>
        <p:nvSpPr>
          <p:cNvPr id="17" name="Text 14"/>
          <p:cNvSpPr txBox="1"/>
          <p:nvPr/>
        </p:nvSpPr>
        <p:spPr>
          <a:xfrm>
            <a:off x="777240" y="328269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1417320" y="3328416"/>
            <a:ext cx="3291840" cy="384048"/>
          </a:xfrm>
          <a:prstGeom prst="rect">
            <a:avLst/>
          </a:prstGeom>
          <a:noFill/>
          <a:ln/>
        </p:spPr>
        <p:txBody>
          <a:bodyPr wrap="square" lIns="0" tIns="0" rIns="0" bIns="0" rtlCol="0" anchor="t"/>
          <a:lstStyle/>
          <a:p>
            <a:pPr indent="0" marL="0">
              <a:buNone/>
            </a:pPr>
            <a:r>
              <a:rPr lang="en-US" sz="1800" b="1" dirty="0">
                <a:solidFill>
                  <a:schemeClr val="tx1"/>
                </a:solidFill>
              </a:rPr>
              <a:t>PL/SQL procedure</a:t>
            </a:r>
            <a:endParaRPr lang="en-US" sz="1800" dirty="0"/>
          </a:p>
        </p:txBody>
      </p:sp>
      <p:sp>
        <p:nvSpPr>
          <p:cNvPr id="19" name="Text 16"/>
          <p:cNvSpPr txBox="1"/>
          <p:nvPr/>
        </p:nvSpPr>
        <p:spPr>
          <a:xfrm>
            <a:off x="4754880" y="3328416"/>
            <a:ext cx="6675120" cy="384048"/>
          </a:xfrm>
          <a:prstGeom prst="rect">
            <a:avLst/>
          </a:prstGeom>
          <a:noFill/>
          <a:ln/>
        </p:spPr>
        <p:txBody>
          <a:bodyPr wrap="square" lIns="0" tIns="0" rIns="0" bIns="0" rtlCol="0" anchor="t"/>
          <a:lstStyle/>
          <a:p>
            <a:pPr indent="0" marL="0">
              <a:buNone/>
            </a:pPr>
            <a:r>
              <a:rPr lang="en-US" sz="1500" dirty="0">
                <a:solidFill>
                  <a:schemeClr val="tx2"/>
                </a:solidFill>
              </a:rPr>
              <a:t>Re-checks, verifies the version, applies in one transaction</a:t>
            </a:r>
            <a:endParaRPr lang="en-US" sz="1500" dirty="0"/>
          </a:p>
        </p:txBody>
      </p:sp>
      <p:sp>
        <p:nvSpPr>
          <p:cNvPr id="20" name="Shape 17"/>
          <p:cNvSpPr/>
          <p:nvPr/>
        </p:nvSpPr>
        <p:spPr>
          <a:xfrm>
            <a:off x="548640" y="3959352"/>
            <a:ext cx="11064240" cy="676656"/>
          </a:xfrm>
          <a:prstGeom prst="roundRect">
            <a:avLst>
              <a:gd name="adj" fmla="val 13514"/>
            </a:avLst>
          </a:prstGeom>
          <a:solidFill>
            <a:schemeClr val="bg2"/>
          </a:solidFill>
          <a:ln w="9525">
            <a:solidFill>
              <a:schemeClr val="bg2"/>
            </a:solidFill>
            <a:prstDash val="solid"/>
          </a:ln>
        </p:spPr>
      </p:sp>
      <p:sp>
        <p:nvSpPr>
          <p:cNvPr id="21" name="Shape 18"/>
          <p:cNvSpPr/>
          <p:nvPr/>
        </p:nvSpPr>
        <p:spPr>
          <a:xfrm>
            <a:off x="777240" y="4069080"/>
            <a:ext cx="457200" cy="457200"/>
          </a:xfrm>
          <a:prstGeom prst="ellipse">
            <a:avLst/>
          </a:prstGeom>
          <a:solidFill>
            <a:schemeClr val="accent1"/>
          </a:solidFill>
          <a:ln w="12700">
            <a:solidFill>
              <a:schemeClr val="accent1"/>
            </a:solidFill>
            <a:prstDash val="solid"/>
          </a:ln>
        </p:spPr>
      </p:sp>
      <p:sp>
        <p:nvSpPr>
          <p:cNvPr id="22" name="Text 19"/>
          <p:cNvSpPr txBox="1"/>
          <p:nvPr/>
        </p:nvSpPr>
        <p:spPr>
          <a:xfrm>
            <a:off x="777240" y="4069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Text 20"/>
          <p:cNvSpPr txBox="1"/>
          <p:nvPr/>
        </p:nvSpPr>
        <p:spPr>
          <a:xfrm>
            <a:off x="1417320" y="4114800"/>
            <a:ext cx="3291840" cy="384048"/>
          </a:xfrm>
          <a:prstGeom prst="rect">
            <a:avLst/>
          </a:prstGeom>
          <a:noFill/>
          <a:ln/>
        </p:spPr>
        <p:txBody>
          <a:bodyPr wrap="square" lIns="0" tIns="0" rIns="0" bIns="0" rtlCol="0" anchor="t"/>
          <a:lstStyle/>
          <a:p>
            <a:pPr indent="0" marL="0">
              <a:buNone/>
            </a:pPr>
            <a:r>
              <a:rPr lang="en-US" sz="1800" b="1" dirty="0">
                <a:solidFill>
                  <a:schemeClr val="tx1"/>
                </a:solidFill>
              </a:rPr>
              <a:t>Configuration table</a:t>
            </a:r>
            <a:endParaRPr lang="en-US" sz="1800" dirty="0"/>
          </a:p>
        </p:txBody>
      </p:sp>
      <p:sp>
        <p:nvSpPr>
          <p:cNvPr id="24" name="Text 21"/>
          <p:cNvSpPr txBox="1"/>
          <p:nvPr/>
        </p:nvSpPr>
        <p:spPr>
          <a:xfrm>
            <a:off x="4754880" y="4114800"/>
            <a:ext cx="6675120" cy="384048"/>
          </a:xfrm>
          <a:prstGeom prst="rect">
            <a:avLst/>
          </a:prstGeom>
          <a:noFill/>
          <a:ln/>
        </p:spPr>
        <p:txBody>
          <a:bodyPr wrap="square" lIns="0" tIns="0" rIns="0" bIns="0" rtlCol="0" anchor="t"/>
          <a:lstStyle/>
          <a:p>
            <a:pPr indent="0" marL="0">
              <a:buNone/>
            </a:pPr>
            <a:r>
              <a:rPr lang="en-US" sz="1500" dirty="0">
                <a:solidFill>
                  <a:schemeClr val="tx2"/>
                </a:solidFill>
              </a:rPr>
              <a:t>The segment grid, versioned at every change</a:t>
            </a:r>
            <a:endParaRPr lang="en-US" sz="1500" dirty="0"/>
          </a:p>
        </p:txBody>
      </p:sp>
      <p:sp>
        <p:nvSpPr>
          <p:cNvPr id="25" name="Shape 22"/>
          <p:cNvSpPr/>
          <p:nvPr/>
        </p:nvSpPr>
        <p:spPr>
          <a:xfrm>
            <a:off x="548640" y="4745736"/>
            <a:ext cx="11064240" cy="676656"/>
          </a:xfrm>
          <a:prstGeom prst="roundRect">
            <a:avLst>
              <a:gd name="adj" fmla="val 13514"/>
            </a:avLst>
          </a:prstGeom>
          <a:solidFill>
            <a:schemeClr val="bg2"/>
          </a:solidFill>
          <a:ln w="9525">
            <a:solidFill>
              <a:schemeClr val="bg2"/>
            </a:solidFill>
            <a:prstDash val="solid"/>
          </a:ln>
        </p:spPr>
      </p:sp>
      <p:sp>
        <p:nvSpPr>
          <p:cNvPr id="26" name="Shape 23"/>
          <p:cNvSpPr/>
          <p:nvPr/>
        </p:nvSpPr>
        <p:spPr>
          <a:xfrm>
            <a:off x="777240" y="4855464"/>
            <a:ext cx="457200" cy="457200"/>
          </a:xfrm>
          <a:prstGeom prst="ellipse">
            <a:avLst/>
          </a:prstGeom>
          <a:solidFill>
            <a:schemeClr val="accent1"/>
          </a:solidFill>
          <a:ln w="12700">
            <a:solidFill>
              <a:schemeClr val="accent1"/>
            </a:solidFill>
            <a:prstDash val="solid"/>
          </a:ln>
        </p:spPr>
      </p:sp>
      <p:sp>
        <p:nvSpPr>
          <p:cNvPr id="27" name="Text 24"/>
          <p:cNvSpPr txBox="1"/>
          <p:nvPr/>
        </p:nvSpPr>
        <p:spPr>
          <a:xfrm>
            <a:off x="777240" y="485546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8" name="Text 25"/>
          <p:cNvSpPr txBox="1"/>
          <p:nvPr/>
        </p:nvSpPr>
        <p:spPr>
          <a:xfrm>
            <a:off x="1417320" y="4901184"/>
            <a:ext cx="3291840" cy="384048"/>
          </a:xfrm>
          <a:prstGeom prst="rect">
            <a:avLst/>
          </a:prstGeom>
          <a:noFill/>
          <a:ln/>
        </p:spPr>
        <p:txBody>
          <a:bodyPr wrap="square" lIns="0" tIns="0" rIns="0" bIns="0" rtlCol="0" anchor="t"/>
          <a:lstStyle/>
          <a:p>
            <a:pPr indent="0" marL="0">
              <a:buNone/>
            </a:pPr>
            <a:r>
              <a:rPr lang="en-US" sz="1800" b="1" dirty="0">
                <a:solidFill>
                  <a:schemeClr val="tx1"/>
                </a:solidFill>
              </a:rPr>
              <a:t>Daily NBO batch</a:t>
            </a:r>
            <a:endParaRPr lang="en-US" sz="1800" dirty="0"/>
          </a:p>
        </p:txBody>
      </p:sp>
      <p:sp>
        <p:nvSpPr>
          <p:cNvPr id="29" name="Text 26"/>
          <p:cNvSpPr txBox="1"/>
          <p:nvPr/>
        </p:nvSpPr>
        <p:spPr>
          <a:xfrm>
            <a:off x="4754880" y="4901184"/>
            <a:ext cx="6675120" cy="384048"/>
          </a:xfrm>
          <a:prstGeom prst="rect">
            <a:avLst/>
          </a:prstGeom>
          <a:noFill/>
          <a:ln/>
        </p:spPr>
        <p:txBody>
          <a:bodyPr wrap="square" lIns="0" tIns="0" rIns="0" bIns="0" rtlCol="0" anchor="t"/>
          <a:lstStyle/>
          <a:p>
            <a:pPr indent="0" marL="0">
              <a:buNone/>
            </a:pPr>
            <a:r>
              <a:rPr lang="en-US" sz="1500" dirty="0">
                <a:solidFill>
                  <a:schemeClr val="tx2"/>
                </a:solidFill>
              </a:rPr>
              <a:t>Reads the new grid → new offers, with no developer</a:t>
            </a:r>
            <a:endParaRPr lang="en-US" sz="1500" dirty="0"/>
          </a:p>
        </p:txBody>
      </p:sp>
      <p:sp>
        <p:nvSpPr>
          <p:cNvPr id="30" name="Text 27"/>
          <p:cNvSpPr txBox="1"/>
          <p:nvPr/>
        </p:nvSpPr>
        <p:spPr>
          <a:xfrm>
            <a:off x="548640" y="5623560"/>
            <a:ext cx="11064240" cy="365760"/>
          </a:xfrm>
          <a:prstGeom prst="rect">
            <a:avLst/>
          </a:prstGeom>
          <a:noFill/>
          <a:ln/>
        </p:spPr>
        <p:txBody>
          <a:bodyPr wrap="square" lIns="0" tIns="0" rIns="0" bIns="0" rtlCol="0" anchor="t"/>
          <a:lstStyle/>
          <a:p>
            <a:pPr indent="0" marL="0">
              <a:buNone/>
            </a:pPr>
            <a:r>
              <a:rPr lang="en-US" sz="1600" dirty="0">
                <a:solidFill>
                  <a:schemeClr val="tx2"/>
                </a:solidFill>
              </a:rPr>
              <a:t>The app never writes the production grid directly: </a:t>
            </a:r>
            <a:pPr indent="0" marL="0">
              <a:buNone/>
            </a:pPr>
            <a:r>
              <a:rPr lang="en-US" sz="1600" b="1" dirty="0">
                <a:solidFill>
                  <a:schemeClr val="tx2"/>
                </a:solidFill>
              </a:rPr>
              <a:t>the database re-checks every request before applying it.</a:t>
            </a:r>
            <a:endParaRPr lang="en-US" sz="1600" dirty="0"/>
          </a:p>
        </p:txBody>
      </p:sp>
      <p:sp>
        <p:nvSpPr>
          <p:cNvPr id="31" name="Text 28"/>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200" dirty="0">
                <a:solidFill>
                  <a:schemeClr val="accent6"/>
                </a:solidFill>
              </a:rPr>
              <a:t>Detailed plan: docs/oracle_integration_plan.md · not implemented in the repository, delivered in the target environment.</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RESULTS</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One offer per customer, every change under control</a:t>
            </a:r>
            <a:endParaRPr lang="en-US" sz="3000" dirty="0"/>
          </a:p>
        </p:txBody>
      </p:sp>
      <p:sp>
        <p:nvSpPr>
          <p:cNvPr id="5" name="Shape 2"/>
          <p:cNvSpPr/>
          <p:nvPr/>
        </p:nvSpPr>
        <p:spPr>
          <a:xfrm>
            <a:off x="548640" y="1737360"/>
            <a:ext cx="2606040" cy="2651760"/>
          </a:xfrm>
          <a:prstGeom prst="roundRect">
            <a:avLst>
              <a:gd name="adj" fmla="val 3509"/>
            </a:avLst>
          </a:prstGeom>
          <a:solidFill>
            <a:schemeClr val="bg2"/>
          </a:solidFill>
          <a:ln w="9525">
            <a:solidFill>
              <a:schemeClr val="bg2"/>
            </a:solidFill>
            <a:prstDash val="solid"/>
          </a:ln>
        </p:spPr>
      </p:sp>
      <p:sp>
        <p:nvSpPr>
          <p:cNvPr id="6" name="Text 3"/>
          <p:cNvSpPr txBox="1"/>
          <p:nvPr/>
        </p:nvSpPr>
        <p:spPr>
          <a:xfrm>
            <a:off x="777240" y="1965960"/>
            <a:ext cx="2194560" cy="914400"/>
          </a:xfrm>
          <a:prstGeom prst="rect">
            <a:avLst/>
          </a:prstGeom>
          <a:noFill/>
          <a:ln/>
        </p:spPr>
        <p:txBody>
          <a:bodyPr wrap="square" lIns="0" tIns="0" rIns="0" bIns="0" rtlCol="0" anchor="t"/>
          <a:lstStyle/>
          <a:p>
            <a:pPr indent="0" marL="0">
              <a:buNone/>
            </a:pPr>
            <a:r>
              <a:rPr lang="en-US" sz="4800" b="1" dirty="0">
                <a:solidFill>
                  <a:schemeClr val="accent1"/>
                </a:solidFill>
                <a:latin typeface="Arial" pitchFamily="34" charset="0"/>
                <a:ea typeface="Arial" pitchFamily="34" charset="-122"/>
                <a:cs typeface="Arial" pitchFamily="34" charset="-120"/>
              </a:rPr>
              <a:t>6,000</a:t>
            </a:r>
            <a:endParaRPr lang="en-US" sz="4800" dirty="0"/>
          </a:p>
        </p:txBody>
      </p:sp>
      <p:sp>
        <p:nvSpPr>
          <p:cNvPr id="7" name="Text 4"/>
          <p:cNvSpPr txBox="1"/>
          <p:nvPr/>
        </p:nvSpPr>
        <p:spPr>
          <a:xfrm>
            <a:off x="777240" y="3017520"/>
            <a:ext cx="2194560" cy="1188720"/>
          </a:xfrm>
          <a:prstGeom prst="rect">
            <a:avLst/>
          </a:prstGeom>
          <a:noFill/>
          <a:ln/>
        </p:spPr>
        <p:txBody>
          <a:bodyPr wrap="square" lIns="0" tIns="0" rIns="0" bIns="0" rtlCol="0" anchor="t"/>
          <a:lstStyle/>
          <a:p>
            <a:pPr indent="0" marL="0">
              <a:buNone/>
            </a:pPr>
            <a:r>
              <a:rPr lang="en-US" sz="1600" dirty="0">
                <a:solidFill>
                  <a:schemeClr val="tx2"/>
                </a:solidFill>
              </a:rPr>
              <a:t>subscribers, each in exactly 1 of 14 segments</a:t>
            </a:r>
            <a:endParaRPr lang="en-US" sz="1600" dirty="0"/>
          </a:p>
        </p:txBody>
      </p:sp>
      <p:sp>
        <p:nvSpPr>
          <p:cNvPr id="8" name="Shape 5"/>
          <p:cNvSpPr/>
          <p:nvPr/>
        </p:nvSpPr>
        <p:spPr>
          <a:xfrm>
            <a:off x="3383280" y="1737360"/>
            <a:ext cx="2606040" cy="2651760"/>
          </a:xfrm>
          <a:prstGeom prst="roundRect">
            <a:avLst>
              <a:gd name="adj" fmla="val 3509"/>
            </a:avLst>
          </a:prstGeom>
          <a:solidFill>
            <a:schemeClr val="bg2"/>
          </a:solidFill>
          <a:ln w="9525">
            <a:solidFill>
              <a:schemeClr val="bg2"/>
            </a:solidFill>
            <a:prstDash val="solid"/>
          </a:ln>
        </p:spPr>
      </p:sp>
      <p:sp>
        <p:nvSpPr>
          <p:cNvPr id="9" name="Text 6"/>
          <p:cNvSpPr txBox="1"/>
          <p:nvPr/>
        </p:nvSpPr>
        <p:spPr>
          <a:xfrm>
            <a:off x="3611880" y="1965960"/>
            <a:ext cx="2194560" cy="914400"/>
          </a:xfrm>
          <a:prstGeom prst="rect">
            <a:avLst/>
          </a:prstGeom>
          <a:noFill/>
          <a:ln/>
        </p:spPr>
        <p:txBody>
          <a:bodyPr wrap="square" lIns="0" tIns="0" rIns="0" bIns="0" rtlCol="0" anchor="t"/>
          <a:lstStyle/>
          <a:p>
            <a:pPr indent="0" marL="0">
              <a:buNone/>
            </a:pPr>
            <a:r>
              <a:rPr lang="en-US" sz="4800" b="1" dirty="0">
                <a:solidFill>
                  <a:schemeClr val="accent1"/>
                </a:solidFill>
                <a:latin typeface="Arial" pitchFamily="34" charset="0"/>
                <a:ea typeface="Arial" pitchFamily="34" charset="-122"/>
                <a:cs typeface="Arial" pitchFamily="34" charset="-120"/>
              </a:rPr>
              <a:t>11 / 11</a:t>
            </a:r>
            <a:endParaRPr lang="en-US" sz="4800" dirty="0"/>
          </a:p>
        </p:txBody>
      </p:sp>
      <p:sp>
        <p:nvSpPr>
          <p:cNvPr id="10" name="Text 7"/>
          <p:cNvSpPr txBox="1"/>
          <p:nvPr/>
        </p:nvSpPr>
        <p:spPr>
          <a:xfrm>
            <a:off x="3611880" y="3017520"/>
            <a:ext cx="2194560" cy="1188720"/>
          </a:xfrm>
          <a:prstGeom prst="rect">
            <a:avLst/>
          </a:prstGeom>
          <a:noFill/>
          <a:ln/>
        </p:spPr>
        <p:txBody>
          <a:bodyPr wrap="square" lIns="0" tIns="0" rIns="0" bIns="0" rtlCol="0" anchor="t"/>
          <a:lstStyle/>
          <a:p>
            <a:pPr indent="0" marL="0">
              <a:buNone/>
            </a:pPr>
            <a:r>
              <a:rPr lang="en-US" sz="1600" dirty="0">
                <a:solidFill>
                  <a:schemeClr val="tx2"/>
                </a:solidFill>
              </a:rPr>
              <a:t>real LLM requests handled correctly</a:t>
            </a:r>
            <a:endParaRPr lang="en-US" sz="1600" dirty="0"/>
          </a:p>
        </p:txBody>
      </p:sp>
      <p:sp>
        <p:nvSpPr>
          <p:cNvPr id="11" name="Shape 8"/>
          <p:cNvSpPr/>
          <p:nvPr/>
        </p:nvSpPr>
        <p:spPr>
          <a:xfrm>
            <a:off x="6217920" y="1737360"/>
            <a:ext cx="2606040" cy="2651760"/>
          </a:xfrm>
          <a:prstGeom prst="roundRect">
            <a:avLst>
              <a:gd name="adj" fmla="val 3509"/>
            </a:avLst>
          </a:prstGeom>
          <a:solidFill>
            <a:schemeClr val="bg2"/>
          </a:solidFill>
          <a:ln w="9525">
            <a:solidFill>
              <a:schemeClr val="bg2"/>
            </a:solidFill>
            <a:prstDash val="solid"/>
          </a:ln>
        </p:spPr>
      </p:sp>
      <p:sp>
        <p:nvSpPr>
          <p:cNvPr id="12" name="Text 9"/>
          <p:cNvSpPr txBox="1"/>
          <p:nvPr/>
        </p:nvSpPr>
        <p:spPr>
          <a:xfrm>
            <a:off x="6446520" y="1965960"/>
            <a:ext cx="2194560" cy="914400"/>
          </a:xfrm>
          <a:prstGeom prst="rect">
            <a:avLst/>
          </a:prstGeom>
          <a:noFill/>
          <a:ln/>
        </p:spPr>
        <p:txBody>
          <a:bodyPr wrap="square" lIns="0" tIns="0" rIns="0" bIns="0" rtlCol="0" anchor="t"/>
          <a:lstStyle/>
          <a:p>
            <a:pPr indent="0" marL="0">
              <a:buNone/>
            </a:pPr>
            <a:r>
              <a:rPr lang="en-US" sz="4800" b="1" dirty="0">
                <a:solidFill>
                  <a:schemeClr val="accent1"/>
                </a:solidFill>
                <a:latin typeface="Arial" pitchFamily="34" charset="0"/>
                <a:ea typeface="Arial" pitchFamily="34" charset="-122"/>
                <a:cs typeface="Arial" pitchFamily="34" charset="-120"/>
              </a:rPr>
              <a:t>10</a:t>
            </a:r>
            <a:endParaRPr lang="en-US" sz="4800" dirty="0"/>
          </a:p>
        </p:txBody>
      </p:sp>
      <p:sp>
        <p:nvSpPr>
          <p:cNvPr id="13" name="Text 10"/>
          <p:cNvSpPr txBox="1"/>
          <p:nvPr/>
        </p:nvSpPr>
        <p:spPr>
          <a:xfrm>
            <a:off x="6446520" y="3017520"/>
            <a:ext cx="2194560" cy="1188720"/>
          </a:xfrm>
          <a:prstGeom prst="rect">
            <a:avLst/>
          </a:prstGeom>
          <a:noFill/>
          <a:ln/>
        </p:spPr>
        <p:txBody>
          <a:bodyPr wrap="square" lIns="0" tIns="0" rIns="0" bIns="0" rtlCol="0" anchor="t"/>
          <a:lstStyle/>
          <a:p>
            <a:pPr indent="0" marL="0">
              <a:buNone/>
            </a:pPr>
            <a:r>
              <a:rPr lang="en-US" sz="1600" dirty="0">
                <a:solidFill>
                  <a:schemeClr val="tx2"/>
                </a:solidFill>
              </a:rPr>
              <a:t>guardrails, each tested with its message</a:t>
            </a:r>
            <a:endParaRPr lang="en-US" sz="1600" dirty="0"/>
          </a:p>
        </p:txBody>
      </p:sp>
      <p:sp>
        <p:nvSpPr>
          <p:cNvPr id="14" name="Shape 11"/>
          <p:cNvSpPr/>
          <p:nvPr/>
        </p:nvSpPr>
        <p:spPr>
          <a:xfrm>
            <a:off x="9052560" y="1737360"/>
            <a:ext cx="2606040" cy="2651760"/>
          </a:xfrm>
          <a:prstGeom prst="roundRect">
            <a:avLst>
              <a:gd name="adj" fmla="val 3509"/>
            </a:avLst>
          </a:prstGeom>
          <a:solidFill>
            <a:schemeClr val="bg2"/>
          </a:solidFill>
          <a:ln w="9525">
            <a:solidFill>
              <a:schemeClr val="bg2"/>
            </a:solidFill>
            <a:prstDash val="solid"/>
          </a:ln>
        </p:spPr>
      </p:sp>
      <p:sp>
        <p:nvSpPr>
          <p:cNvPr id="15" name="Text 12"/>
          <p:cNvSpPr txBox="1"/>
          <p:nvPr/>
        </p:nvSpPr>
        <p:spPr>
          <a:xfrm>
            <a:off x="9281160" y="1965960"/>
            <a:ext cx="2194560" cy="914400"/>
          </a:xfrm>
          <a:prstGeom prst="rect">
            <a:avLst/>
          </a:prstGeom>
          <a:noFill/>
          <a:ln/>
        </p:spPr>
        <p:txBody>
          <a:bodyPr wrap="square" lIns="0" tIns="0" rIns="0" bIns="0" rtlCol="0" anchor="t"/>
          <a:lstStyle/>
          <a:p>
            <a:pPr indent="0" marL="0">
              <a:buNone/>
            </a:pPr>
            <a:r>
              <a:rPr lang="en-US" sz="4800" b="1" dirty="0">
                <a:solidFill>
                  <a:schemeClr val="accent1"/>
                </a:solidFill>
                <a:latin typeface="Arial" pitchFamily="34" charset="0"/>
                <a:ea typeface="Arial" pitchFamily="34" charset="-122"/>
                <a:cs typeface="Arial" pitchFamily="34" charset="-120"/>
              </a:rPr>
              <a:t>0</a:t>
            </a:r>
            <a:endParaRPr lang="en-US" sz="4800" dirty="0"/>
          </a:p>
        </p:txBody>
      </p:sp>
      <p:sp>
        <p:nvSpPr>
          <p:cNvPr id="16" name="Text 13"/>
          <p:cNvSpPr txBox="1"/>
          <p:nvPr/>
        </p:nvSpPr>
        <p:spPr>
          <a:xfrm>
            <a:off x="9281160" y="3017520"/>
            <a:ext cx="2194560" cy="1188720"/>
          </a:xfrm>
          <a:prstGeom prst="rect">
            <a:avLst/>
          </a:prstGeom>
          <a:noFill/>
          <a:ln/>
        </p:spPr>
        <p:txBody>
          <a:bodyPr wrap="square" lIns="0" tIns="0" rIns="0" bIns="0" rtlCol="0" anchor="t"/>
          <a:lstStyle/>
          <a:p>
            <a:pPr indent="0" marL="0">
              <a:buNone/>
            </a:pPr>
            <a:r>
              <a:rPr lang="en-US" sz="1600" dirty="0">
                <a:solidFill>
                  <a:schemeClr val="tx2"/>
                </a:solidFill>
              </a:rPr>
              <a:t>overlapping change applied</a:t>
            </a:r>
            <a:endParaRPr lang="en-US" sz="1600" dirty="0"/>
          </a:p>
        </p:txBody>
      </p:sp>
      <p:sp>
        <p:nvSpPr>
          <p:cNvPr id="17" name="Shape 14"/>
          <p:cNvSpPr/>
          <p:nvPr/>
        </p:nvSpPr>
        <p:spPr>
          <a:xfrm>
            <a:off x="548640" y="4754880"/>
            <a:ext cx="11064240" cy="1051560"/>
          </a:xfrm>
          <a:prstGeom prst="roundRect">
            <a:avLst>
              <a:gd name="adj" fmla="val 8696"/>
            </a:avLst>
          </a:prstGeom>
          <a:solidFill>
            <a:schemeClr val="tx1"/>
          </a:solidFill>
          <a:ln w="9525">
            <a:solidFill>
              <a:schemeClr val="tx1"/>
            </a:solidFill>
            <a:prstDash val="solid"/>
          </a:ln>
        </p:spPr>
      </p:sp>
      <p:sp>
        <p:nvSpPr>
          <p:cNvPr id="18" name="Text 15"/>
          <p:cNvSpPr txBox="1"/>
          <p:nvPr/>
        </p:nvSpPr>
        <p:spPr>
          <a:xfrm>
            <a:off x="822960" y="4892040"/>
            <a:ext cx="10515600" cy="777240"/>
          </a:xfrm>
          <a:prstGeom prst="rect">
            <a:avLst/>
          </a:prstGeom>
          <a:noFill/>
          <a:ln/>
        </p:spPr>
        <p:txBody>
          <a:bodyPr wrap="square" lIns="0" tIns="0" rIns="0" bIns="0" rtlCol="0" anchor="ctr"/>
          <a:lstStyle/>
          <a:p>
            <a:pPr indent="0" marL="0">
              <a:buNone/>
            </a:pPr>
            <a:r>
              <a:rPr lang="en-US" sz="2000" dirty="0">
                <a:solidFill>
                  <a:schemeClr val="bg1"/>
                </a:solidFill>
              </a:rPr>
              <a:t>A strategy change goes from "ticket + developer + release" to </a:t>
            </a:r>
            <a:pPr indent="0" marL="0">
              <a:buNone/>
            </a:pPr>
            <a:r>
              <a:rPr lang="en-US" sz="2000" b="1" dirty="0">
                <a:solidFill>
                  <a:srgbClr val="E8833A"/>
                </a:solidFill>
              </a:rPr>
              <a:t>one sentence, controlled and traced in seconds.</a:t>
            </a:r>
            <a:endParaRPr lang="en-US" sz="2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DESIGN CHOICES</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Three decisions that make the AI deployable</a:t>
            </a:r>
            <a:endParaRPr lang="en-US" sz="3000" dirty="0"/>
          </a:p>
        </p:txBody>
      </p:sp>
      <p:sp>
        <p:nvSpPr>
          <p:cNvPr id="5" name="Shape 2"/>
          <p:cNvSpPr/>
          <p:nvPr/>
        </p:nvSpPr>
        <p:spPr>
          <a:xfrm>
            <a:off x="548640" y="1737360"/>
            <a:ext cx="3566160" cy="3566160"/>
          </a:xfrm>
          <a:prstGeom prst="roundRect">
            <a:avLst>
              <a:gd name="adj" fmla="val 2564"/>
            </a:avLst>
          </a:prstGeom>
          <a:solidFill>
            <a:schemeClr val="bg2"/>
          </a:solidFill>
          <a:ln w="9525">
            <a:solidFill>
              <a:schemeClr val="bg2"/>
            </a:solidFill>
            <a:prstDash val="solid"/>
          </a:ln>
        </p:spPr>
      </p:sp>
      <p:sp>
        <p:nvSpPr>
          <p:cNvPr id="6" name="Shape 3"/>
          <p:cNvSpPr/>
          <p:nvPr/>
        </p:nvSpPr>
        <p:spPr>
          <a:xfrm>
            <a:off x="868680" y="2011680"/>
            <a:ext cx="457200" cy="457200"/>
          </a:xfrm>
          <a:prstGeom prst="ellipse">
            <a:avLst/>
          </a:prstGeom>
          <a:solidFill>
            <a:schemeClr val="accent2"/>
          </a:solidFill>
          <a:ln w="12700">
            <a:solidFill>
              <a:schemeClr val="accent2"/>
            </a:solidFill>
            <a:prstDash val="solid"/>
          </a:ln>
        </p:spPr>
      </p:sp>
      <p:sp>
        <p:nvSpPr>
          <p:cNvPr id="7" name="Text 4"/>
          <p:cNvSpPr txBox="1"/>
          <p:nvPr/>
        </p:nvSpPr>
        <p:spPr>
          <a:xfrm>
            <a:off x="868680" y="2011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868680" y="2697480"/>
            <a:ext cx="2926080" cy="8686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The AI proposes, the engine decides</a:t>
            </a:r>
            <a:endParaRPr lang="en-US" sz="2000" dirty="0"/>
          </a:p>
        </p:txBody>
      </p:sp>
      <p:sp>
        <p:nvSpPr>
          <p:cNvPr id="9" name="Text 6"/>
          <p:cNvSpPr txBox="1"/>
          <p:nvPr/>
        </p:nvSpPr>
        <p:spPr>
          <a:xfrm>
            <a:off x="868680" y="3611880"/>
            <a:ext cx="2926080" cy="1554480"/>
          </a:xfrm>
          <a:prstGeom prst="rect">
            <a:avLst/>
          </a:prstGeom>
          <a:noFill/>
          <a:ln/>
        </p:spPr>
        <p:txBody>
          <a:bodyPr wrap="square" lIns="0" tIns="0" rIns="0" bIns="0" rtlCol="0" anchor="t"/>
          <a:lstStyle/>
          <a:p>
            <a:pPr indent="0" marL="0">
              <a:buNone/>
            </a:pPr>
            <a:r>
              <a:rPr lang="en-US" sz="1600" dirty="0">
                <a:solidFill>
                  <a:schemeClr val="tx2"/>
                </a:solidFill>
              </a:rPr>
              <a:t>The LLM never writes the data. Everything goes through deterministic, testable validation.</a:t>
            </a:r>
            <a:endParaRPr lang="en-US" sz="1600" dirty="0"/>
          </a:p>
        </p:txBody>
      </p:sp>
      <p:sp>
        <p:nvSpPr>
          <p:cNvPr id="10" name="Shape 7"/>
          <p:cNvSpPr/>
          <p:nvPr/>
        </p:nvSpPr>
        <p:spPr>
          <a:xfrm>
            <a:off x="4297680" y="1737360"/>
            <a:ext cx="3566160" cy="3566160"/>
          </a:xfrm>
          <a:prstGeom prst="roundRect">
            <a:avLst>
              <a:gd name="adj" fmla="val 2564"/>
            </a:avLst>
          </a:prstGeom>
          <a:solidFill>
            <a:schemeClr val="bg2"/>
          </a:solidFill>
          <a:ln w="9525">
            <a:solidFill>
              <a:schemeClr val="bg2"/>
            </a:solidFill>
            <a:prstDash val="solid"/>
          </a:ln>
        </p:spPr>
      </p:sp>
      <p:sp>
        <p:nvSpPr>
          <p:cNvPr id="11" name="Shape 8"/>
          <p:cNvSpPr/>
          <p:nvPr/>
        </p:nvSpPr>
        <p:spPr>
          <a:xfrm>
            <a:off x="4617720" y="2011680"/>
            <a:ext cx="457200" cy="457200"/>
          </a:xfrm>
          <a:prstGeom prst="ellipse">
            <a:avLst/>
          </a:prstGeom>
          <a:solidFill>
            <a:schemeClr val="accent2"/>
          </a:solidFill>
          <a:ln w="12700">
            <a:solidFill>
              <a:schemeClr val="accent2"/>
            </a:solidFill>
            <a:prstDash val="solid"/>
          </a:ln>
        </p:spPr>
      </p:sp>
      <p:sp>
        <p:nvSpPr>
          <p:cNvPr id="12" name="Text 9"/>
          <p:cNvSpPr txBox="1"/>
          <p:nvPr/>
        </p:nvSpPr>
        <p:spPr>
          <a:xfrm>
            <a:off x="4617720" y="2011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4617720" y="2697480"/>
            <a:ext cx="2926080" cy="8686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Provider-agnostic</a:t>
            </a:r>
            <a:endParaRPr lang="en-US" sz="2000" dirty="0"/>
          </a:p>
        </p:txBody>
      </p:sp>
      <p:sp>
        <p:nvSpPr>
          <p:cNvPr id="14" name="Text 11"/>
          <p:cNvSpPr txBox="1"/>
          <p:nvPr/>
        </p:nvSpPr>
        <p:spPr>
          <a:xfrm>
            <a:off x="4617720" y="3611880"/>
            <a:ext cx="2926080" cy="1554480"/>
          </a:xfrm>
          <a:prstGeom prst="rect">
            <a:avLst/>
          </a:prstGeom>
          <a:noFill/>
          <a:ln/>
        </p:spPr>
        <p:txBody>
          <a:bodyPr wrap="square" lIns="0" tIns="0" rIns="0" bIns="0" rtlCol="0" anchor="t"/>
          <a:lstStyle/>
          <a:p>
            <a:pPr indent="0" marL="0">
              <a:buNone/>
            </a:pPr>
            <a:r>
              <a:rPr lang="en-US" sz="1600" dirty="0">
                <a:solidFill>
                  <a:schemeClr val="tx2"/>
                </a:solidFill>
              </a:rPr>
              <a:t>OpenAI today; a private or local model tomorrow, so that no telecom data leaves the company.</a:t>
            </a:r>
            <a:endParaRPr lang="en-US" sz="1600" dirty="0"/>
          </a:p>
        </p:txBody>
      </p:sp>
      <p:sp>
        <p:nvSpPr>
          <p:cNvPr id="15" name="Shape 12"/>
          <p:cNvSpPr/>
          <p:nvPr/>
        </p:nvSpPr>
        <p:spPr>
          <a:xfrm>
            <a:off x="8046720" y="1737360"/>
            <a:ext cx="3566160" cy="3566160"/>
          </a:xfrm>
          <a:prstGeom prst="roundRect">
            <a:avLst>
              <a:gd name="adj" fmla="val 2564"/>
            </a:avLst>
          </a:prstGeom>
          <a:solidFill>
            <a:schemeClr val="bg2"/>
          </a:solidFill>
          <a:ln w="9525">
            <a:solidFill>
              <a:schemeClr val="bg2"/>
            </a:solidFill>
            <a:prstDash val="solid"/>
          </a:ln>
        </p:spPr>
      </p:sp>
      <p:sp>
        <p:nvSpPr>
          <p:cNvPr id="16" name="Shape 13"/>
          <p:cNvSpPr/>
          <p:nvPr/>
        </p:nvSpPr>
        <p:spPr>
          <a:xfrm>
            <a:off x="8366760" y="2011680"/>
            <a:ext cx="457200" cy="457200"/>
          </a:xfrm>
          <a:prstGeom prst="ellipse">
            <a:avLst/>
          </a:prstGeom>
          <a:solidFill>
            <a:schemeClr val="accent2"/>
          </a:solidFill>
          <a:ln w="12700">
            <a:solidFill>
              <a:schemeClr val="accent2"/>
            </a:solidFill>
            <a:prstDash val="solid"/>
          </a:ln>
        </p:spPr>
      </p:sp>
      <p:sp>
        <p:nvSpPr>
          <p:cNvPr id="17" name="Text 14"/>
          <p:cNvSpPr txBox="1"/>
          <p:nvPr/>
        </p:nvSpPr>
        <p:spPr>
          <a:xfrm>
            <a:off x="8366760" y="2011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8366760" y="2697480"/>
            <a:ext cx="2926080" cy="8686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Safe to show</a:t>
            </a:r>
            <a:endParaRPr lang="en-US" sz="2000" dirty="0"/>
          </a:p>
        </p:txBody>
      </p:sp>
      <p:sp>
        <p:nvSpPr>
          <p:cNvPr id="19" name="Text 16"/>
          <p:cNvSpPr txBox="1"/>
          <p:nvPr/>
        </p:nvSpPr>
        <p:spPr>
          <a:xfrm>
            <a:off x="8366760" y="3611880"/>
            <a:ext cx="2926080" cy="1554480"/>
          </a:xfrm>
          <a:prstGeom prst="rect">
            <a:avLst/>
          </a:prstGeom>
          <a:noFill/>
          <a:ln/>
        </p:spPr>
        <p:txBody>
          <a:bodyPr wrap="square" lIns="0" tIns="0" rIns="0" bIns="0" rtlCol="0" anchor="t"/>
          <a:lstStyle/>
          <a:p>
            <a:pPr indent="0" marL="0">
              <a:buNone/>
            </a:pPr>
            <a:r>
              <a:rPr lang="en-US" sz="1600" dirty="0">
                <a:solidFill>
                  <a:schemeClr val="tx2"/>
                </a:solidFill>
              </a:rPr>
              <a:t>Synthetic data and a fictional grid inspired by real NBO practice. No operator named.</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STACK &amp; SKILLS</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From raw data to a business-ready interface</a:t>
            </a:r>
            <a:endParaRPr lang="en-US" sz="3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651760"/>
                <a:gridCol w="3931920"/>
                <a:gridCol w="4480560"/>
              </a:tblGrid>
              <a:tr h="457200">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Area</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Tools</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What it demonstrates</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r>
              <a:tr h="457200">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Data engineering</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Python, pandas</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Variables, rules engine, impact simulation</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r>
              <a:tr h="457200">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Governance</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Validation + impact check</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Safe self-service, no conflicting offers</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r h="457200">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Generative AI</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LangChain, OpenAI gpt-4o-mini</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RAG, structured JSON, controlled refusal</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r>
              <a:tr h="457200">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Vector search</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Chroma, text-embedding-3-small</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Indexing a knowledge base</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r h="457200">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Traceability</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JSONL log, CSV rule versions</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Audit and rollback</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r>
              <a:tr h="457200">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Product</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Streamlit</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An interface the business can actually use</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r h="457200">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Quality</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Streamlit AppTest, Playwright</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End-to-end tests, automated captures</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r>
              <a:tr h="457200">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Production (plan)</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Oracle, PL/SQL</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600" dirty="0">
                          <a:solidFill>
                            <a:schemeClr val="tx2"/>
                          </a:solidFill>
                          <a:latin typeface="Calibri" pitchFamily="34" charset="0"/>
                          <a:ea typeface="Calibri" pitchFamily="34" charset="-122"/>
                          <a:cs typeface="Calibri" pitchFamily="34" charset="-120"/>
                        </a:rPr>
                        <a:t>Staging → checked apply → versioned grid</a:t>
                      </a:r>
                      <a:endParaRPr lang="en-US" sz="1600" dirty="0">
                        <a:latin typeface="Calibri" charset="0"/>
                        <a:ea typeface="Calibri" charset="0"/>
                        <a:cs typeface="Calibri" charset="0"/>
                      </a:endParaRPr>
                    </a:p>
                  </a:txBody>
                  <a:tcPr marL="91440" marR="91440"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p>
            <a:pPr indent="0" marL="0">
              <a:buNone/>
            </a:pPr>
            <a:r>
              <a:rPr lang="en-US" sz="1200" b="1" spc="200" kern="0" dirty="0">
                <a:solidFill>
                  <a:schemeClr val="accent1"/>
                </a:solidFill>
              </a:rPr>
              <a:t>LIMITS &amp; NEXT STEPS</a:t>
            </a:r>
            <a:endParaRPr lang="en-US" sz="1200" dirty="0"/>
          </a:p>
        </p:txBody>
      </p:sp>
      <p:sp>
        <p:nvSpPr>
          <p:cNvPr id="3" name="Text 0"/>
          <p:cNvSpPr/>
          <p:nvPr>
            <p:ph idx="101" type="title" hasCustomPrompt="1"/>
          </p:nvPr>
        </p:nvSpPr>
        <p:spPr>
          <a:xfrm>
            <a:off x="548640" y="640080"/>
            <a:ext cx="11064240" cy="731520"/>
          </a:xfrm>
          <a:prstGeom prst="rect">
            <a:avLst/>
          </a:prstGeom>
          <a:noFill/>
          <a:ln/>
        </p:spPr>
        <p:txBody>
          <a:bodyPr wrap="square" rtlCol="0" anchor="t"/>
          <a:lstStyle/>
          <a:p>
            <a:pPr algn="l" indent="0" marL="0">
              <a:buNone/>
            </a:pPr>
            <a:r>
              <a:rPr lang="en-US" sz="3000" b="1" dirty="0">
                <a:solidFill>
                  <a:schemeClr val="tx1"/>
                </a:solidFill>
              </a:rPr>
              <a:t>What I would do next</a:t>
            </a:r>
            <a:endParaRPr lang="en-US" sz="3000" dirty="0"/>
          </a:p>
        </p:txBody>
      </p:sp>
      <p:sp>
        <p:nvSpPr>
          <p:cNvPr id="5" name="Shape 2"/>
          <p:cNvSpPr/>
          <p:nvPr/>
        </p:nvSpPr>
        <p:spPr>
          <a:xfrm>
            <a:off x="548640" y="1600200"/>
            <a:ext cx="5394960" cy="2011680"/>
          </a:xfrm>
          <a:prstGeom prst="roundRect">
            <a:avLst>
              <a:gd name="adj" fmla="val 4545"/>
            </a:avLst>
          </a:prstGeom>
          <a:solidFill>
            <a:schemeClr val="bg2"/>
          </a:solidFill>
          <a:ln w="9525">
            <a:solidFill>
              <a:schemeClr val="bg2"/>
            </a:solidFill>
            <a:prstDash val="solid"/>
          </a:ln>
        </p:spPr>
      </p:sp>
      <p:sp>
        <p:nvSpPr>
          <p:cNvPr id="6" name="Text 3"/>
          <p:cNvSpPr txBox="1"/>
          <p:nvPr/>
        </p:nvSpPr>
        <p:spPr>
          <a:xfrm>
            <a:off x="822960" y="1783080"/>
            <a:ext cx="4846320" cy="4114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One change per request</a:t>
            </a:r>
            <a:endParaRPr lang="en-US" sz="1900" dirty="0"/>
          </a:p>
        </p:txBody>
      </p:sp>
      <p:sp>
        <p:nvSpPr>
          <p:cNvPr id="7" name="Text 4"/>
          <p:cNvSpPr txBox="1"/>
          <p:nvPr/>
        </p:nvSpPr>
        <p:spPr>
          <a:xfrm>
            <a:off x="822960" y="2286000"/>
            <a:ext cx="4846320" cy="548640"/>
          </a:xfrm>
          <a:prstGeom prst="rect">
            <a:avLst/>
          </a:prstGeom>
          <a:noFill/>
          <a:ln/>
        </p:spPr>
        <p:txBody>
          <a:bodyPr wrap="square" lIns="0" tIns="0" rIns="0" bIns="0" rtlCol="0" anchor="t"/>
          <a:lstStyle/>
          <a:p>
            <a:pPr indent="0" marL="0">
              <a:buNone/>
            </a:pPr>
            <a:r>
              <a:rPr lang="en-US" sz="1500" dirty="0">
                <a:solidFill>
                  <a:schemeClr val="tx2"/>
                </a:solidFill>
              </a:rPr>
              <a:t>Targeting high churn in Champion Upsell also requires changing Champion Protect.</a:t>
            </a:r>
            <a:endParaRPr lang="en-US" sz="1500" dirty="0"/>
          </a:p>
        </p:txBody>
      </p:sp>
      <p:sp>
        <p:nvSpPr>
          <p:cNvPr id="8" name="Text 5"/>
          <p:cNvSpPr txBox="1"/>
          <p:nvPr/>
        </p:nvSpPr>
        <p:spPr>
          <a:xfrm>
            <a:off x="822960" y="2880360"/>
            <a:ext cx="4846320" cy="594360"/>
          </a:xfrm>
          <a:prstGeom prst="rect">
            <a:avLst/>
          </a:prstGeom>
          <a:noFill/>
          <a:ln/>
        </p:spPr>
        <p:txBody>
          <a:bodyPr wrap="square" lIns="0" tIns="0" rIns="0" bIns="0" rtlCol="0" anchor="t"/>
          <a:lstStyle/>
          <a:p>
            <a:pPr indent="0" marL="0">
              <a:buNone/>
            </a:pPr>
            <a:r>
              <a:rPr lang="en-US" sz="1500" b="1" dirty="0">
                <a:solidFill>
                  <a:schemeClr val="accent2"/>
                </a:solidFill>
              </a:rPr>
              <a:t>Next: </a:t>
            </a:r>
            <a:pPr indent="0" marL="0">
              <a:buNone/>
            </a:pPr>
            <a:r>
              <a:rPr lang="en-US" sz="1500" dirty="0">
                <a:solidFill>
                  <a:schemeClr val="accent2"/>
                </a:solidFill>
              </a:rPr>
              <a:t>Grouped, all-or-nothing changes.</a:t>
            </a:r>
            <a:endParaRPr lang="en-US" sz="1500" dirty="0"/>
          </a:p>
        </p:txBody>
      </p:sp>
      <p:sp>
        <p:nvSpPr>
          <p:cNvPr id="9" name="Shape 6"/>
          <p:cNvSpPr/>
          <p:nvPr/>
        </p:nvSpPr>
        <p:spPr>
          <a:xfrm>
            <a:off x="6217920" y="1600200"/>
            <a:ext cx="5394960" cy="2011680"/>
          </a:xfrm>
          <a:prstGeom prst="roundRect">
            <a:avLst>
              <a:gd name="adj" fmla="val 4545"/>
            </a:avLst>
          </a:prstGeom>
          <a:solidFill>
            <a:schemeClr val="bg2"/>
          </a:solidFill>
          <a:ln w="9525">
            <a:solidFill>
              <a:schemeClr val="bg2"/>
            </a:solidFill>
            <a:prstDash val="solid"/>
          </a:ln>
        </p:spPr>
      </p:sp>
      <p:sp>
        <p:nvSpPr>
          <p:cNvPr id="10" name="Text 7"/>
          <p:cNvSpPr txBox="1"/>
          <p:nvPr/>
        </p:nvSpPr>
        <p:spPr>
          <a:xfrm>
            <a:off x="6492240" y="1783080"/>
            <a:ext cx="4846320" cy="4114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Fully automatic application</a:t>
            </a:r>
            <a:endParaRPr lang="en-US" sz="1900" dirty="0"/>
          </a:p>
        </p:txBody>
      </p:sp>
      <p:sp>
        <p:nvSpPr>
          <p:cNvPr id="11" name="Text 8"/>
          <p:cNvSpPr txBox="1"/>
          <p:nvPr/>
        </p:nvSpPr>
        <p:spPr>
          <a:xfrm>
            <a:off x="6492240" y="2286000"/>
            <a:ext cx="4846320" cy="548640"/>
          </a:xfrm>
          <a:prstGeom prst="rect">
            <a:avLst/>
          </a:prstGeom>
          <a:noFill/>
          <a:ln/>
        </p:spPr>
        <p:txBody>
          <a:bodyPr wrap="square" lIns="0" tIns="0" rIns="0" bIns="0" rtlCol="0" anchor="t"/>
          <a:lstStyle/>
          <a:p>
            <a:pPr indent="0" marL="0">
              <a:buNone/>
            </a:pPr>
            <a:r>
              <a:rPr lang="en-US" sz="1500" dirty="0">
                <a:solidFill>
                  <a:schemeClr val="tx2"/>
                </a:solidFill>
              </a:rPr>
              <a:t>A change affecting many customers goes through unreviewed.</a:t>
            </a:r>
            <a:endParaRPr lang="en-US" sz="1500" dirty="0"/>
          </a:p>
        </p:txBody>
      </p:sp>
      <p:sp>
        <p:nvSpPr>
          <p:cNvPr id="12" name="Text 9"/>
          <p:cNvSpPr txBox="1"/>
          <p:nvPr/>
        </p:nvSpPr>
        <p:spPr>
          <a:xfrm>
            <a:off x="6492240" y="2880360"/>
            <a:ext cx="4846320" cy="594360"/>
          </a:xfrm>
          <a:prstGeom prst="rect">
            <a:avLst/>
          </a:prstGeom>
          <a:noFill/>
          <a:ln/>
        </p:spPr>
        <p:txBody>
          <a:bodyPr wrap="square" lIns="0" tIns="0" rIns="0" bIns="0" rtlCol="0" anchor="t"/>
          <a:lstStyle/>
          <a:p>
            <a:pPr indent="0" marL="0">
              <a:buNone/>
            </a:pPr>
            <a:r>
              <a:rPr lang="en-US" sz="1500" b="1" dirty="0">
                <a:solidFill>
                  <a:schemeClr val="accent2"/>
                </a:solidFill>
              </a:rPr>
              <a:t>Next: </a:t>
            </a:r>
            <a:pPr indent="0" marL="0">
              <a:buNone/>
            </a:pPr>
            <a:r>
              <a:rPr lang="en-US" sz="1500" dirty="0">
                <a:solidFill>
                  <a:schemeClr val="accent2"/>
                </a:solidFill>
              </a:rPr>
              <a:t>Human approval above a threshold.</a:t>
            </a:r>
            <a:endParaRPr lang="en-US" sz="1500" dirty="0"/>
          </a:p>
        </p:txBody>
      </p:sp>
      <p:sp>
        <p:nvSpPr>
          <p:cNvPr id="13" name="Shape 10"/>
          <p:cNvSpPr/>
          <p:nvPr/>
        </p:nvSpPr>
        <p:spPr>
          <a:xfrm>
            <a:off x="548640" y="3840480"/>
            <a:ext cx="5394960" cy="2011680"/>
          </a:xfrm>
          <a:prstGeom prst="roundRect">
            <a:avLst>
              <a:gd name="adj" fmla="val 4545"/>
            </a:avLst>
          </a:prstGeom>
          <a:solidFill>
            <a:schemeClr val="bg2"/>
          </a:solidFill>
          <a:ln w="9525">
            <a:solidFill>
              <a:schemeClr val="bg2"/>
            </a:solidFill>
            <a:prstDash val="solid"/>
          </a:ln>
        </p:spPr>
      </p:sp>
      <p:sp>
        <p:nvSpPr>
          <p:cNvPr id="14" name="Text 11"/>
          <p:cNvSpPr txBox="1"/>
          <p:nvPr/>
        </p:nvSpPr>
        <p:spPr>
          <a:xfrm>
            <a:off x="822960" y="4023360"/>
            <a:ext cx="4846320" cy="4114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A non-deterministic LLM</a:t>
            </a:r>
            <a:endParaRPr lang="en-US" sz="1900" dirty="0"/>
          </a:p>
        </p:txBody>
      </p:sp>
      <p:sp>
        <p:nvSpPr>
          <p:cNvPr id="15" name="Text 12"/>
          <p:cNvSpPr txBox="1"/>
          <p:nvPr/>
        </p:nvSpPr>
        <p:spPr>
          <a:xfrm>
            <a:off x="822960" y="4526280"/>
            <a:ext cx="4846320" cy="548640"/>
          </a:xfrm>
          <a:prstGeom prst="rect">
            <a:avLst/>
          </a:prstGeom>
          <a:noFill/>
          <a:ln/>
        </p:spPr>
        <p:txBody>
          <a:bodyPr wrap="square" lIns="0" tIns="0" rIns="0" bIns="0" rtlCol="0" anchor="t"/>
          <a:lstStyle/>
          <a:p>
            <a:pPr indent="0" marL="0">
              <a:buNone/>
            </a:pPr>
            <a:r>
              <a:rPr lang="en-US" sz="1500" dirty="0">
                <a:solidFill>
                  <a:schemeClr val="tx2"/>
                </a:solidFill>
              </a:rPr>
              <a:t>Even at temperature 0, a proposal can vary between runs.</a:t>
            </a:r>
            <a:endParaRPr lang="en-US" sz="1500" dirty="0"/>
          </a:p>
        </p:txBody>
      </p:sp>
      <p:sp>
        <p:nvSpPr>
          <p:cNvPr id="16" name="Text 13"/>
          <p:cNvSpPr txBox="1"/>
          <p:nvPr/>
        </p:nvSpPr>
        <p:spPr>
          <a:xfrm>
            <a:off x="822960" y="5120640"/>
            <a:ext cx="4846320" cy="594360"/>
          </a:xfrm>
          <a:prstGeom prst="rect">
            <a:avLst/>
          </a:prstGeom>
          <a:noFill/>
          <a:ln/>
        </p:spPr>
        <p:txBody>
          <a:bodyPr wrap="square" lIns="0" tIns="0" rIns="0" bIns="0" rtlCol="0" anchor="t"/>
          <a:lstStyle/>
          <a:p>
            <a:pPr indent="0" marL="0">
              <a:buNone/>
            </a:pPr>
            <a:r>
              <a:rPr lang="en-US" sz="1500" b="1" dirty="0">
                <a:solidFill>
                  <a:schemeClr val="accent2"/>
                </a:solidFill>
              </a:rPr>
              <a:t>Next: </a:t>
            </a:r>
            <a:pPr indent="0" marL="0">
              <a:buNone/>
            </a:pPr>
            <a:r>
              <a:rPr lang="en-US" sz="1500" dirty="0">
                <a:solidFill>
                  <a:schemeClr val="accent2"/>
                </a:solidFill>
              </a:rPr>
              <a:t>A regression test suite run on every release.</a:t>
            </a:r>
            <a:endParaRPr lang="en-US" sz="1500" dirty="0"/>
          </a:p>
        </p:txBody>
      </p:sp>
      <p:sp>
        <p:nvSpPr>
          <p:cNvPr id="17" name="Shape 14"/>
          <p:cNvSpPr/>
          <p:nvPr/>
        </p:nvSpPr>
        <p:spPr>
          <a:xfrm>
            <a:off x="6217920" y="3840480"/>
            <a:ext cx="5394960" cy="2011680"/>
          </a:xfrm>
          <a:prstGeom prst="roundRect">
            <a:avLst>
              <a:gd name="adj" fmla="val 4545"/>
            </a:avLst>
          </a:prstGeom>
          <a:solidFill>
            <a:schemeClr val="bg2"/>
          </a:solidFill>
          <a:ln w="9525">
            <a:solidFill>
              <a:schemeClr val="bg2"/>
            </a:solidFill>
            <a:prstDash val="solid"/>
          </a:ln>
        </p:spPr>
      </p:sp>
      <p:sp>
        <p:nvSpPr>
          <p:cNvPr id="18" name="Text 15"/>
          <p:cNvSpPr txBox="1"/>
          <p:nvPr/>
        </p:nvSpPr>
        <p:spPr>
          <a:xfrm>
            <a:off x="6492240" y="4023360"/>
            <a:ext cx="4846320" cy="4114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A cloud model</a:t>
            </a:r>
            <a:endParaRPr lang="en-US" sz="1900" dirty="0"/>
          </a:p>
        </p:txBody>
      </p:sp>
      <p:sp>
        <p:nvSpPr>
          <p:cNvPr id="19" name="Text 16"/>
          <p:cNvSpPr txBox="1"/>
          <p:nvPr/>
        </p:nvSpPr>
        <p:spPr>
          <a:xfrm>
            <a:off x="6492240" y="4526280"/>
            <a:ext cx="4846320" cy="548640"/>
          </a:xfrm>
          <a:prstGeom prst="rect">
            <a:avLst/>
          </a:prstGeom>
          <a:noFill/>
          <a:ln/>
        </p:spPr>
        <p:txBody>
          <a:bodyPr wrap="square" lIns="0" tIns="0" rIns="0" bIns="0" rtlCol="0" anchor="t"/>
          <a:lstStyle/>
          <a:p>
            <a:pPr indent="0" marL="0">
              <a:buNone/>
            </a:pPr>
            <a:r>
              <a:rPr lang="en-US" sz="1500" dirty="0">
                <a:solidFill>
                  <a:schemeClr val="tx2"/>
                </a:solidFill>
              </a:rPr>
              <a:t>Rules are sent to OpenAI: not acceptable with real data.</a:t>
            </a:r>
            <a:endParaRPr lang="en-US" sz="1500" dirty="0"/>
          </a:p>
        </p:txBody>
      </p:sp>
      <p:sp>
        <p:nvSpPr>
          <p:cNvPr id="20" name="Text 17"/>
          <p:cNvSpPr txBox="1"/>
          <p:nvPr/>
        </p:nvSpPr>
        <p:spPr>
          <a:xfrm>
            <a:off x="6492240" y="5120640"/>
            <a:ext cx="4846320" cy="594360"/>
          </a:xfrm>
          <a:prstGeom prst="rect">
            <a:avLst/>
          </a:prstGeom>
          <a:noFill/>
          <a:ln/>
        </p:spPr>
        <p:txBody>
          <a:bodyPr wrap="square" lIns="0" tIns="0" rIns="0" bIns="0" rtlCol="0" anchor="t"/>
          <a:lstStyle/>
          <a:p>
            <a:pPr indent="0" marL="0">
              <a:buNone/>
            </a:pPr>
            <a:r>
              <a:rPr lang="en-US" sz="1500" b="1" dirty="0">
                <a:solidFill>
                  <a:schemeClr val="accent2"/>
                </a:solidFill>
              </a:rPr>
              <a:t>Next: </a:t>
            </a:r>
            <a:pPr indent="0" marL="0">
              <a:buNone/>
            </a:pPr>
            <a:r>
              <a:rPr lang="en-US" sz="1500" dirty="0">
                <a:solidFill>
                  <a:schemeClr val="accent2"/>
                </a:solidFill>
              </a:rPr>
              <a:t>Private or local model, on-premise.</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731520" y="731520"/>
            <a:ext cx="10698480" cy="411480"/>
          </a:xfrm>
          <a:prstGeom prst="rect">
            <a:avLst/>
          </a:prstGeom>
          <a:noFill/>
          <a:ln/>
        </p:spPr>
        <p:txBody>
          <a:bodyPr wrap="square" rtlCol="0"/>
          <a:lstStyle/>
          <a:p>
            <a:pPr indent="0" marL="0">
              <a:buNone/>
            </a:pPr>
            <a:r>
              <a:rPr lang="en-US" sz="1400" b="1" spc="200" kern="0" dirty="0">
                <a:solidFill>
                  <a:srgbClr val="E8833A"/>
                </a:solidFill>
              </a:rPr>
              <a:t>THANK YOU</a:t>
            </a:r>
            <a:endParaRPr lang="en-US" sz="1400" dirty="0"/>
          </a:p>
        </p:txBody>
      </p:sp>
      <p:sp>
        <p:nvSpPr>
          <p:cNvPr id="3" name="Text 0"/>
          <p:cNvSpPr/>
          <p:nvPr>
            <p:ph idx="101" type="title" hasCustomPrompt="1"/>
          </p:nvPr>
        </p:nvSpPr>
        <p:spPr>
          <a:xfrm>
            <a:off x="731520" y="1828800"/>
            <a:ext cx="10424160" cy="2103120"/>
          </a:xfrm>
          <a:prstGeom prst="rect">
            <a:avLst/>
          </a:prstGeom>
          <a:noFill/>
          <a:ln/>
        </p:spPr>
        <p:txBody>
          <a:bodyPr wrap="square" rtlCol="0" anchor="t"/>
          <a:lstStyle/>
          <a:p>
            <a:pPr algn="l" indent="0" marL="0">
              <a:buNone/>
            </a:pPr>
            <a:r>
              <a:rPr lang="en-US" sz="4400" b="1" dirty="0">
                <a:solidFill>
                  <a:schemeClr val="bg1"/>
                </a:solidFill>
              </a:rPr>
              <a:t>The business decides. The AI translates. The engine guarantees.</a:t>
            </a:r>
            <a:endParaRPr lang="en-US" sz="4400" dirty="0"/>
          </a:p>
        </p:txBody>
      </p:sp>
      <p:sp>
        <p:nvSpPr>
          <p:cNvPr id="4" name="Text 0"/>
          <p:cNvSpPr/>
          <p:nvPr>
            <p:ph idx="102" type="body" hasCustomPrompt="1"/>
          </p:nvPr>
        </p:nvSpPr>
        <p:spPr>
          <a:xfrm>
            <a:off x="731520" y="4069080"/>
            <a:ext cx="10058400" cy="1188720"/>
          </a:xfrm>
          <a:prstGeom prst="rect">
            <a:avLst/>
          </a:prstGeom>
          <a:noFill/>
          <a:ln/>
        </p:spPr>
        <p:txBody>
          <a:bodyPr wrap="square" rtlCol="0" anchor="t"/>
          <a:lstStyle/>
          <a:p>
            <a:pPr indent="0" marL="0">
              <a:buNone/>
            </a:pPr>
            <a:r>
              <a:rPr lang="en-US" sz="2000" dirty="0">
                <a:solidFill>
                  <a:schemeClr val="bg2"/>
                </a:solidFill>
              </a:rPr>
              <a:t>Live demo on request · code on GitHub</a:t>
            </a:r>
            <a:endParaRPr lang="en-US" sz="2000" dirty="0"/>
          </a:p>
        </p:txBody>
      </p:sp>
      <p:sp>
        <p:nvSpPr>
          <p:cNvPr id="5" name="Text 3"/>
          <p:cNvSpPr txBox="1"/>
          <p:nvPr/>
        </p:nvSpPr>
        <p:spPr>
          <a:xfrm>
            <a:off x="731520" y="5486400"/>
            <a:ext cx="10698480" cy="822960"/>
          </a:xfrm>
          <a:prstGeom prst="rect">
            <a:avLst/>
          </a:prstGeom>
          <a:noFill/>
          <a:ln/>
        </p:spPr>
        <p:txBody>
          <a:bodyPr wrap="square" lIns="0" tIns="0" rIns="0" bIns="0" rtlCol="0" anchor="t"/>
          <a:lstStyle/>
          <a:p>
            <a:pPr indent="0" marL="0">
              <a:buNone/>
            </a:pPr>
            <a:r>
              <a:rPr lang="en-US" sz="1600" dirty="0">
                <a:solidFill>
                  <a:srgbClr val="C9D1E0"/>
                </a:solidFill>
              </a:rPr>
              <a:t>[github.com/your-account/rag-segment-editor]</a:t>
            </a:r>
            <a:endParaRPr lang="en-US" sz="1600" dirty="0"/>
          </a:p>
          <a:p>
            <a:pPr indent="0" marL="0">
              <a:buNone/>
            </a:pPr>
            <a:r>
              <a:rPr lang="en-US" sz="1600" dirty="0">
                <a:solidFill>
                  <a:srgbClr val="C9D1E0"/>
                </a:solidFill>
              </a:rPr>
              <a:t>[Your name] · [your LinkedIn profile]</a:t>
            </a:r>
            <a:endParaRPr lang="en-US" sz="1600" dirty="0"/>
          </a:p>
        </p:txBody>
      </p:sp>
    </p:spTree>
  </p:cSld>
  <p:clrMapOvr>
    <a:masterClrMapping/>
  </p:clrMapOvr>
</p:sld>
</file>

<file path=ppt/theme/theme1.xml><?xml version="1.0" encoding="utf-8"?>
<a:theme xmlns:a="http://schemas.openxmlformats.org/drawingml/2006/main" name="NBO Segment Editor">
  <a:themeElements>
    <a:clrScheme name="NBO Segment Editor">
      <a:dk1>
        <a:srgbClr val="12182B"/>
      </a:dk1>
      <a:lt1>
        <a:srgbClr val="FFFFFF"/>
      </a:lt1>
      <a:dk2>
        <a:srgbClr val="2B3A55"/>
      </a:dk2>
      <a:lt2>
        <a:srgbClr val="F1F3F7"/>
      </a:lt2>
      <a:accent1>
        <a:srgbClr val="B85A1E"/>
      </a:accent1>
      <a:accent2>
        <a:srgbClr val="2B5BD7"/>
      </a:accent2>
      <a:accent3>
        <a:srgbClr val="1F7A45"/>
      </a:accent3>
      <a:accent4>
        <a:srgbClr val="B42318"/>
      </a:accent4>
      <a:accent5>
        <a:srgbClr val="F2C94C"/>
      </a:accent5>
      <a:accent6>
        <a:srgbClr val="5F6675"/>
      </a:accent6>
      <a:hlink>
        <a:srgbClr val="2B5BD7"/>
      </a:hlink>
      <a:folHlink>
        <a:srgbClr val="6B4FBB"/>
      </a:folHlink>
    </a:clrScheme>
    <a:fontScheme name="NBO Segment Edito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NBO Segment Editor — RAG</dc:title>
  <dc:subject>PptxGenJS Presentation</dc:subject>
  <dc:creator>PptxGenJS</dc:creator>
  <cp:lastModifiedBy>PptxGenJS</cp:lastModifiedBy>
  <cp:revision>1</cp:revision>
  <dcterms:created xsi:type="dcterms:W3CDTF">2026-10-11T13:46:38Z</dcterms:created>
  <dcterms:modified xsi:type="dcterms:W3CDTF">2026-10-11T13:46:38Z</dcterms:modified>
</cp:coreProperties>
</file>